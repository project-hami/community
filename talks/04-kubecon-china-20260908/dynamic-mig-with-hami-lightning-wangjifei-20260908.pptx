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69" r:id="rId3"/>
    <p:sldId id="260" r:id="rId4"/>
    <p:sldId id="261" r:id="rId5"/>
    <p:sldId id="263" r:id="rId6"/>
    <p:sldId id="264" r:id="rId7"/>
    <p:sldId id="265" r:id="rId8"/>
    <p:sldId id="271" r:id="rId9"/>
    <p:sldId id="273" r:id="rId10"/>
    <p:sldId id="274" r:id="rId11"/>
    <p:sldId id="268" r:id="rId12"/>
  </p:sldIdLst>
  <p:sldSz cx="9144000" cy="5143500" type="screen16x9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61" d="100"/>
          <a:sy n="161" d="100"/>
        </p:scale>
        <p:origin x="78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083E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1;p12"/>
          <p:cNvPicPr>
            <a:picLocks noChangeAspect="1"/>
          </p:cNvPicPr>
          <p:nvPr/>
        </p:nvPicPr>
        <p:blipFill rotWithShape="1">
          <a:blip r:embed="rId2"/>
          <a:srcRect l="7975" r="3180"/>
          <a:stretch>
            <a:fillRect/>
          </a:stretch>
        </p:blipFill>
        <p:spPr>
          <a:xfrm>
            <a:off x="0" y="0"/>
            <a:ext cx="9144000" cy="5146062"/>
          </a:xfrm>
          <a:prstGeom prst="rect">
            <a:avLst/>
          </a:prstGeom>
          <a:ln>
            <a:noFill/>
          </a:ln>
        </p:spPr>
      </p:pic>
      <p:sp>
        <p:nvSpPr>
          <p:cNvPr id="12" name="Google Shape;12;p12"/>
          <p:cNvSpPr>
            <a:spLocks noGrp="1"/>
          </p:cNvSpPr>
          <p:nvPr/>
        </p:nvSpPr>
        <p:spPr>
          <a:xfrm>
            <a:off x="0" y="2531700"/>
            <a:ext cx="1312500" cy="964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12"/>
          <p:cNvSpPr>
            <a:spLocks noGrp="1"/>
          </p:cNvSpPr>
          <p:nvPr>
            <p:ph type="ctrTitle"/>
          </p:nvPr>
        </p:nvSpPr>
        <p:spPr>
          <a:xfrm>
            <a:off x="311215" y="1251446"/>
            <a:ext cx="8010201" cy="1455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 b="1" i="0">
                <a:solidFill>
                  <a:schemeClr val="l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12"/>
          <p:cNvSpPr>
            <a:spLocks noGrp="1"/>
          </p:cNvSpPr>
          <p:nvPr>
            <p:ph type="subTitle" idx="1"/>
          </p:nvPr>
        </p:nvSpPr>
        <p:spPr>
          <a:xfrm>
            <a:off x="311214" y="2706624"/>
            <a:ext cx="8010201" cy="609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 i="0">
                <a:solidFill>
                  <a:schemeClr val="l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12"/>
          <p:cNvSpPr>
            <a:spLocks noGrp="1"/>
          </p:cNvSpPr>
          <p:nvPr/>
        </p:nvSpPr>
        <p:spPr>
          <a:xfrm>
            <a:off x="4572000" y="178532"/>
            <a:ext cx="4255065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90204"/>
              <a:buNone/>
            </a:pPr>
            <a:r>
              <a:rPr sz="1200" b="0" i="0" u="none" cap="none">
                <a:solidFill>
                  <a:schemeClr val="lt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#KubeCon #CloudNativeCon</a:t>
            </a:r>
            <a:br>
              <a:rPr sz="1200" b="0" i="0" u="none" cap="none">
                <a:solidFill>
                  <a:schemeClr val="lt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br>
            <a:r>
              <a:rPr sz="1200" b="0" i="0" u="none" cap="none">
                <a:solidFill>
                  <a:schemeClr val="lt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#OpenInfraSummit #PyTorchCon</a:t>
            </a:r>
          </a:p>
        </p:txBody>
      </p:sp>
      <p:pic>
        <p:nvPicPr>
          <p:cNvPr id="23" name="Graphic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1214" y="179487"/>
            <a:ext cx="4266509" cy="69779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rgbClr val="083E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19;p13"/>
          <p:cNvPicPr>
            <a:picLocks noChangeAspect="1"/>
          </p:cNvPicPr>
          <p:nvPr/>
        </p:nvPicPr>
        <p:blipFill rotWithShape="1">
          <a:blip r:embed="rId2"/>
          <a:srcRect l="7975" r="3180"/>
          <a:stretch>
            <a:fillRect/>
          </a:stretch>
        </p:blipFill>
        <p:spPr>
          <a:xfrm>
            <a:off x="0" y="0"/>
            <a:ext cx="9144000" cy="5146062"/>
          </a:xfrm>
          <a:prstGeom prst="rect">
            <a:avLst/>
          </a:prstGeom>
          <a:ln>
            <a:noFill/>
          </a:ln>
        </p:spPr>
      </p:pic>
      <p:sp>
        <p:nvSpPr>
          <p:cNvPr id="20" name="Google Shape;20;p13"/>
          <p:cNvSpPr>
            <a:spLocks noGrp="1"/>
          </p:cNvSpPr>
          <p:nvPr/>
        </p:nvSpPr>
        <p:spPr>
          <a:xfrm>
            <a:off x="0" y="2531700"/>
            <a:ext cx="1312500" cy="964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13"/>
          <p:cNvSpPr>
            <a:spLocks noGrp="1"/>
          </p:cNvSpPr>
          <p:nvPr>
            <p:ph type="title"/>
          </p:nvPr>
        </p:nvSpPr>
        <p:spPr>
          <a:xfrm>
            <a:off x="311700" y="1940538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27" name="Graphic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1214" y="179487"/>
            <a:ext cx="4266509" cy="69779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1_Section header">
    <p:bg>
      <p:bgPr>
        <a:solidFill>
          <a:srgbClr val="083E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"/>
          <p:cNvSpPr>
            <a:spLocks noGrp="1"/>
          </p:cNvSpPr>
          <p:nvPr>
            <p:ph type="title"/>
          </p:nvPr>
        </p:nvSpPr>
        <p:spPr>
          <a:xfrm>
            <a:off x="311700" y="1940538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29" name="Google Shape;27;p14"/>
          <p:cNvPicPr>
            <a:picLocks noChangeAspect="1"/>
          </p:cNvPicPr>
          <p:nvPr/>
        </p:nvPicPr>
        <p:blipFill rotWithShape="1">
          <a:blip r:embed="rId2"/>
          <a:srcRect r="14460"/>
          <a:stretch>
            <a:fillRect/>
          </a:stretch>
        </p:blipFill>
        <p:spPr>
          <a:xfrm>
            <a:off x="2715352" y="2998599"/>
            <a:ext cx="6428647" cy="2144901"/>
          </a:xfrm>
          <a:prstGeom prst="rect">
            <a:avLst/>
          </a:prstGeom>
          <a:ln>
            <a:noFill/>
          </a:ln>
        </p:spPr>
      </p:pic>
      <p:pic>
        <p:nvPicPr>
          <p:cNvPr id="30" name="Google Shape;28;p14"/>
          <p:cNvPicPr>
            <a:picLocks noChangeAspect="1"/>
          </p:cNvPicPr>
          <p:nvPr/>
        </p:nvPicPr>
        <p:blipFill rotWithShape="1">
          <a:blip r:embed="rId3"/>
          <a:srcRect l="64144"/>
          <a:stretch>
            <a:fillRect/>
          </a:stretch>
        </p:blipFill>
        <p:spPr>
          <a:xfrm>
            <a:off x="0" y="4071049"/>
            <a:ext cx="2715353" cy="1072451"/>
          </a:xfrm>
          <a:prstGeom prst="rect">
            <a:avLst/>
          </a:prstGeom>
          <a:ln>
            <a:noFill/>
          </a:ln>
        </p:spPr>
      </p:pic>
      <p:pic>
        <p:nvPicPr>
          <p:cNvPr id="31" name="Graphic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1214" y="179487"/>
            <a:ext cx="4266509" cy="69779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1_Section header 2">
    <p:bg>
      <p:bgPr>
        <a:solidFill>
          <a:srgbClr val="083E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5"/>
          <p:cNvSpPr>
            <a:spLocks noGrp="1"/>
          </p:cNvSpPr>
          <p:nvPr>
            <p:ph type="ctrTitle"/>
          </p:nvPr>
        </p:nvSpPr>
        <p:spPr>
          <a:xfrm>
            <a:off x="398302" y="1373367"/>
            <a:ext cx="8010201" cy="2024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15"/>
          <p:cNvSpPr>
            <a:spLocks noGrp="1"/>
          </p:cNvSpPr>
          <p:nvPr>
            <p:ph type="subTitle" idx="1"/>
          </p:nvPr>
        </p:nvSpPr>
        <p:spPr>
          <a:xfrm>
            <a:off x="398301" y="3397805"/>
            <a:ext cx="8010201" cy="670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>
                <a:solidFill>
                  <a:schemeClr val="lt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38" name="Google Shape;32;p15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040823" y="453033"/>
            <a:ext cx="2590800" cy="1181100"/>
          </a:xfrm>
          <a:prstGeom prst="rect">
            <a:avLst/>
          </a:prstGeom>
          <a:ln>
            <a:noFill/>
          </a:ln>
        </p:spPr>
      </p:pic>
      <p:pic>
        <p:nvPicPr>
          <p:cNvPr id="39" name="Google Shape;33;p15"/>
          <p:cNvPicPr>
            <a:picLocks noChangeAspect="1"/>
          </p:cNvPicPr>
          <p:nvPr/>
        </p:nvPicPr>
        <p:blipFill rotWithShape="1">
          <a:blip r:embed="rId2"/>
          <a:srcRect l="41002" b="9974"/>
          <a:stretch>
            <a:fillRect/>
          </a:stretch>
        </p:blipFill>
        <p:spPr>
          <a:xfrm>
            <a:off x="-1" y="4080209"/>
            <a:ext cx="1528535" cy="1063291"/>
          </a:xfrm>
          <a:prstGeom prst="rect">
            <a:avLst/>
          </a:prstGeom>
          <a:ln>
            <a:noFill/>
          </a:ln>
        </p:spPr>
      </p:pic>
      <p:pic>
        <p:nvPicPr>
          <p:cNvPr id="40" name="Google Shape;35;p15"/>
          <p:cNvPicPr>
            <a:picLocks noChangeAspect="1"/>
          </p:cNvPicPr>
          <p:nvPr/>
        </p:nvPicPr>
        <p:blipFill rotWithShape="1">
          <a:blip r:embed="rId3"/>
          <a:srcRect t="40037" r="35395" b="24793"/>
          <a:stretch>
            <a:fillRect/>
          </a:stretch>
        </p:blipFill>
        <p:spPr>
          <a:xfrm>
            <a:off x="5890451" y="-1"/>
            <a:ext cx="3253550" cy="5143501"/>
          </a:xfrm>
          <a:prstGeom prst="rect">
            <a:avLst/>
          </a:prstGeom>
          <a:ln>
            <a:noFill/>
          </a:ln>
        </p:spPr>
      </p:pic>
      <p:pic>
        <p:nvPicPr>
          <p:cNvPr id="41" name="Graphic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1214" y="179487"/>
            <a:ext cx="4266509" cy="69779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83E4F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200"/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16"/>
          <p:cNvSpPr>
            <a:spLocks noGrp="1"/>
          </p:cNvSpPr>
          <p:nvPr>
            <p:ph type="sldNum" idx="12"/>
          </p:nvPr>
        </p:nvSpPr>
        <p:spPr>
          <a:xfrm>
            <a:off x="828360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‹#›</a:t>
            </a:fld>
            <a:endParaRPr/>
          </a:p>
        </p:txBody>
      </p:sp>
      <p:pic>
        <p:nvPicPr>
          <p:cNvPr id="44" name="Graphic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1700" y="4612899"/>
            <a:ext cx="2323131" cy="37995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1_Title and 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7"/>
          <p:cNvSpPr>
            <a:spLocks noGrp="1"/>
          </p:cNvSpPr>
          <p:nvPr/>
        </p:nvSpPr>
        <p:spPr>
          <a:xfrm>
            <a:off x="7100" y="5625"/>
            <a:ext cx="9136900" cy="1047900"/>
          </a:xfrm>
          <a:prstGeom prst="rect">
            <a:avLst/>
          </a:prstGeom>
          <a:solidFill>
            <a:srgbClr val="083E4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endParaRPr sz="1400" b="0" i="0" u="non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3" name="Google Shape;43;p17"/>
          <p:cNvSpPr>
            <a:spLocks noGrp="1"/>
          </p:cNvSpPr>
          <p:nvPr>
            <p:ph type="title"/>
          </p:nvPr>
        </p:nvSpPr>
        <p:spPr>
          <a:xfrm>
            <a:off x="311701" y="0"/>
            <a:ext cx="5152398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7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200"/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17"/>
          <p:cNvSpPr>
            <a:spLocks noGrp="1"/>
          </p:cNvSpPr>
          <p:nvPr>
            <p:ph type="sldNum" idx="12"/>
          </p:nvPr>
        </p:nvSpPr>
        <p:spPr>
          <a:xfrm>
            <a:off x="828360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‹#›</a:t>
            </a:fld>
            <a:endParaRPr/>
          </a:p>
        </p:txBody>
      </p:sp>
      <p:pic>
        <p:nvPicPr>
          <p:cNvPr id="51" name="Graphic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04781" y="271117"/>
            <a:ext cx="3198536" cy="523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8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83E4F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8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3999900" cy="3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marL="914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0" name="Google Shape;50;p18"/>
          <p:cNvSpPr>
            <a:spLocks noGrp="1"/>
          </p:cNvSpPr>
          <p:nvPr>
            <p:ph type="body" idx="2"/>
          </p:nvPr>
        </p:nvSpPr>
        <p:spPr>
          <a:xfrm>
            <a:off x="4832400" y="1152475"/>
            <a:ext cx="3999900" cy="3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marL="914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1" name="Google Shape;51;p18"/>
          <p:cNvSpPr>
            <a:spLocks noGrp="1"/>
          </p:cNvSpPr>
          <p:nvPr>
            <p:ph type="sldNum" idx="12"/>
          </p:nvPr>
        </p:nvSpPr>
        <p:spPr>
          <a:xfrm>
            <a:off x="828360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‹#›</a:t>
            </a:fld>
            <a:endParaRPr/>
          </a:p>
        </p:txBody>
      </p:sp>
      <p:pic>
        <p:nvPicPr>
          <p:cNvPr id="57" name="Graphic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1700" y="4612899"/>
            <a:ext cx="2323131" cy="37995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9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83E4F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9"/>
          <p:cNvSpPr>
            <a:spLocks noGrp="1"/>
          </p:cNvSpPr>
          <p:nvPr>
            <p:ph type="sldNum" idx="12"/>
          </p:nvPr>
        </p:nvSpPr>
        <p:spPr>
          <a:xfrm>
            <a:off x="828360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‹#›</a:t>
            </a:fld>
            <a:endParaRPr/>
          </a:p>
        </p:txBody>
      </p:sp>
      <p:pic>
        <p:nvPicPr>
          <p:cNvPr id="59" name="Graphic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1700" y="4612899"/>
            <a:ext cx="2323131" cy="37995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0"/>
          <p:cNvSpPr>
            <a:spLocks noGrp="1"/>
          </p:cNvSpPr>
          <p:nvPr>
            <p:ph type="sldNum" idx="12"/>
          </p:nvPr>
        </p:nvSpPr>
        <p:spPr>
          <a:xfrm>
            <a:off x="828360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‹#›</a:t>
            </a:fld>
            <a:endParaRPr/>
          </a:p>
        </p:txBody>
      </p:sp>
      <p:pic>
        <p:nvPicPr>
          <p:cNvPr id="61" name="Graphic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1700" y="4612899"/>
            <a:ext cx="2323131" cy="37995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Logo">
    <p:bg>
      <p:bgPr>
        <a:solidFill>
          <a:srgbClr val="0073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61;p21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-11317" y="0"/>
            <a:ext cx="9166634" cy="5143500"/>
          </a:xfrm>
          <a:prstGeom prst="rect">
            <a:avLst/>
          </a:prstGeom>
          <a:ln>
            <a:noFill/>
          </a:ln>
        </p:spPr>
      </p:pic>
      <p:pic>
        <p:nvPicPr>
          <p:cNvPr id="4" name="Graphic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1213" y="178511"/>
            <a:ext cx="4255065" cy="69592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 panose="020B0604020202090204"/>
              <a:buNone/>
              <a:defRPr sz="2800" b="1" i="0" u="none" cap="none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 panose="020B0604020202090204"/>
              <a:buNone/>
              <a:defRPr sz="2800" b="0" i="0" u="none" cap="none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 panose="020B0604020202090204"/>
              <a:buNone/>
              <a:defRPr sz="2800" b="0" i="0" u="none" cap="none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 panose="020B0604020202090204"/>
              <a:buNone/>
              <a:defRPr sz="2800" b="0" i="0" u="none" cap="none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 panose="020B0604020202090204"/>
              <a:buNone/>
              <a:defRPr sz="2800" b="0" i="0" u="none" cap="none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 panose="020B0604020202090204"/>
              <a:buNone/>
              <a:defRPr sz="2800" b="0" i="0" u="none" cap="none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 panose="020B0604020202090204"/>
              <a:buNone/>
              <a:defRPr sz="2800" b="0" i="0" u="none" cap="none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 panose="020B0604020202090204"/>
              <a:buNone/>
              <a:defRPr sz="2800" b="0" i="0" u="none" cap="none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 panose="020B0604020202090204"/>
              <a:buNone/>
              <a:defRPr sz="2800" b="0" i="0" u="none" cap="none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endParaRPr/>
          </a:p>
        </p:txBody>
      </p:sp>
      <p:sp>
        <p:nvSpPr>
          <p:cNvPr id="7" name="Google Shape;7;p11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lvl1pPr marL="457200" marR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90204"/>
              <a:buChar char="●"/>
              <a:defRPr sz="18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marL="914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○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marL="1371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■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marL="1828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●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marL="22860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○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marL="27432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■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marL="3200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●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marL="3657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○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marL="4114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■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endParaRPr/>
          </a:p>
        </p:txBody>
      </p:sp>
      <p:sp>
        <p:nvSpPr>
          <p:cNvPr id="8" name="Google Shape;8;p11"/>
          <p:cNvSpPr>
            <a:spLocks noGrp="1"/>
          </p:cNvSpPr>
          <p:nvPr>
            <p:ph type="sldNum" idx="12"/>
          </p:nvPr>
        </p:nvSpPr>
        <p:spPr>
          <a:xfrm>
            <a:off x="828360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ubernetes-sigs/dra-driver-nvidia-gpu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"/>
          <p:cNvSpPr>
            <a:spLocks noGrp="1"/>
          </p:cNvSpPr>
          <p:nvPr>
            <p:ph type="ctrTitle"/>
          </p:nvPr>
        </p:nvSpPr>
        <p:spPr>
          <a:xfrm>
            <a:off x="311215" y="1251446"/>
            <a:ext cx="8010201" cy="1455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r>
              <a:rPr sz="3200" dirty="0"/>
              <a:t>Dynamic MIG</a:t>
            </a:r>
            <a:r>
              <a:rPr lang="en-US" sz="3200" dirty="0"/>
              <a:t> with </a:t>
            </a:r>
            <a:r>
              <a:rPr lang="en-US" sz="3200" dirty="0" err="1"/>
              <a:t>HAMi</a:t>
            </a:r>
            <a:br>
              <a:rPr lang="en-US" sz="3200" dirty="0"/>
            </a:br>
            <a:r>
              <a:rPr lang="en-US" altLang="zh-CN" sz="3200" dirty="0"/>
              <a:t>From Static Slices to Elastic GPUs</a:t>
            </a:r>
            <a:br>
              <a:rPr lang="en-US" altLang="zh-CN" sz="3200" dirty="0"/>
            </a:br>
            <a:endParaRPr lang="en-US" sz="3200" dirty="0"/>
          </a:p>
        </p:txBody>
      </p:sp>
      <p:sp>
        <p:nvSpPr>
          <p:cNvPr id="68" name="Google Shape;68;p1"/>
          <p:cNvSpPr>
            <a:spLocks noGrp="1"/>
          </p:cNvSpPr>
          <p:nvPr>
            <p:ph type="subTitle" idx="1"/>
          </p:nvPr>
        </p:nvSpPr>
        <p:spPr>
          <a:xfrm>
            <a:off x="311215" y="2706624"/>
            <a:ext cx="8010201" cy="609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rmAutofit/>
          </a:bodyPr>
          <a:lstStyle/>
          <a:p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lang="en-US" altLang="zh-CN" dirty="0" err="1"/>
              <a:t>Jifei</a:t>
            </a:r>
            <a:r>
              <a:rPr lang="zh-CN" altLang="en-US" dirty="0"/>
              <a:t> </a:t>
            </a:r>
            <a:r>
              <a:rPr lang="en-US" altLang="zh-CN" dirty="0"/>
              <a:t>Wang(</a:t>
            </a:r>
            <a:r>
              <a:rPr lang="en-US" altLang="zh-CN" dirty="0" err="1"/>
              <a:t>Dynamia</a:t>
            </a:r>
            <a:r>
              <a:rPr lang="en-US" altLang="zh-CN" dirty="0"/>
              <a:t>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" y="1047750"/>
            <a:ext cx="9143365" cy="4095115"/>
          </a:xfrm>
          <a:prstGeom prst="rect">
            <a:avLst/>
          </a:prstGeom>
        </p:spPr>
      </p:pic>
      <p:sp>
        <p:nvSpPr>
          <p:cNvPr id="95" name="Google Shape;95;p6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6949739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700"/>
              <a:t>Classic MIG manager: MIG partd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>Dynamic MIG — Publish </a:t>
            </a:r>
            <a:r>
              <a:rPr lang="en-US"/>
              <a:t>c</a:t>
            </a:r>
            <a:r>
              <a:t>apacity</a:t>
            </a:r>
          </a:p>
        </p:txBody>
      </p:sp>
      <p:sp>
        <p:nvSpPr>
          <p:cNvPr id="90" name="圆角矩形 89"/>
          <p:cNvSpPr>
            <a:spLocks noGrp="1"/>
          </p:cNvSpPr>
          <p:nvPr/>
        </p:nvSpPr>
        <p:spPr>
          <a:xfrm>
            <a:off x="314325" y="1200150"/>
            <a:ext cx="8515350" cy="1247775"/>
          </a:xfrm>
          <a:prstGeom prst="roundRect">
            <a:avLst>
              <a:gd name="adj" fmla="val 7634"/>
            </a:avLst>
          </a:prstGeom>
          <a:solidFill>
            <a:srgbClr val="FAFCFC"/>
          </a:solidFill>
          <a:ln w="9525">
            <a:solidFill>
              <a:srgbClr val="DCE6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圆角矩形 90"/>
          <p:cNvSpPr>
            <a:spLocks noGrp="1"/>
          </p:cNvSpPr>
          <p:nvPr/>
        </p:nvSpPr>
        <p:spPr>
          <a:xfrm>
            <a:off x="314325" y="2581275"/>
            <a:ext cx="8515350" cy="1343025"/>
          </a:xfrm>
          <a:prstGeom prst="roundRect">
            <a:avLst>
              <a:gd name="adj" fmla="val 7092"/>
            </a:avLst>
          </a:prstGeom>
          <a:solidFill>
            <a:srgbClr val="FAFCFC"/>
          </a:solidFill>
          <a:ln w="9525">
            <a:solidFill>
              <a:srgbClr val="DCE6E8"/>
            </a:solidFill>
            <a:prstDash val="solid"/>
          </a:ln>
        </p:spPr>
      </p:sp>
      <p:sp>
        <p:nvSpPr>
          <p:cNvPr id="92" name="矩形 91"/>
          <p:cNvSpPr>
            <a:spLocks noGrp="1"/>
          </p:cNvSpPr>
          <p:nvPr/>
        </p:nvSpPr>
        <p:spPr>
          <a:xfrm>
            <a:off x="457200" y="1276350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083E4F"/>
                </a:solidFill>
              </a:defRPr>
            </a:pPr>
            <a:r>
              <a:rPr sz="750" b="1">
                <a:solidFill>
                  <a:srgbClr val="083E4F"/>
                </a:solidFill>
              </a:rPr>
              <a:t>KUBERNETES CONTROL PLANE</a:t>
            </a:r>
          </a:p>
        </p:txBody>
      </p:sp>
      <p:sp>
        <p:nvSpPr>
          <p:cNvPr id="93" name="矩形 92"/>
          <p:cNvSpPr>
            <a:spLocks noGrp="1"/>
          </p:cNvSpPr>
          <p:nvPr/>
        </p:nvSpPr>
        <p:spPr>
          <a:xfrm>
            <a:off x="457200" y="264795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083E4F"/>
                </a:solidFill>
              </a:defRPr>
            </a:pPr>
            <a:r>
              <a:rPr sz="750" b="1">
                <a:solidFill>
                  <a:srgbClr val="083E4F"/>
                </a:solidFill>
              </a:rPr>
              <a:t>GPU WORKER NODE</a:t>
            </a:r>
          </a:p>
        </p:txBody>
      </p:sp>
      <p:sp>
        <p:nvSpPr>
          <p:cNvPr id="94" name="anchor-pod"/>
          <p:cNvSpPr>
            <a:spLocks noGrp="1"/>
          </p:cNvSpPr>
          <p:nvPr/>
        </p:nvSpPr>
        <p:spPr>
          <a:xfrm>
            <a:off x="590550" y="1581150"/>
            <a:ext cx="1476375" cy="5715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95" name="anchor-api"/>
          <p:cNvSpPr>
            <a:spLocks noGrp="1"/>
          </p:cNvSpPr>
          <p:nvPr/>
        </p:nvSpPr>
        <p:spPr>
          <a:xfrm>
            <a:off x="3810000" y="1581150"/>
            <a:ext cx="1619250" cy="5715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96" name="anchor-scheduler"/>
          <p:cNvSpPr>
            <a:spLocks noGrp="1"/>
          </p:cNvSpPr>
          <p:nvPr/>
        </p:nvSpPr>
        <p:spPr>
          <a:xfrm>
            <a:off x="6762750" y="1581150"/>
            <a:ext cx="1714500" cy="5715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97" name="anchor-kubelet"/>
          <p:cNvSpPr>
            <a:spLocks noGrp="1"/>
          </p:cNvSpPr>
          <p:nvPr/>
        </p:nvSpPr>
        <p:spPr>
          <a:xfrm>
            <a:off x="590550" y="2952750"/>
            <a:ext cx="1476375" cy="5715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98" name="anchor-plugin"/>
          <p:cNvSpPr>
            <a:spLocks noGrp="1"/>
          </p:cNvSpPr>
          <p:nvPr/>
        </p:nvSpPr>
        <p:spPr>
          <a:xfrm>
            <a:off x="2714625" y="2952750"/>
            <a:ext cx="1666875" cy="5715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99" name="anchor-nvml"/>
          <p:cNvSpPr>
            <a:spLocks noGrp="1"/>
          </p:cNvSpPr>
          <p:nvPr/>
        </p:nvSpPr>
        <p:spPr>
          <a:xfrm>
            <a:off x="4953000" y="2952750"/>
            <a:ext cx="1381125" cy="5715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00" name="anchor-gpu"/>
          <p:cNvSpPr>
            <a:spLocks noGrp="1"/>
          </p:cNvSpPr>
          <p:nvPr/>
        </p:nvSpPr>
        <p:spPr>
          <a:xfrm>
            <a:off x="6762750" y="2733675"/>
            <a:ext cx="1714500" cy="1009650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53" name="直接箭头连接符 152"/>
          <p:cNvCxnSpPr>
            <a:stCxn id="94" idx="3"/>
            <a:endCxn id="95" idx="1"/>
          </p:cNvCxnSpPr>
          <p:nvPr/>
        </p:nvCxnSpPr>
        <p:spPr>
          <a:xfrm>
            <a:off x="2066925" y="1866900"/>
            <a:ext cx="1743075" cy="0"/>
          </a:xfrm>
          <a:prstGeom prst="straightConnector1">
            <a:avLst/>
          </a:prstGeom>
          <a:ln w="19050">
            <a:solidFill>
              <a:srgbClr val="C8D6DB"/>
            </a:solidFill>
            <a:prstDash val="solid"/>
            <a:tailEnd type="triangle" w="med" len="med"/>
          </a:ln>
        </p:spPr>
      </p:cxnSp>
      <p:cxnSp>
        <p:nvCxnSpPr>
          <p:cNvPr id="154" name="直接箭头连接符 153"/>
          <p:cNvCxnSpPr>
            <a:stCxn id="95" idx="3"/>
            <a:endCxn id="96" idx="1"/>
          </p:cNvCxnSpPr>
          <p:nvPr/>
        </p:nvCxnSpPr>
        <p:spPr>
          <a:xfrm>
            <a:off x="5429250" y="1866900"/>
            <a:ext cx="1333500" cy="0"/>
          </a:xfrm>
          <a:prstGeom prst="straightConnector1">
            <a:avLst/>
          </a:prstGeom>
          <a:ln w="19050">
            <a:solidFill>
              <a:srgbClr val="C8D6DB"/>
            </a:solidFill>
            <a:prstDash val="solid"/>
            <a:tailEnd type="triangle" w="med" len="med"/>
          </a:ln>
        </p:spPr>
      </p:cxnSp>
      <p:cxnSp>
        <p:nvCxnSpPr>
          <p:cNvPr id="155" name="直接箭头连接符 154"/>
          <p:cNvCxnSpPr>
            <a:stCxn id="97" idx="3"/>
            <a:endCxn id="98" idx="1"/>
          </p:cNvCxnSpPr>
          <p:nvPr/>
        </p:nvCxnSpPr>
        <p:spPr>
          <a:xfrm>
            <a:off x="2066925" y="3238500"/>
            <a:ext cx="647700" cy="0"/>
          </a:xfrm>
          <a:prstGeom prst="straightConnector1">
            <a:avLst/>
          </a:prstGeom>
          <a:ln w="19050">
            <a:solidFill>
              <a:srgbClr val="C8D6DB"/>
            </a:solidFill>
            <a:prstDash val="solid"/>
            <a:tailEnd type="triangle" w="med" len="med"/>
          </a:ln>
        </p:spPr>
      </p:cxnSp>
      <p:cxnSp>
        <p:nvCxnSpPr>
          <p:cNvPr id="156" name="直接箭头连接符 155"/>
          <p:cNvCxnSpPr>
            <a:stCxn id="99" idx="3"/>
            <a:endCxn id="98" idx="1"/>
          </p:cNvCxnSpPr>
          <p:nvPr/>
        </p:nvCxnSpPr>
        <p:spPr>
          <a:xfrm flipH="1">
            <a:off x="2714625" y="3238500"/>
            <a:ext cx="3619500" cy="0"/>
          </a:xfrm>
          <a:prstGeom prst="straightConnector1">
            <a:avLst/>
          </a:prstGeom>
          <a:ln w="33338">
            <a:solidFill>
              <a:srgbClr val="20A36B"/>
            </a:solidFill>
            <a:prstDash val="solid"/>
            <a:tailEnd type="triangle" w="med" len="med"/>
          </a:ln>
        </p:spPr>
      </p:cxnSp>
      <p:cxnSp>
        <p:nvCxnSpPr>
          <p:cNvPr id="157" name="直接箭头连接符 156"/>
          <p:cNvCxnSpPr>
            <a:stCxn id="100" idx="3"/>
            <a:endCxn id="99" idx="1"/>
          </p:cNvCxnSpPr>
          <p:nvPr/>
        </p:nvCxnSpPr>
        <p:spPr>
          <a:xfrm flipH="1">
            <a:off x="4953000" y="3238500"/>
            <a:ext cx="3524250" cy="0"/>
          </a:xfrm>
          <a:prstGeom prst="straightConnector1">
            <a:avLst/>
          </a:prstGeom>
          <a:ln w="33338">
            <a:solidFill>
              <a:srgbClr val="20A36B"/>
            </a:solidFill>
            <a:prstDash val="solid"/>
            <a:tailEnd type="triangle" w="med" len="med"/>
          </a:ln>
        </p:spPr>
      </p:cxnSp>
      <p:cxnSp>
        <p:nvCxnSpPr>
          <p:cNvPr id="158" name="肘形连接符 157"/>
          <p:cNvCxnSpPr>
            <a:stCxn id="95" idx="3"/>
            <a:endCxn id="97" idx="1"/>
          </p:cNvCxnSpPr>
          <p:nvPr/>
        </p:nvCxnSpPr>
        <p:spPr>
          <a:xfrm flipH="1">
            <a:off x="590550" y="1866900"/>
            <a:ext cx="4838700" cy="1371600"/>
          </a:xfrm>
          <a:prstGeom prst="bentConnector3">
            <a:avLst>
              <a:gd name="adj1" fmla="val 50000"/>
            </a:avLst>
          </a:prstGeom>
          <a:ln w="19050">
            <a:solidFill>
              <a:srgbClr val="C8D6DB"/>
            </a:solidFill>
            <a:prstDash val="solid"/>
            <a:tailEnd type="triangle" w="med" len="med"/>
          </a:ln>
        </p:spPr>
      </p:cxnSp>
      <p:cxnSp>
        <p:nvCxnSpPr>
          <p:cNvPr id="159" name="肘形连接符 158"/>
          <p:cNvCxnSpPr>
            <a:stCxn id="98" idx="3"/>
            <a:endCxn id="96" idx="1"/>
          </p:cNvCxnSpPr>
          <p:nvPr/>
        </p:nvCxnSpPr>
        <p:spPr>
          <a:xfrm flipV="1">
            <a:off x="4381500" y="1866900"/>
            <a:ext cx="2381250" cy="1371600"/>
          </a:xfrm>
          <a:prstGeom prst="bentConnector3">
            <a:avLst>
              <a:gd name="adj1" fmla="val 50000"/>
            </a:avLst>
          </a:prstGeom>
          <a:ln w="33338">
            <a:solidFill>
              <a:schemeClr val="tx2"/>
            </a:solidFill>
            <a:prstDash val="solid"/>
            <a:tailEnd type="triangle" w="med" len="med"/>
          </a:ln>
        </p:spPr>
      </p:cxnSp>
      <p:cxnSp>
        <p:nvCxnSpPr>
          <p:cNvPr id="160" name="肘形连接符 159"/>
          <p:cNvCxnSpPr>
            <a:stCxn id="98" idx="3"/>
            <a:endCxn id="96" idx="1"/>
          </p:cNvCxnSpPr>
          <p:nvPr/>
        </p:nvCxnSpPr>
        <p:spPr>
          <a:xfrm flipV="1">
            <a:off x="4381500" y="1866900"/>
            <a:ext cx="2381250" cy="1371600"/>
          </a:xfrm>
          <a:prstGeom prst="bentConnector3">
            <a:avLst>
              <a:gd name="adj1" fmla="val 50000"/>
            </a:avLst>
          </a:prstGeom>
          <a:ln w="12700" cmpd="sng">
            <a:solidFill>
              <a:srgbClr val="00B050"/>
            </a:solidFill>
            <a:prstDash val="solid"/>
            <a:tailEnd type="triangle" w="med" len="med"/>
          </a:ln>
        </p:spPr>
      </p:cxnSp>
      <p:sp>
        <p:nvSpPr>
          <p:cNvPr id="109" name="node-pod"/>
          <p:cNvSpPr>
            <a:spLocks noGrp="1"/>
          </p:cNvSpPr>
          <p:nvPr/>
        </p:nvSpPr>
        <p:spPr>
          <a:xfrm>
            <a:off x="590550" y="1581150"/>
            <a:ext cx="1476375" cy="571500"/>
          </a:xfrm>
          <a:prstGeom prst="roundRect">
            <a:avLst>
              <a:gd name="adj" fmla="val 18333"/>
            </a:avLst>
          </a:prstGeom>
          <a:solidFill>
            <a:srgbClr val="F6F9FA"/>
          </a:solidFill>
          <a:ln w="14288">
            <a:solidFill>
              <a:srgbClr val="AFC1C7"/>
            </a:solidFill>
            <a:prstDash val="solid"/>
          </a:ln>
        </p:spPr>
      </p:sp>
      <p:sp>
        <p:nvSpPr>
          <p:cNvPr id="110" name="矩形 109"/>
          <p:cNvSpPr>
            <a:spLocks noGrp="1"/>
          </p:cNvSpPr>
          <p:nvPr/>
        </p:nvSpPr>
        <p:spPr>
          <a:xfrm>
            <a:off x="704850" y="1743075"/>
            <a:ext cx="12477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02A34"/>
                </a:solidFill>
              </a:defRPr>
            </a:pPr>
            <a:r>
              <a:rPr sz="1275" b="1">
                <a:solidFill>
                  <a:srgbClr val="102A34"/>
                </a:solidFill>
              </a:rPr>
              <a:t>Pod</a:t>
            </a:r>
          </a:p>
        </p:txBody>
      </p:sp>
      <p:sp>
        <p:nvSpPr>
          <p:cNvPr id="111" name="node-api"/>
          <p:cNvSpPr>
            <a:spLocks noGrp="1"/>
          </p:cNvSpPr>
          <p:nvPr/>
        </p:nvSpPr>
        <p:spPr>
          <a:xfrm>
            <a:off x="3810000" y="1581150"/>
            <a:ext cx="1619250" cy="571500"/>
          </a:xfrm>
          <a:prstGeom prst="roundRect">
            <a:avLst>
              <a:gd name="adj" fmla="val 18333"/>
            </a:avLst>
          </a:prstGeom>
          <a:solidFill>
            <a:srgbClr val="F6F9FA"/>
          </a:solidFill>
          <a:ln w="14288">
            <a:solidFill>
              <a:srgbClr val="AFC1C7"/>
            </a:solidFill>
            <a:prstDash val="solid"/>
          </a:ln>
        </p:spPr>
      </p:sp>
      <p:sp>
        <p:nvSpPr>
          <p:cNvPr id="112" name="矩形 111"/>
          <p:cNvSpPr>
            <a:spLocks noGrp="1"/>
          </p:cNvSpPr>
          <p:nvPr/>
        </p:nvSpPr>
        <p:spPr>
          <a:xfrm>
            <a:off x="3924300" y="1743075"/>
            <a:ext cx="1390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02A34"/>
                </a:solidFill>
              </a:defRPr>
            </a:pPr>
            <a:r>
              <a:rPr sz="1200" b="1">
                <a:solidFill>
                  <a:srgbClr val="102A34"/>
                </a:solidFill>
              </a:rPr>
              <a:t>API Server / Pod</a:t>
            </a:r>
          </a:p>
        </p:txBody>
      </p:sp>
      <p:sp>
        <p:nvSpPr>
          <p:cNvPr id="113" name="node-scheduler"/>
          <p:cNvSpPr>
            <a:spLocks noGrp="1"/>
          </p:cNvSpPr>
          <p:nvPr/>
        </p:nvSpPr>
        <p:spPr>
          <a:xfrm>
            <a:off x="6762750" y="1581150"/>
            <a:ext cx="1714500" cy="571500"/>
          </a:xfrm>
          <a:prstGeom prst="roundRect">
            <a:avLst>
              <a:gd name="adj" fmla="val 18333"/>
            </a:avLst>
          </a:prstGeom>
          <a:solidFill>
            <a:srgbClr val="E9FBF3"/>
          </a:solidFill>
          <a:ln w="23813">
            <a:solidFill>
              <a:srgbClr val="20A3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4" name="矩形 113"/>
          <p:cNvSpPr>
            <a:spLocks noGrp="1"/>
          </p:cNvSpPr>
          <p:nvPr/>
        </p:nvSpPr>
        <p:spPr>
          <a:xfrm>
            <a:off x="6877050" y="1743075"/>
            <a:ext cx="1485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0A36B"/>
                </a:solidFill>
              </a:defRPr>
            </a:pPr>
            <a:r>
              <a:rPr sz="1200" b="1">
                <a:solidFill>
                  <a:srgbClr val="20A36B"/>
                </a:solidFill>
              </a:rPr>
              <a:t>HAMi Scheduler</a:t>
            </a:r>
          </a:p>
        </p:txBody>
      </p:sp>
      <p:sp>
        <p:nvSpPr>
          <p:cNvPr id="115" name="node-kubelet"/>
          <p:cNvSpPr>
            <a:spLocks noGrp="1"/>
          </p:cNvSpPr>
          <p:nvPr/>
        </p:nvSpPr>
        <p:spPr>
          <a:xfrm>
            <a:off x="590550" y="2952750"/>
            <a:ext cx="1476375" cy="571500"/>
          </a:xfrm>
          <a:prstGeom prst="roundRect">
            <a:avLst>
              <a:gd name="adj" fmla="val 18333"/>
            </a:avLst>
          </a:prstGeom>
          <a:solidFill>
            <a:srgbClr val="F6F9FA"/>
          </a:solidFill>
          <a:ln w="14288">
            <a:solidFill>
              <a:srgbClr val="AFC1C7"/>
            </a:solidFill>
            <a:prstDash val="solid"/>
          </a:ln>
        </p:spPr>
      </p:sp>
      <p:sp>
        <p:nvSpPr>
          <p:cNvPr id="116" name="矩形 115"/>
          <p:cNvSpPr>
            <a:spLocks noGrp="1"/>
          </p:cNvSpPr>
          <p:nvPr/>
        </p:nvSpPr>
        <p:spPr>
          <a:xfrm>
            <a:off x="704850" y="3114675"/>
            <a:ext cx="12477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02A34"/>
                </a:solidFill>
              </a:defRPr>
            </a:pPr>
            <a:r>
              <a:rPr sz="1275" b="1">
                <a:solidFill>
                  <a:srgbClr val="102A34"/>
                </a:solidFill>
              </a:rPr>
              <a:t>Kubelet</a:t>
            </a:r>
          </a:p>
        </p:txBody>
      </p:sp>
      <p:sp>
        <p:nvSpPr>
          <p:cNvPr id="117" name="node-plugin"/>
          <p:cNvSpPr>
            <a:spLocks noGrp="1"/>
          </p:cNvSpPr>
          <p:nvPr/>
        </p:nvSpPr>
        <p:spPr>
          <a:xfrm>
            <a:off x="2714625" y="2952750"/>
            <a:ext cx="1666875" cy="571500"/>
          </a:xfrm>
          <a:prstGeom prst="roundRect">
            <a:avLst>
              <a:gd name="adj" fmla="val 18333"/>
            </a:avLst>
          </a:prstGeom>
          <a:solidFill>
            <a:srgbClr val="E9FBF3"/>
          </a:solidFill>
          <a:ln w="23813">
            <a:solidFill>
              <a:srgbClr val="20A3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8" name="矩形 117"/>
          <p:cNvSpPr>
            <a:spLocks noGrp="1"/>
          </p:cNvSpPr>
          <p:nvPr/>
        </p:nvSpPr>
        <p:spPr>
          <a:xfrm>
            <a:off x="2828925" y="3114675"/>
            <a:ext cx="14382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20A36B"/>
                </a:solidFill>
              </a:defRPr>
            </a:pPr>
            <a:r>
              <a:rPr sz="1275" b="1">
                <a:solidFill>
                  <a:srgbClr val="20A36B"/>
                </a:solidFill>
              </a:rPr>
              <a:t>Device Plugin</a:t>
            </a:r>
          </a:p>
        </p:txBody>
      </p:sp>
      <p:sp>
        <p:nvSpPr>
          <p:cNvPr id="119" name="node-nvml"/>
          <p:cNvSpPr>
            <a:spLocks noGrp="1"/>
          </p:cNvSpPr>
          <p:nvPr/>
        </p:nvSpPr>
        <p:spPr>
          <a:xfrm>
            <a:off x="4953000" y="2952750"/>
            <a:ext cx="1381125" cy="571500"/>
          </a:xfrm>
          <a:prstGeom prst="roundRect">
            <a:avLst>
              <a:gd name="adj" fmla="val 18333"/>
            </a:avLst>
          </a:prstGeom>
          <a:solidFill>
            <a:srgbClr val="E9FBF3"/>
          </a:solidFill>
          <a:ln w="23813">
            <a:solidFill>
              <a:srgbClr val="20A3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0" name="矩形 119"/>
          <p:cNvSpPr>
            <a:spLocks noGrp="1"/>
          </p:cNvSpPr>
          <p:nvPr/>
        </p:nvSpPr>
        <p:spPr>
          <a:xfrm>
            <a:off x="5067300" y="3114675"/>
            <a:ext cx="11525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20A36B"/>
                </a:solidFill>
              </a:defRPr>
            </a:pPr>
            <a:r>
              <a:rPr sz="1275" b="1">
                <a:solidFill>
                  <a:srgbClr val="20A36B"/>
                </a:solidFill>
              </a:rPr>
              <a:t>NVML</a:t>
            </a:r>
          </a:p>
        </p:txBody>
      </p:sp>
      <p:sp>
        <p:nvSpPr>
          <p:cNvPr id="121" name="node-gpu"/>
          <p:cNvSpPr>
            <a:spLocks noGrp="1"/>
          </p:cNvSpPr>
          <p:nvPr/>
        </p:nvSpPr>
        <p:spPr>
          <a:xfrm>
            <a:off x="6762750" y="2733675"/>
            <a:ext cx="1714500" cy="1009650"/>
          </a:xfrm>
          <a:prstGeom prst="roundRect">
            <a:avLst>
              <a:gd name="adj" fmla="val 10377"/>
            </a:avLst>
          </a:prstGeom>
          <a:solidFill>
            <a:srgbClr val="102F3A"/>
          </a:solidFill>
          <a:ln w="23813">
            <a:solidFill>
              <a:srgbClr val="20A3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2" name="矩形 121"/>
          <p:cNvSpPr>
            <a:spLocks noGrp="1"/>
          </p:cNvSpPr>
          <p:nvPr/>
        </p:nvSpPr>
        <p:spPr>
          <a:xfrm>
            <a:off x="6858000" y="2819400"/>
            <a:ext cx="152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NVIDIA GPU · MIG</a:t>
            </a:r>
          </a:p>
        </p:txBody>
      </p:sp>
      <p:sp>
        <p:nvSpPr>
          <p:cNvPr id="123" name="圆角矩形 122"/>
          <p:cNvSpPr>
            <a:spLocks noGrp="1"/>
          </p:cNvSpPr>
          <p:nvPr/>
        </p:nvSpPr>
        <p:spPr>
          <a:xfrm>
            <a:off x="6867525" y="3114675"/>
            <a:ext cx="180975" cy="323850"/>
          </a:xfrm>
          <a:prstGeom prst="roundRect">
            <a:avLst>
              <a:gd name="adj" fmla="val 21053"/>
            </a:avLst>
          </a:prstGeom>
          <a:solidFill>
            <a:srgbClr val="1E4654"/>
          </a:solidFill>
          <a:ln w="9525">
            <a:solidFill>
              <a:srgbClr val="718991"/>
            </a:solidFill>
            <a:prstDash val="solid"/>
          </a:ln>
        </p:spPr>
      </p:sp>
      <p:sp>
        <p:nvSpPr>
          <p:cNvPr id="124" name="矩形 123"/>
          <p:cNvSpPr>
            <a:spLocks noGrp="1"/>
          </p:cNvSpPr>
          <p:nvPr/>
        </p:nvSpPr>
        <p:spPr>
          <a:xfrm>
            <a:off x="6867525" y="3200400"/>
            <a:ext cx="1809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75" b="0">
                <a:solidFill>
                  <a:srgbClr val="C3D0D4"/>
                </a:solidFill>
              </a:defRPr>
            </a:pPr>
            <a:r>
              <a:rPr sz="675" b="0">
                <a:solidFill>
                  <a:srgbClr val="C3D0D4"/>
                </a:solidFill>
              </a:rPr>
              <a:t>0</a:t>
            </a:r>
          </a:p>
        </p:txBody>
      </p:sp>
      <p:sp>
        <p:nvSpPr>
          <p:cNvPr id="125" name="圆角矩形 124"/>
          <p:cNvSpPr>
            <a:spLocks noGrp="1"/>
          </p:cNvSpPr>
          <p:nvPr/>
        </p:nvSpPr>
        <p:spPr>
          <a:xfrm>
            <a:off x="7086600" y="3114675"/>
            <a:ext cx="180975" cy="323850"/>
          </a:xfrm>
          <a:prstGeom prst="roundRect">
            <a:avLst>
              <a:gd name="adj" fmla="val 21053"/>
            </a:avLst>
          </a:prstGeom>
          <a:solidFill>
            <a:srgbClr val="1E4654"/>
          </a:solidFill>
          <a:ln w="9525">
            <a:solidFill>
              <a:srgbClr val="718991"/>
            </a:solidFill>
            <a:prstDash val="solid"/>
          </a:ln>
        </p:spPr>
      </p:sp>
      <p:sp>
        <p:nvSpPr>
          <p:cNvPr id="126" name="矩形 125"/>
          <p:cNvSpPr>
            <a:spLocks noGrp="1"/>
          </p:cNvSpPr>
          <p:nvPr/>
        </p:nvSpPr>
        <p:spPr>
          <a:xfrm>
            <a:off x="7086600" y="3200400"/>
            <a:ext cx="1809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75" b="0">
                <a:solidFill>
                  <a:srgbClr val="C3D0D4"/>
                </a:solidFill>
              </a:defRPr>
            </a:pPr>
            <a:r>
              <a:rPr sz="675" b="0">
                <a:solidFill>
                  <a:srgbClr val="C3D0D4"/>
                </a:solidFill>
              </a:rPr>
              <a:t>1</a:t>
            </a:r>
          </a:p>
        </p:txBody>
      </p:sp>
      <p:sp>
        <p:nvSpPr>
          <p:cNvPr id="127" name="圆角矩形 126"/>
          <p:cNvSpPr>
            <a:spLocks noGrp="1"/>
          </p:cNvSpPr>
          <p:nvPr/>
        </p:nvSpPr>
        <p:spPr>
          <a:xfrm>
            <a:off x="7305675" y="3114675"/>
            <a:ext cx="180975" cy="323850"/>
          </a:xfrm>
          <a:prstGeom prst="roundRect">
            <a:avLst>
              <a:gd name="adj" fmla="val 21053"/>
            </a:avLst>
          </a:prstGeom>
          <a:solidFill>
            <a:srgbClr val="1E4654"/>
          </a:solidFill>
          <a:ln w="9525">
            <a:solidFill>
              <a:srgbClr val="718991"/>
            </a:solidFill>
            <a:prstDash val="solid"/>
          </a:ln>
        </p:spPr>
      </p:sp>
      <p:sp>
        <p:nvSpPr>
          <p:cNvPr id="128" name="矩形 127"/>
          <p:cNvSpPr>
            <a:spLocks noGrp="1"/>
          </p:cNvSpPr>
          <p:nvPr/>
        </p:nvSpPr>
        <p:spPr>
          <a:xfrm>
            <a:off x="7305675" y="3200400"/>
            <a:ext cx="1809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75" b="0">
                <a:solidFill>
                  <a:srgbClr val="C3D0D4"/>
                </a:solidFill>
              </a:defRPr>
            </a:pPr>
            <a:r>
              <a:rPr sz="675" b="0">
                <a:solidFill>
                  <a:srgbClr val="C3D0D4"/>
                </a:solidFill>
              </a:rPr>
              <a:t>2</a:t>
            </a:r>
          </a:p>
        </p:txBody>
      </p:sp>
      <p:sp>
        <p:nvSpPr>
          <p:cNvPr id="129" name="圆角矩形 128"/>
          <p:cNvSpPr>
            <a:spLocks noGrp="1"/>
          </p:cNvSpPr>
          <p:nvPr/>
        </p:nvSpPr>
        <p:spPr>
          <a:xfrm>
            <a:off x="7524750" y="3114675"/>
            <a:ext cx="180975" cy="323850"/>
          </a:xfrm>
          <a:prstGeom prst="roundRect">
            <a:avLst>
              <a:gd name="adj" fmla="val 21053"/>
            </a:avLst>
          </a:prstGeom>
          <a:solidFill>
            <a:srgbClr val="1E4654"/>
          </a:solidFill>
          <a:ln w="9525">
            <a:solidFill>
              <a:srgbClr val="718991"/>
            </a:solidFill>
            <a:prstDash val="solid"/>
          </a:ln>
        </p:spPr>
      </p:sp>
      <p:sp>
        <p:nvSpPr>
          <p:cNvPr id="130" name="矩形 129"/>
          <p:cNvSpPr>
            <a:spLocks noGrp="1"/>
          </p:cNvSpPr>
          <p:nvPr/>
        </p:nvSpPr>
        <p:spPr>
          <a:xfrm>
            <a:off x="7524750" y="3200400"/>
            <a:ext cx="1809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75" b="0">
                <a:solidFill>
                  <a:srgbClr val="C3D0D4"/>
                </a:solidFill>
              </a:defRPr>
            </a:pPr>
            <a:r>
              <a:rPr sz="675" b="0">
                <a:solidFill>
                  <a:srgbClr val="C3D0D4"/>
                </a:solidFill>
              </a:rPr>
              <a:t>3</a:t>
            </a:r>
          </a:p>
        </p:txBody>
      </p:sp>
      <p:sp>
        <p:nvSpPr>
          <p:cNvPr id="131" name="圆角矩形 130"/>
          <p:cNvSpPr>
            <a:spLocks noGrp="1"/>
          </p:cNvSpPr>
          <p:nvPr/>
        </p:nvSpPr>
        <p:spPr>
          <a:xfrm>
            <a:off x="7743825" y="3114675"/>
            <a:ext cx="180975" cy="323850"/>
          </a:xfrm>
          <a:prstGeom prst="roundRect">
            <a:avLst>
              <a:gd name="adj" fmla="val 21053"/>
            </a:avLst>
          </a:prstGeom>
          <a:solidFill>
            <a:srgbClr val="1E4654"/>
          </a:solidFill>
          <a:ln w="9525">
            <a:solidFill>
              <a:srgbClr val="718991"/>
            </a:solidFill>
            <a:prstDash val="solid"/>
          </a:ln>
        </p:spPr>
      </p:sp>
      <p:sp>
        <p:nvSpPr>
          <p:cNvPr id="132" name="矩形 131"/>
          <p:cNvSpPr>
            <a:spLocks noGrp="1"/>
          </p:cNvSpPr>
          <p:nvPr/>
        </p:nvSpPr>
        <p:spPr>
          <a:xfrm>
            <a:off x="7743825" y="3200400"/>
            <a:ext cx="1809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75" b="0">
                <a:solidFill>
                  <a:srgbClr val="C3D0D4"/>
                </a:solidFill>
              </a:defRPr>
            </a:pPr>
            <a:r>
              <a:rPr sz="675" b="0">
                <a:solidFill>
                  <a:srgbClr val="C3D0D4"/>
                </a:solidFill>
              </a:rPr>
              <a:t>4</a:t>
            </a:r>
          </a:p>
        </p:txBody>
      </p:sp>
      <p:sp>
        <p:nvSpPr>
          <p:cNvPr id="133" name="圆角矩形 132"/>
          <p:cNvSpPr>
            <a:spLocks noGrp="1"/>
          </p:cNvSpPr>
          <p:nvPr/>
        </p:nvSpPr>
        <p:spPr>
          <a:xfrm>
            <a:off x="7962900" y="3114675"/>
            <a:ext cx="180975" cy="323850"/>
          </a:xfrm>
          <a:prstGeom prst="roundRect">
            <a:avLst>
              <a:gd name="adj" fmla="val 21053"/>
            </a:avLst>
          </a:prstGeom>
          <a:solidFill>
            <a:srgbClr val="1E4654"/>
          </a:solidFill>
          <a:ln w="9525">
            <a:solidFill>
              <a:srgbClr val="718991"/>
            </a:solidFill>
            <a:prstDash val="solid"/>
          </a:ln>
        </p:spPr>
      </p:sp>
      <p:sp>
        <p:nvSpPr>
          <p:cNvPr id="134" name="矩形 133"/>
          <p:cNvSpPr>
            <a:spLocks noGrp="1"/>
          </p:cNvSpPr>
          <p:nvPr/>
        </p:nvSpPr>
        <p:spPr>
          <a:xfrm>
            <a:off x="7962900" y="3200400"/>
            <a:ext cx="1809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75" b="0">
                <a:solidFill>
                  <a:srgbClr val="C3D0D4"/>
                </a:solidFill>
              </a:defRPr>
            </a:pPr>
            <a:r>
              <a:rPr sz="675" b="0">
                <a:solidFill>
                  <a:srgbClr val="C3D0D4"/>
                </a:solidFill>
              </a:rPr>
              <a:t>5</a:t>
            </a:r>
          </a:p>
        </p:txBody>
      </p:sp>
      <p:sp>
        <p:nvSpPr>
          <p:cNvPr id="135" name="圆角矩形 134"/>
          <p:cNvSpPr>
            <a:spLocks noGrp="1"/>
          </p:cNvSpPr>
          <p:nvPr/>
        </p:nvSpPr>
        <p:spPr>
          <a:xfrm>
            <a:off x="8181975" y="3114675"/>
            <a:ext cx="180975" cy="323850"/>
          </a:xfrm>
          <a:prstGeom prst="roundRect">
            <a:avLst>
              <a:gd name="adj" fmla="val 21053"/>
            </a:avLst>
          </a:prstGeom>
          <a:solidFill>
            <a:srgbClr val="1E4654"/>
          </a:solidFill>
          <a:ln w="9525">
            <a:solidFill>
              <a:srgbClr val="718991"/>
            </a:solidFill>
            <a:prstDash val="solid"/>
          </a:ln>
        </p:spPr>
      </p:sp>
      <p:sp>
        <p:nvSpPr>
          <p:cNvPr id="136" name="矩形 135"/>
          <p:cNvSpPr>
            <a:spLocks noGrp="1"/>
          </p:cNvSpPr>
          <p:nvPr/>
        </p:nvSpPr>
        <p:spPr>
          <a:xfrm>
            <a:off x="8181975" y="3200400"/>
            <a:ext cx="1809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75" b="0">
                <a:solidFill>
                  <a:srgbClr val="C3D0D4"/>
                </a:solidFill>
              </a:defRPr>
            </a:pPr>
            <a:r>
              <a:rPr sz="675" b="0">
                <a:solidFill>
                  <a:srgbClr val="C3D0D4"/>
                </a:solidFill>
              </a:rPr>
              <a:t>6</a:t>
            </a:r>
          </a:p>
        </p:txBody>
      </p:sp>
      <p:sp>
        <p:nvSpPr>
          <p:cNvPr id="137" name="矩形 136"/>
          <p:cNvSpPr>
            <a:spLocks noGrp="1"/>
          </p:cNvSpPr>
          <p:nvPr/>
        </p:nvSpPr>
        <p:spPr>
          <a:xfrm>
            <a:off x="6838950" y="3495675"/>
            <a:ext cx="1562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>
                <a:solidFill>
                  <a:srgbClr val="2BE890"/>
                </a:solidFill>
              </a:defRPr>
            </a:pPr>
            <a:r>
              <a:rPr sz="750">
                <a:solidFill>
                  <a:srgbClr val="2BE890"/>
                </a:solidFill>
              </a:rPr>
              <a:t>7 placement slots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13690" y="3924300"/>
            <a:ext cx="8515985" cy="646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/>
              <a:t>The Device Plugin call NVML to find out possible MIG profiles and placement and report them to the node annotation. The scheduler use it to discover devices.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624830" y="1498600"/>
            <a:ext cx="105346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annotation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>Dynamic MIG — </a:t>
            </a:r>
            <a:r>
              <a:rPr lang="en-US"/>
              <a:t>Reserve allocation</a:t>
            </a:r>
          </a:p>
        </p:txBody>
      </p:sp>
      <p:sp>
        <p:nvSpPr>
          <p:cNvPr id="90" name="圆角矩形 89"/>
          <p:cNvSpPr>
            <a:spLocks noGrp="1"/>
          </p:cNvSpPr>
          <p:nvPr/>
        </p:nvSpPr>
        <p:spPr>
          <a:xfrm>
            <a:off x="314325" y="1200150"/>
            <a:ext cx="8515350" cy="1247775"/>
          </a:xfrm>
          <a:prstGeom prst="roundRect">
            <a:avLst>
              <a:gd name="adj" fmla="val 7634"/>
            </a:avLst>
          </a:prstGeom>
          <a:solidFill>
            <a:srgbClr val="FAFCFC"/>
          </a:solidFill>
          <a:ln w="9525">
            <a:solidFill>
              <a:srgbClr val="DCE6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圆角矩形 90"/>
          <p:cNvSpPr>
            <a:spLocks noGrp="1"/>
          </p:cNvSpPr>
          <p:nvPr/>
        </p:nvSpPr>
        <p:spPr>
          <a:xfrm>
            <a:off x="314325" y="2581275"/>
            <a:ext cx="8515350" cy="1343025"/>
          </a:xfrm>
          <a:prstGeom prst="roundRect">
            <a:avLst>
              <a:gd name="adj" fmla="val 7092"/>
            </a:avLst>
          </a:prstGeom>
          <a:solidFill>
            <a:srgbClr val="FAFCFC"/>
          </a:solidFill>
          <a:ln w="9525">
            <a:solidFill>
              <a:srgbClr val="DCE6E8"/>
            </a:solidFill>
            <a:prstDash val="solid"/>
          </a:ln>
        </p:spPr>
      </p:sp>
      <p:sp>
        <p:nvSpPr>
          <p:cNvPr id="92" name="矩形 91"/>
          <p:cNvSpPr>
            <a:spLocks noGrp="1"/>
          </p:cNvSpPr>
          <p:nvPr/>
        </p:nvSpPr>
        <p:spPr>
          <a:xfrm>
            <a:off x="457200" y="1276350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083E4F"/>
                </a:solidFill>
              </a:defRPr>
            </a:pPr>
            <a:r>
              <a:rPr sz="750" b="1">
                <a:solidFill>
                  <a:srgbClr val="083E4F"/>
                </a:solidFill>
              </a:rPr>
              <a:t>KUBERNETES CONTROL PLANE</a:t>
            </a:r>
          </a:p>
        </p:txBody>
      </p:sp>
      <p:sp>
        <p:nvSpPr>
          <p:cNvPr id="93" name="矩形 92"/>
          <p:cNvSpPr>
            <a:spLocks noGrp="1"/>
          </p:cNvSpPr>
          <p:nvPr/>
        </p:nvSpPr>
        <p:spPr>
          <a:xfrm>
            <a:off x="457200" y="264795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083E4F"/>
                </a:solidFill>
              </a:defRPr>
            </a:pPr>
            <a:r>
              <a:rPr sz="750" b="1">
                <a:solidFill>
                  <a:srgbClr val="083E4F"/>
                </a:solidFill>
              </a:rPr>
              <a:t>GPU WORKER NODE</a:t>
            </a:r>
          </a:p>
        </p:txBody>
      </p:sp>
      <p:sp>
        <p:nvSpPr>
          <p:cNvPr id="94" name="anchor-pod"/>
          <p:cNvSpPr>
            <a:spLocks noGrp="1"/>
          </p:cNvSpPr>
          <p:nvPr/>
        </p:nvSpPr>
        <p:spPr>
          <a:xfrm>
            <a:off x="590550" y="1581150"/>
            <a:ext cx="1476375" cy="5715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95" name="anchor-api"/>
          <p:cNvSpPr>
            <a:spLocks noGrp="1"/>
          </p:cNvSpPr>
          <p:nvPr/>
        </p:nvSpPr>
        <p:spPr>
          <a:xfrm>
            <a:off x="3810000" y="1581150"/>
            <a:ext cx="1619250" cy="5715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96" name="anchor-scheduler"/>
          <p:cNvSpPr>
            <a:spLocks noGrp="1"/>
          </p:cNvSpPr>
          <p:nvPr/>
        </p:nvSpPr>
        <p:spPr>
          <a:xfrm>
            <a:off x="6762750" y="1581150"/>
            <a:ext cx="1714500" cy="5715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97" name="anchor-kubelet"/>
          <p:cNvSpPr>
            <a:spLocks noGrp="1"/>
          </p:cNvSpPr>
          <p:nvPr/>
        </p:nvSpPr>
        <p:spPr>
          <a:xfrm>
            <a:off x="590550" y="2952750"/>
            <a:ext cx="1476375" cy="5715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98" name="anchor-plugin"/>
          <p:cNvSpPr>
            <a:spLocks noGrp="1"/>
          </p:cNvSpPr>
          <p:nvPr/>
        </p:nvSpPr>
        <p:spPr>
          <a:xfrm>
            <a:off x="2714625" y="2952750"/>
            <a:ext cx="1666875" cy="5715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99" name="anchor-nvml"/>
          <p:cNvSpPr>
            <a:spLocks noGrp="1"/>
          </p:cNvSpPr>
          <p:nvPr/>
        </p:nvSpPr>
        <p:spPr>
          <a:xfrm>
            <a:off x="4953000" y="2952750"/>
            <a:ext cx="1381125" cy="5715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00" name="anchor-gpu"/>
          <p:cNvSpPr>
            <a:spLocks noGrp="1"/>
          </p:cNvSpPr>
          <p:nvPr/>
        </p:nvSpPr>
        <p:spPr>
          <a:xfrm>
            <a:off x="6762750" y="2733675"/>
            <a:ext cx="1714500" cy="1009650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54" name="直接箭头连接符 153"/>
          <p:cNvCxnSpPr>
            <a:stCxn id="97" idx="3"/>
            <a:endCxn id="98" idx="1"/>
          </p:cNvCxnSpPr>
          <p:nvPr/>
        </p:nvCxnSpPr>
        <p:spPr>
          <a:xfrm>
            <a:off x="2066925" y="3238500"/>
            <a:ext cx="647700" cy="0"/>
          </a:xfrm>
          <a:prstGeom prst="straightConnector1">
            <a:avLst/>
          </a:prstGeom>
          <a:ln w="19050">
            <a:solidFill>
              <a:srgbClr val="C8D6DB"/>
            </a:solidFill>
            <a:prstDash val="solid"/>
            <a:tailEnd type="triangle" w="med" len="med"/>
          </a:ln>
        </p:spPr>
      </p:cxnSp>
      <p:cxnSp>
        <p:nvCxnSpPr>
          <p:cNvPr id="155" name="直接箭头连接符 154"/>
          <p:cNvCxnSpPr>
            <a:stCxn id="98" idx="3"/>
            <a:endCxn id="99" idx="1"/>
          </p:cNvCxnSpPr>
          <p:nvPr/>
        </p:nvCxnSpPr>
        <p:spPr>
          <a:xfrm>
            <a:off x="4381500" y="3238500"/>
            <a:ext cx="571500" cy="0"/>
          </a:xfrm>
          <a:prstGeom prst="straightConnector1">
            <a:avLst/>
          </a:prstGeom>
          <a:ln w="19050">
            <a:solidFill>
              <a:srgbClr val="C8D6DB"/>
            </a:solidFill>
            <a:prstDash val="solid"/>
            <a:tailEnd type="triangle" w="med" len="med"/>
          </a:ln>
        </p:spPr>
      </p:cxnSp>
      <p:cxnSp>
        <p:nvCxnSpPr>
          <p:cNvPr id="156" name="直接箭头连接符 155"/>
          <p:cNvCxnSpPr>
            <a:stCxn id="99" idx="3"/>
            <a:endCxn id="100" idx="1"/>
          </p:cNvCxnSpPr>
          <p:nvPr/>
        </p:nvCxnSpPr>
        <p:spPr>
          <a:xfrm>
            <a:off x="6334125" y="3238500"/>
            <a:ext cx="428625" cy="0"/>
          </a:xfrm>
          <a:prstGeom prst="straightConnector1">
            <a:avLst/>
          </a:prstGeom>
          <a:ln w="19050">
            <a:solidFill>
              <a:srgbClr val="C8D6DB"/>
            </a:solidFill>
            <a:prstDash val="solid"/>
            <a:tailEnd type="triangle" w="med" len="med"/>
          </a:ln>
        </p:spPr>
      </p:cxnSp>
      <p:cxnSp>
        <p:nvCxnSpPr>
          <p:cNvPr id="157" name="肘形连接符 156"/>
          <p:cNvCxnSpPr>
            <a:stCxn id="95" idx="3"/>
            <a:endCxn id="97" idx="1"/>
          </p:cNvCxnSpPr>
          <p:nvPr/>
        </p:nvCxnSpPr>
        <p:spPr>
          <a:xfrm flipH="1">
            <a:off x="590550" y="1866900"/>
            <a:ext cx="4838700" cy="1371600"/>
          </a:xfrm>
          <a:prstGeom prst="bentConnector3">
            <a:avLst>
              <a:gd name="adj1" fmla="val 50000"/>
            </a:avLst>
          </a:prstGeom>
          <a:ln w="19050">
            <a:solidFill>
              <a:srgbClr val="C8D6DB"/>
            </a:solidFill>
            <a:prstDash val="solid"/>
            <a:tailEnd type="triangle" w="med" len="med"/>
          </a:ln>
        </p:spPr>
      </p:cxnSp>
      <p:cxnSp>
        <p:nvCxnSpPr>
          <p:cNvPr id="158" name="肘形连接符 157"/>
          <p:cNvCxnSpPr>
            <a:stCxn id="96" idx="3"/>
            <a:endCxn id="98" idx="1"/>
          </p:cNvCxnSpPr>
          <p:nvPr/>
        </p:nvCxnSpPr>
        <p:spPr>
          <a:xfrm flipH="1">
            <a:off x="2714625" y="1866900"/>
            <a:ext cx="5762625" cy="1371600"/>
          </a:xfrm>
          <a:prstGeom prst="bentConnector3">
            <a:avLst>
              <a:gd name="adj1" fmla="val 50000"/>
            </a:avLst>
          </a:prstGeom>
          <a:ln w="19050">
            <a:solidFill>
              <a:srgbClr val="C8D6DB"/>
            </a:solidFill>
            <a:prstDash val="solid"/>
            <a:tailEnd type="triangle" w="med" len="med"/>
          </a:ln>
        </p:spPr>
      </p:cxnSp>
      <p:sp>
        <p:nvSpPr>
          <p:cNvPr id="108" name="node-pod"/>
          <p:cNvSpPr>
            <a:spLocks noGrp="1"/>
          </p:cNvSpPr>
          <p:nvPr/>
        </p:nvSpPr>
        <p:spPr>
          <a:xfrm>
            <a:off x="590550" y="1581150"/>
            <a:ext cx="1476375" cy="571500"/>
          </a:xfrm>
          <a:prstGeom prst="roundRect">
            <a:avLst>
              <a:gd name="adj" fmla="val 18333"/>
            </a:avLst>
          </a:prstGeom>
          <a:solidFill>
            <a:srgbClr val="E9FBF3"/>
          </a:solidFill>
          <a:ln w="23813">
            <a:solidFill>
              <a:srgbClr val="20A3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09" name="矩形 108"/>
          <p:cNvSpPr>
            <a:spLocks noGrp="1"/>
          </p:cNvSpPr>
          <p:nvPr/>
        </p:nvSpPr>
        <p:spPr>
          <a:xfrm>
            <a:off x="704850" y="1743075"/>
            <a:ext cx="12477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20A36B"/>
                </a:solidFill>
              </a:defRPr>
            </a:pPr>
            <a:r>
              <a:rPr sz="1275" b="1">
                <a:solidFill>
                  <a:srgbClr val="20A36B"/>
                </a:solidFill>
              </a:rPr>
              <a:t>Pod</a:t>
            </a:r>
          </a:p>
        </p:txBody>
      </p:sp>
      <p:sp>
        <p:nvSpPr>
          <p:cNvPr id="110" name="node-api"/>
          <p:cNvSpPr>
            <a:spLocks noGrp="1"/>
          </p:cNvSpPr>
          <p:nvPr/>
        </p:nvSpPr>
        <p:spPr>
          <a:xfrm>
            <a:off x="3810000" y="1581150"/>
            <a:ext cx="1619250" cy="571500"/>
          </a:xfrm>
          <a:prstGeom prst="roundRect">
            <a:avLst>
              <a:gd name="adj" fmla="val 18333"/>
            </a:avLst>
          </a:prstGeom>
          <a:solidFill>
            <a:srgbClr val="E9FBF3"/>
          </a:solidFill>
          <a:ln w="23813">
            <a:solidFill>
              <a:srgbClr val="20A3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1" name="矩形 110"/>
          <p:cNvSpPr>
            <a:spLocks noGrp="1"/>
          </p:cNvSpPr>
          <p:nvPr/>
        </p:nvSpPr>
        <p:spPr>
          <a:xfrm>
            <a:off x="3924300" y="1743075"/>
            <a:ext cx="1390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0A36B"/>
                </a:solidFill>
              </a:defRPr>
            </a:pPr>
            <a:r>
              <a:rPr sz="1200" b="1">
                <a:solidFill>
                  <a:srgbClr val="20A36B"/>
                </a:solidFill>
              </a:rPr>
              <a:t>API Server / Pod</a:t>
            </a:r>
          </a:p>
        </p:txBody>
      </p:sp>
      <p:sp>
        <p:nvSpPr>
          <p:cNvPr id="112" name="node-scheduler"/>
          <p:cNvSpPr>
            <a:spLocks noGrp="1"/>
          </p:cNvSpPr>
          <p:nvPr/>
        </p:nvSpPr>
        <p:spPr>
          <a:xfrm>
            <a:off x="6762750" y="1581150"/>
            <a:ext cx="1714500" cy="571500"/>
          </a:xfrm>
          <a:prstGeom prst="roundRect">
            <a:avLst>
              <a:gd name="adj" fmla="val 18333"/>
            </a:avLst>
          </a:prstGeom>
          <a:solidFill>
            <a:srgbClr val="E9FBF3"/>
          </a:solidFill>
          <a:ln w="23813">
            <a:solidFill>
              <a:srgbClr val="20A3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3" name="矩形 112"/>
          <p:cNvSpPr>
            <a:spLocks noGrp="1"/>
          </p:cNvSpPr>
          <p:nvPr/>
        </p:nvSpPr>
        <p:spPr>
          <a:xfrm>
            <a:off x="6877050" y="1743075"/>
            <a:ext cx="1485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0A36B"/>
                </a:solidFill>
              </a:defRPr>
            </a:pPr>
            <a:r>
              <a:rPr sz="1200" b="1">
                <a:solidFill>
                  <a:srgbClr val="20A36B"/>
                </a:solidFill>
              </a:rPr>
              <a:t>HAMi Scheduler</a:t>
            </a:r>
          </a:p>
        </p:txBody>
      </p:sp>
      <p:sp>
        <p:nvSpPr>
          <p:cNvPr id="114" name="node-kubelet"/>
          <p:cNvSpPr>
            <a:spLocks noGrp="1"/>
          </p:cNvSpPr>
          <p:nvPr/>
        </p:nvSpPr>
        <p:spPr>
          <a:xfrm>
            <a:off x="590550" y="2952750"/>
            <a:ext cx="1476375" cy="571500"/>
          </a:xfrm>
          <a:prstGeom prst="roundRect">
            <a:avLst>
              <a:gd name="adj" fmla="val 18333"/>
            </a:avLst>
          </a:prstGeom>
          <a:solidFill>
            <a:srgbClr val="F6F9FA"/>
          </a:solidFill>
          <a:ln w="14288">
            <a:solidFill>
              <a:srgbClr val="AFC1C7"/>
            </a:solidFill>
            <a:prstDash val="solid"/>
          </a:ln>
        </p:spPr>
      </p:sp>
      <p:sp>
        <p:nvSpPr>
          <p:cNvPr id="115" name="矩形 114"/>
          <p:cNvSpPr>
            <a:spLocks noGrp="1"/>
          </p:cNvSpPr>
          <p:nvPr/>
        </p:nvSpPr>
        <p:spPr>
          <a:xfrm>
            <a:off x="704850" y="3114675"/>
            <a:ext cx="12477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02A34"/>
                </a:solidFill>
              </a:defRPr>
            </a:pPr>
            <a:r>
              <a:rPr sz="1275" b="1">
                <a:solidFill>
                  <a:srgbClr val="102A34"/>
                </a:solidFill>
              </a:rPr>
              <a:t>Kubelet</a:t>
            </a:r>
          </a:p>
        </p:txBody>
      </p:sp>
      <p:sp>
        <p:nvSpPr>
          <p:cNvPr id="116" name="node-plugin"/>
          <p:cNvSpPr>
            <a:spLocks noGrp="1"/>
          </p:cNvSpPr>
          <p:nvPr/>
        </p:nvSpPr>
        <p:spPr>
          <a:xfrm>
            <a:off x="2714625" y="2952750"/>
            <a:ext cx="1666875" cy="571500"/>
          </a:xfrm>
          <a:prstGeom prst="roundRect">
            <a:avLst>
              <a:gd name="adj" fmla="val 18333"/>
            </a:avLst>
          </a:prstGeom>
          <a:solidFill>
            <a:srgbClr val="F6F9FA"/>
          </a:solidFill>
          <a:ln w="14288">
            <a:solidFill>
              <a:srgbClr val="AFC1C7"/>
            </a:solidFill>
            <a:prstDash val="solid"/>
          </a:ln>
        </p:spPr>
      </p:sp>
      <p:sp>
        <p:nvSpPr>
          <p:cNvPr id="117" name="矩形 116"/>
          <p:cNvSpPr>
            <a:spLocks noGrp="1"/>
          </p:cNvSpPr>
          <p:nvPr/>
        </p:nvSpPr>
        <p:spPr>
          <a:xfrm>
            <a:off x="2828925" y="3114675"/>
            <a:ext cx="14382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02A34"/>
                </a:solidFill>
              </a:defRPr>
            </a:pPr>
            <a:r>
              <a:rPr sz="1275" b="1">
                <a:solidFill>
                  <a:srgbClr val="102A34"/>
                </a:solidFill>
              </a:rPr>
              <a:t>Device Plugin</a:t>
            </a:r>
          </a:p>
        </p:txBody>
      </p:sp>
      <p:sp>
        <p:nvSpPr>
          <p:cNvPr id="118" name="node-nvml"/>
          <p:cNvSpPr>
            <a:spLocks noGrp="1"/>
          </p:cNvSpPr>
          <p:nvPr/>
        </p:nvSpPr>
        <p:spPr>
          <a:xfrm>
            <a:off x="4953000" y="2952750"/>
            <a:ext cx="1381125" cy="571500"/>
          </a:xfrm>
          <a:prstGeom prst="roundRect">
            <a:avLst>
              <a:gd name="adj" fmla="val 18333"/>
            </a:avLst>
          </a:prstGeom>
          <a:solidFill>
            <a:srgbClr val="F6F9FA"/>
          </a:solidFill>
          <a:ln w="14288">
            <a:solidFill>
              <a:srgbClr val="AFC1C7"/>
            </a:solidFill>
            <a:prstDash val="solid"/>
          </a:ln>
        </p:spPr>
      </p:sp>
      <p:sp>
        <p:nvSpPr>
          <p:cNvPr id="119" name="矩形 118"/>
          <p:cNvSpPr>
            <a:spLocks noGrp="1"/>
          </p:cNvSpPr>
          <p:nvPr/>
        </p:nvSpPr>
        <p:spPr>
          <a:xfrm>
            <a:off x="5067300" y="3114675"/>
            <a:ext cx="11525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02A34"/>
                </a:solidFill>
              </a:defRPr>
            </a:pPr>
            <a:r>
              <a:rPr sz="1275" b="1">
                <a:solidFill>
                  <a:srgbClr val="102A34"/>
                </a:solidFill>
              </a:rPr>
              <a:t>NVML</a:t>
            </a:r>
          </a:p>
        </p:txBody>
      </p:sp>
      <p:sp>
        <p:nvSpPr>
          <p:cNvPr id="120" name="node-gpu"/>
          <p:cNvSpPr>
            <a:spLocks noGrp="1"/>
          </p:cNvSpPr>
          <p:nvPr/>
        </p:nvSpPr>
        <p:spPr>
          <a:xfrm>
            <a:off x="6762750" y="2733675"/>
            <a:ext cx="1714500" cy="1009650"/>
          </a:xfrm>
          <a:prstGeom prst="roundRect">
            <a:avLst>
              <a:gd name="adj" fmla="val 10377"/>
            </a:avLst>
          </a:prstGeom>
          <a:solidFill>
            <a:srgbClr val="102F3A"/>
          </a:solidFill>
          <a:ln w="14288">
            <a:solidFill>
              <a:srgbClr val="AFC1C7"/>
            </a:solidFill>
            <a:prstDash val="solid"/>
          </a:ln>
        </p:spPr>
      </p:sp>
      <p:sp>
        <p:nvSpPr>
          <p:cNvPr id="121" name="矩形 120"/>
          <p:cNvSpPr>
            <a:spLocks noGrp="1"/>
          </p:cNvSpPr>
          <p:nvPr/>
        </p:nvSpPr>
        <p:spPr>
          <a:xfrm>
            <a:off x="6858000" y="2819400"/>
            <a:ext cx="152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NVIDIA GPU · MIG</a:t>
            </a:r>
          </a:p>
        </p:txBody>
      </p:sp>
      <p:sp>
        <p:nvSpPr>
          <p:cNvPr id="122" name="圆角矩形 121"/>
          <p:cNvSpPr>
            <a:spLocks noGrp="1"/>
          </p:cNvSpPr>
          <p:nvPr/>
        </p:nvSpPr>
        <p:spPr>
          <a:xfrm>
            <a:off x="6867525" y="3114675"/>
            <a:ext cx="180975" cy="323850"/>
          </a:xfrm>
          <a:prstGeom prst="roundRect">
            <a:avLst>
              <a:gd name="adj" fmla="val 21053"/>
            </a:avLst>
          </a:prstGeom>
          <a:solidFill>
            <a:srgbClr val="1E4654"/>
          </a:solidFill>
          <a:ln w="9525">
            <a:solidFill>
              <a:srgbClr val="718991"/>
            </a:solidFill>
            <a:prstDash val="solid"/>
          </a:ln>
        </p:spPr>
      </p:sp>
      <p:sp>
        <p:nvSpPr>
          <p:cNvPr id="123" name="矩形 122"/>
          <p:cNvSpPr>
            <a:spLocks noGrp="1"/>
          </p:cNvSpPr>
          <p:nvPr/>
        </p:nvSpPr>
        <p:spPr>
          <a:xfrm>
            <a:off x="6867525" y="3200400"/>
            <a:ext cx="1809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75" b="0">
                <a:solidFill>
                  <a:srgbClr val="C3D0D4"/>
                </a:solidFill>
              </a:defRPr>
            </a:pPr>
            <a:r>
              <a:rPr sz="675" b="0">
                <a:solidFill>
                  <a:srgbClr val="C3D0D4"/>
                </a:solidFill>
              </a:rPr>
              <a:t>0</a:t>
            </a:r>
          </a:p>
        </p:txBody>
      </p:sp>
      <p:sp>
        <p:nvSpPr>
          <p:cNvPr id="124" name="圆角矩形 123"/>
          <p:cNvSpPr>
            <a:spLocks noGrp="1"/>
          </p:cNvSpPr>
          <p:nvPr/>
        </p:nvSpPr>
        <p:spPr>
          <a:xfrm>
            <a:off x="7086600" y="3114675"/>
            <a:ext cx="180975" cy="323850"/>
          </a:xfrm>
          <a:prstGeom prst="roundRect">
            <a:avLst>
              <a:gd name="adj" fmla="val 21053"/>
            </a:avLst>
          </a:prstGeom>
          <a:solidFill>
            <a:srgbClr val="1E4654"/>
          </a:solidFill>
          <a:ln w="9525">
            <a:solidFill>
              <a:srgbClr val="718991"/>
            </a:solidFill>
            <a:prstDash val="solid"/>
          </a:ln>
        </p:spPr>
      </p:sp>
      <p:sp>
        <p:nvSpPr>
          <p:cNvPr id="125" name="矩形 124"/>
          <p:cNvSpPr>
            <a:spLocks noGrp="1"/>
          </p:cNvSpPr>
          <p:nvPr/>
        </p:nvSpPr>
        <p:spPr>
          <a:xfrm>
            <a:off x="7086600" y="3200400"/>
            <a:ext cx="1809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75" b="0">
                <a:solidFill>
                  <a:srgbClr val="C3D0D4"/>
                </a:solidFill>
              </a:defRPr>
            </a:pPr>
            <a:r>
              <a:rPr sz="675" b="0">
                <a:solidFill>
                  <a:srgbClr val="C3D0D4"/>
                </a:solidFill>
              </a:rPr>
              <a:t>1</a:t>
            </a:r>
          </a:p>
        </p:txBody>
      </p:sp>
      <p:sp>
        <p:nvSpPr>
          <p:cNvPr id="126" name="圆角矩形 125"/>
          <p:cNvSpPr>
            <a:spLocks noGrp="1"/>
          </p:cNvSpPr>
          <p:nvPr/>
        </p:nvSpPr>
        <p:spPr>
          <a:xfrm>
            <a:off x="7305675" y="3114675"/>
            <a:ext cx="180975" cy="323850"/>
          </a:xfrm>
          <a:prstGeom prst="roundRect">
            <a:avLst>
              <a:gd name="adj" fmla="val 21053"/>
            </a:avLst>
          </a:prstGeom>
          <a:solidFill>
            <a:srgbClr val="1E4654"/>
          </a:solidFill>
          <a:ln w="9525">
            <a:solidFill>
              <a:srgbClr val="718991"/>
            </a:solidFill>
            <a:prstDash val="solid"/>
          </a:ln>
        </p:spPr>
      </p:sp>
      <p:sp>
        <p:nvSpPr>
          <p:cNvPr id="127" name="矩形 126"/>
          <p:cNvSpPr>
            <a:spLocks noGrp="1"/>
          </p:cNvSpPr>
          <p:nvPr/>
        </p:nvSpPr>
        <p:spPr>
          <a:xfrm>
            <a:off x="7305675" y="3200400"/>
            <a:ext cx="1809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75" b="0">
                <a:solidFill>
                  <a:srgbClr val="C3D0D4"/>
                </a:solidFill>
              </a:defRPr>
            </a:pPr>
            <a:r>
              <a:rPr sz="675" b="0">
                <a:solidFill>
                  <a:srgbClr val="C3D0D4"/>
                </a:solidFill>
              </a:rPr>
              <a:t>2</a:t>
            </a:r>
          </a:p>
        </p:txBody>
      </p:sp>
      <p:sp>
        <p:nvSpPr>
          <p:cNvPr id="128" name="圆角矩形 127"/>
          <p:cNvSpPr>
            <a:spLocks noGrp="1"/>
          </p:cNvSpPr>
          <p:nvPr/>
        </p:nvSpPr>
        <p:spPr>
          <a:xfrm>
            <a:off x="7524750" y="3114675"/>
            <a:ext cx="180975" cy="323850"/>
          </a:xfrm>
          <a:prstGeom prst="roundRect">
            <a:avLst>
              <a:gd name="adj" fmla="val 21053"/>
            </a:avLst>
          </a:prstGeom>
          <a:solidFill>
            <a:srgbClr val="1E4654"/>
          </a:solidFill>
          <a:ln w="9525">
            <a:solidFill>
              <a:srgbClr val="718991"/>
            </a:solidFill>
            <a:prstDash val="solid"/>
          </a:ln>
        </p:spPr>
      </p:sp>
      <p:sp>
        <p:nvSpPr>
          <p:cNvPr id="129" name="矩形 128"/>
          <p:cNvSpPr>
            <a:spLocks noGrp="1"/>
          </p:cNvSpPr>
          <p:nvPr/>
        </p:nvSpPr>
        <p:spPr>
          <a:xfrm>
            <a:off x="7524750" y="3200400"/>
            <a:ext cx="1809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75" b="0">
                <a:solidFill>
                  <a:srgbClr val="C3D0D4"/>
                </a:solidFill>
              </a:defRPr>
            </a:pPr>
            <a:r>
              <a:rPr sz="675" b="0">
                <a:solidFill>
                  <a:srgbClr val="C3D0D4"/>
                </a:solidFill>
              </a:rPr>
              <a:t>3</a:t>
            </a:r>
          </a:p>
        </p:txBody>
      </p:sp>
      <p:sp>
        <p:nvSpPr>
          <p:cNvPr id="130" name="圆角矩形 129"/>
          <p:cNvSpPr>
            <a:spLocks noGrp="1"/>
          </p:cNvSpPr>
          <p:nvPr/>
        </p:nvSpPr>
        <p:spPr>
          <a:xfrm>
            <a:off x="7743825" y="3114675"/>
            <a:ext cx="180975" cy="323850"/>
          </a:xfrm>
          <a:prstGeom prst="roundRect">
            <a:avLst>
              <a:gd name="adj" fmla="val 21053"/>
            </a:avLst>
          </a:prstGeom>
          <a:solidFill>
            <a:srgbClr val="1E4654"/>
          </a:solidFill>
          <a:ln w="9525">
            <a:solidFill>
              <a:srgbClr val="718991"/>
            </a:solidFill>
            <a:prstDash val="solid"/>
          </a:ln>
        </p:spPr>
      </p:sp>
      <p:sp>
        <p:nvSpPr>
          <p:cNvPr id="131" name="矩形 130"/>
          <p:cNvSpPr>
            <a:spLocks noGrp="1"/>
          </p:cNvSpPr>
          <p:nvPr/>
        </p:nvSpPr>
        <p:spPr>
          <a:xfrm>
            <a:off x="7743825" y="3200400"/>
            <a:ext cx="1809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75" b="0">
                <a:solidFill>
                  <a:srgbClr val="C3D0D4"/>
                </a:solidFill>
              </a:defRPr>
            </a:pPr>
            <a:r>
              <a:rPr sz="675" b="0">
                <a:solidFill>
                  <a:srgbClr val="C3D0D4"/>
                </a:solidFill>
              </a:rPr>
              <a:t>4</a:t>
            </a:r>
          </a:p>
        </p:txBody>
      </p:sp>
      <p:sp>
        <p:nvSpPr>
          <p:cNvPr id="132" name="圆角矩形 131"/>
          <p:cNvSpPr>
            <a:spLocks noGrp="1"/>
          </p:cNvSpPr>
          <p:nvPr/>
        </p:nvSpPr>
        <p:spPr>
          <a:xfrm>
            <a:off x="7962900" y="3114675"/>
            <a:ext cx="180975" cy="323850"/>
          </a:xfrm>
          <a:prstGeom prst="roundRect">
            <a:avLst>
              <a:gd name="adj" fmla="val 21053"/>
            </a:avLst>
          </a:prstGeom>
          <a:solidFill>
            <a:srgbClr val="1E4654"/>
          </a:solidFill>
          <a:ln w="9525">
            <a:solidFill>
              <a:srgbClr val="718991"/>
            </a:solidFill>
            <a:prstDash val="solid"/>
          </a:ln>
        </p:spPr>
      </p:sp>
      <p:sp>
        <p:nvSpPr>
          <p:cNvPr id="133" name="矩形 132"/>
          <p:cNvSpPr>
            <a:spLocks noGrp="1"/>
          </p:cNvSpPr>
          <p:nvPr/>
        </p:nvSpPr>
        <p:spPr>
          <a:xfrm>
            <a:off x="7962900" y="3200400"/>
            <a:ext cx="1809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75" b="0">
                <a:solidFill>
                  <a:srgbClr val="C3D0D4"/>
                </a:solidFill>
              </a:defRPr>
            </a:pPr>
            <a:r>
              <a:rPr sz="675" b="0">
                <a:solidFill>
                  <a:srgbClr val="C3D0D4"/>
                </a:solidFill>
              </a:rPr>
              <a:t>5</a:t>
            </a:r>
          </a:p>
        </p:txBody>
      </p:sp>
      <p:sp>
        <p:nvSpPr>
          <p:cNvPr id="134" name="圆角矩形 133"/>
          <p:cNvSpPr>
            <a:spLocks noGrp="1"/>
          </p:cNvSpPr>
          <p:nvPr/>
        </p:nvSpPr>
        <p:spPr>
          <a:xfrm>
            <a:off x="8181975" y="3114675"/>
            <a:ext cx="180975" cy="323850"/>
          </a:xfrm>
          <a:prstGeom prst="roundRect">
            <a:avLst>
              <a:gd name="adj" fmla="val 21053"/>
            </a:avLst>
          </a:prstGeom>
          <a:solidFill>
            <a:srgbClr val="1E4654"/>
          </a:solidFill>
          <a:ln w="9525">
            <a:solidFill>
              <a:srgbClr val="718991"/>
            </a:solidFill>
            <a:prstDash val="solid"/>
          </a:ln>
        </p:spPr>
      </p:sp>
      <p:sp>
        <p:nvSpPr>
          <p:cNvPr id="135" name="矩形 134"/>
          <p:cNvSpPr>
            <a:spLocks noGrp="1"/>
          </p:cNvSpPr>
          <p:nvPr/>
        </p:nvSpPr>
        <p:spPr>
          <a:xfrm>
            <a:off x="8181975" y="3200400"/>
            <a:ext cx="1809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75" b="0">
                <a:solidFill>
                  <a:srgbClr val="C3D0D4"/>
                </a:solidFill>
              </a:defRPr>
            </a:pPr>
            <a:r>
              <a:rPr sz="675" b="0">
                <a:solidFill>
                  <a:srgbClr val="C3D0D4"/>
                </a:solidFill>
              </a:rPr>
              <a:t>6</a:t>
            </a:r>
          </a:p>
        </p:txBody>
      </p:sp>
      <p:sp>
        <p:nvSpPr>
          <p:cNvPr id="136" name="矩形 135"/>
          <p:cNvSpPr>
            <a:spLocks noGrp="1"/>
          </p:cNvSpPr>
          <p:nvPr/>
        </p:nvSpPr>
        <p:spPr>
          <a:xfrm>
            <a:off x="6838950" y="3495675"/>
            <a:ext cx="1562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>
                <a:solidFill>
                  <a:srgbClr val="B3C3C8"/>
                </a:solidFill>
              </a:defRPr>
            </a:pPr>
            <a:r>
              <a:rPr sz="750">
                <a:solidFill>
                  <a:srgbClr val="B3C3C8"/>
                </a:solidFill>
              </a:rPr>
              <a:t>7 placement slots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13690" y="3924300"/>
            <a:ext cx="8515985" cy="646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/>
              <a:t>When we submit a pod request the MIG device, the scheduler find out the avaliable placement and annotate the result to the pod.  </a:t>
            </a:r>
          </a:p>
        </p:txBody>
      </p:sp>
      <p:cxnSp>
        <p:nvCxnSpPr>
          <p:cNvPr id="152" name="直接箭头连接符 151"/>
          <p:cNvCxnSpPr>
            <a:stCxn id="94" idx="3"/>
            <a:endCxn id="95" idx="1"/>
          </p:cNvCxnSpPr>
          <p:nvPr/>
        </p:nvCxnSpPr>
        <p:spPr>
          <a:xfrm>
            <a:off x="2066925" y="1866900"/>
            <a:ext cx="1743075" cy="0"/>
          </a:xfrm>
          <a:prstGeom prst="straightConnector1">
            <a:avLst/>
          </a:prstGeom>
          <a:ln w="38100" cap="flat" cmpd="sng">
            <a:solidFill>
              <a:srgbClr val="00B050"/>
            </a:solidFill>
            <a:prstDash val="solid"/>
            <a:headEnd type="none"/>
            <a:tailEnd type="triangle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3" name="直接箭头连接符 152"/>
          <p:cNvCxnSpPr>
            <a:stCxn id="95" idx="3"/>
            <a:endCxn id="96" idx="1"/>
          </p:cNvCxnSpPr>
          <p:nvPr/>
        </p:nvCxnSpPr>
        <p:spPr>
          <a:xfrm>
            <a:off x="5429250" y="1866900"/>
            <a:ext cx="1333500" cy="0"/>
          </a:xfrm>
          <a:prstGeom prst="straightConnector1">
            <a:avLst/>
          </a:prstGeom>
          <a:ln w="33338">
            <a:solidFill>
              <a:srgbClr val="20A36B"/>
            </a:solidFill>
            <a:prstDash val="solid"/>
            <a:tailEnd type="triangle" w="med" len="med"/>
          </a:ln>
        </p:spPr>
      </p:cxnSp>
      <p:sp>
        <p:nvSpPr>
          <p:cNvPr id="6" name="文本框 5"/>
          <p:cNvSpPr txBox="1"/>
          <p:nvPr/>
        </p:nvSpPr>
        <p:spPr>
          <a:xfrm>
            <a:off x="838200" y="2141220"/>
            <a:ext cx="13335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8G request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915150" y="2152650"/>
            <a:ext cx="15621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pick 1g.10gb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>Dynamic MIG — Allocate on the node</a:t>
            </a:r>
          </a:p>
        </p:txBody>
      </p:sp>
      <p:sp>
        <p:nvSpPr>
          <p:cNvPr id="90" name="圆角矩形 89"/>
          <p:cNvSpPr>
            <a:spLocks noGrp="1"/>
          </p:cNvSpPr>
          <p:nvPr/>
        </p:nvSpPr>
        <p:spPr>
          <a:xfrm>
            <a:off x="314325" y="1200150"/>
            <a:ext cx="8515350" cy="1247775"/>
          </a:xfrm>
          <a:prstGeom prst="roundRect">
            <a:avLst>
              <a:gd name="adj" fmla="val 7634"/>
            </a:avLst>
          </a:prstGeom>
          <a:solidFill>
            <a:srgbClr val="FAFCFC"/>
          </a:solidFill>
          <a:ln w="9525">
            <a:solidFill>
              <a:srgbClr val="DCE6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圆角矩形 90"/>
          <p:cNvSpPr>
            <a:spLocks noGrp="1"/>
          </p:cNvSpPr>
          <p:nvPr/>
        </p:nvSpPr>
        <p:spPr>
          <a:xfrm>
            <a:off x="314325" y="2581275"/>
            <a:ext cx="8515350" cy="1343025"/>
          </a:xfrm>
          <a:prstGeom prst="roundRect">
            <a:avLst>
              <a:gd name="adj" fmla="val 7092"/>
            </a:avLst>
          </a:prstGeom>
          <a:solidFill>
            <a:srgbClr val="FAFCFC"/>
          </a:solidFill>
          <a:ln w="9525">
            <a:solidFill>
              <a:srgbClr val="DCE6E8"/>
            </a:solidFill>
            <a:prstDash val="solid"/>
          </a:ln>
        </p:spPr>
      </p:sp>
      <p:sp>
        <p:nvSpPr>
          <p:cNvPr id="92" name="矩形 91"/>
          <p:cNvSpPr>
            <a:spLocks noGrp="1"/>
          </p:cNvSpPr>
          <p:nvPr/>
        </p:nvSpPr>
        <p:spPr>
          <a:xfrm>
            <a:off x="457200" y="1276350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083E4F"/>
                </a:solidFill>
              </a:defRPr>
            </a:pPr>
            <a:r>
              <a:rPr sz="750" b="1">
                <a:solidFill>
                  <a:srgbClr val="083E4F"/>
                </a:solidFill>
              </a:rPr>
              <a:t>KUBERNETES CONTROL PLANE</a:t>
            </a:r>
          </a:p>
        </p:txBody>
      </p:sp>
      <p:sp>
        <p:nvSpPr>
          <p:cNvPr id="93" name="矩形 92"/>
          <p:cNvSpPr>
            <a:spLocks noGrp="1"/>
          </p:cNvSpPr>
          <p:nvPr/>
        </p:nvSpPr>
        <p:spPr>
          <a:xfrm>
            <a:off x="457200" y="264795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083E4F"/>
                </a:solidFill>
              </a:defRPr>
            </a:pPr>
            <a:r>
              <a:rPr sz="750" b="1">
                <a:solidFill>
                  <a:srgbClr val="083E4F"/>
                </a:solidFill>
              </a:rPr>
              <a:t>GPU WORKER NODE</a:t>
            </a:r>
          </a:p>
        </p:txBody>
      </p:sp>
      <p:sp>
        <p:nvSpPr>
          <p:cNvPr id="94" name="anchor-pod"/>
          <p:cNvSpPr>
            <a:spLocks noGrp="1"/>
          </p:cNvSpPr>
          <p:nvPr/>
        </p:nvSpPr>
        <p:spPr>
          <a:xfrm>
            <a:off x="590550" y="1581150"/>
            <a:ext cx="1476375" cy="5715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95" name="anchor-api"/>
          <p:cNvSpPr>
            <a:spLocks noGrp="1"/>
          </p:cNvSpPr>
          <p:nvPr/>
        </p:nvSpPr>
        <p:spPr>
          <a:xfrm>
            <a:off x="3810000" y="1581150"/>
            <a:ext cx="1619250" cy="5715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96" name="anchor-scheduler"/>
          <p:cNvSpPr>
            <a:spLocks noGrp="1"/>
          </p:cNvSpPr>
          <p:nvPr/>
        </p:nvSpPr>
        <p:spPr>
          <a:xfrm>
            <a:off x="6762750" y="1581150"/>
            <a:ext cx="1714500" cy="5715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97" name="anchor-kubelet"/>
          <p:cNvSpPr>
            <a:spLocks noGrp="1"/>
          </p:cNvSpPr>
          <p:nvPr/>
        </p:nvSpPr>
        <p:spPr>
          <a:xfrm>
            <a:off x="590550" y="2952750"/>
            <a:ext cx="1476375" cy="5715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98" name="anchor-plugin"/>
          <p:cNvSpPr>
            <a:spLocks noGrp="1"/>
          </p:cNvSpPr>
          <p:nvPr/>
        </p:nvSpPr>
        <p:spPr>
          <a:xfrm>
            <a:off x="2714625" y="2952750"/>
            <a:ext cx="1666875" cy="5715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99" name="anchor-nvml"/>
          <p:cNvSpPr>
            <a:spLocks noGrp="1"/>
          </p:cNvSpPr>
          <p:nvPr/>
        </p:nvSpPr>
        <p:spPr>
          <a:xfrm>
            <a:off x="4953000" y="2952750"/>
            <a:ext cx="1381125" cy="5715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00" name="anchor-gpu"/>
          <p:cNvSpPr>
            <a:spLocks noGrp="1"/>
          </p:cNvSpPr>
          <p:nvPr/>
        </p:nvSpPr>
        <p:spPr>
          <a:xfrm>
            <a:off x="6762750" y="2733675"/>
            <a:ext cx="1714500" cy="1009650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52" name="直接箭头连接符 151"/>
          <p:cNvCxnSpPr>
            <a:stCxn id="94" idx="3"/>
            <a:endCxn id="95" idx="1"/>
          </p:cNvCxnSpPr>
          <p:nvPr/>
        </p:nvCxnSpPr>
        <p:spPr>
          <a:xfrm>
            <a:off x="2066925" y="1866900"/>
            <a:ext cx="1743075" cy="0"/>
          </a:xfrm>
          <a:prstGeom prst="straightConnector1">
            <a:avLst/>
          </a:prstGeom>
          <a:ln w="19050">
            <a:solidFill>
              <a:srgbClr val="C8D6DB"/>
            </a:solidFill>
            <a:prstDash val="solid"/>
            <a:tailEnd type="triangle" w="med" len="med"/>
          </a:ln>
        </p:spPr>
      </p:cxnSp>
      <p:cxnSp>
        <p:nvCxnSpPr>
          <p:cNvPr id="153" name="直接箭头连接符 152"/>
          <p:cNvCxnSpPr>
            <a:stCxn id="95" idx="3"/>
            <a:endCxn id="96" idx="1"/>
          </p:cNvCxnSpPr>
          <p:nvPr/>
        </p:nvCxnSpPr>
        <p:spPr>
          <a:xfrm>
            <a:off x="5429250" y="1866900"/>
            <a:ext cx="1333500" cy="0"/>
          </a:xfrm>
          <a:prstGeom prst="straightConnector1">
            <a:avLst/>
          </a:prstGeom>
          <a:ln w="19050">
            <a:solidFill>
              <a:srgbClr val="C8D6DB"/>
            </a:solidFill>
            <a:prstDash val="solid"/>
            <a:tailEnd type="triangle" w="med" len="med"/>
          </a:ln>
        </p:spPr>
      </p:cxnSp>
      <p:cxnSp>
        <p:nvCxnSpPr>
          <p:cNvPr id="154" name="直接箭头连接符 153"/>
          <p:cNvCxnSpPr>
            <a:stCxn id="97" idx="3"/>
            <a:endCxn id="98" idx="1"/>
          </p:cNvCxnSpPr>
          <p:nvPr/>
        </p:nvCxnSpPr>
        <p:spPr>
          <a:xfrm>
            <a:off x="2066925" y="3238500"/>
            <a:ext cx="647700" cy="0"/>
          </a:xfrm>
          <a:prstGeom prst="straightConnector1">
            <a:avLst/>
          </a:prstGeom>
          <a:ln w="33338">
            <a:solidFill>
              <a:srgbClr val="20A36B"/>
            </a:solidFill>
            <a:prstDash val="solid"/>
            <a:tailEnd type="triangle" w="med" len="med"/>
          </a:ln>
        </p:spPr>
      </p:cxnSp>
      <p:cxnSp>
        <p:nvCxnSpPr>
          <p:cNvPr id="155" name="直接箭头连接符 154"/>
          <p:cNvCxnSpPr>
            <a:stCxn id="98" idx="3"/>
            <a:endCxn id="99" idx="1"/>
          </p:cNvCxnSpPr>
          <p:nvPr/>
        </p:nvCxnSpPr>
        <p:spPr>
          <a:xfrm>
            <a:off x="4381500" y="3238500"/>
            <a:ext cx="571500" cy="0"/>
          </a:xfrm>
          <a:prstGeom prst="straightConnector1">
            <a:avLst/>
          </a:prstGeom>
          <a:ln w="19050">
            <a:solidFill>
              <a:srgbClr val="C8D6DB"/>
            </a:solidFill>
            <a:prstDash val="solid"/>
            <a:tailEnd type="triangle" w="med" len="med"/>
          </a:ln>
        </p:spPr>
      </p:cxnSp>
      <p:cxnSp>
        <p:nvCxnSpPr>
          <p:cNvPr id="156" name="直接箭头连接符 155"/>
          <p:cNvCxnSpPr>
            <a:stCxn id="99" idx="3"/>
            <a:endCxn id="100" idx="1"/>
          </p:cNvCxnSpPr>
          <p:nvPr/>
        </p:nvCxnSpPr>
        <p:spPr>
          <a:xfrm>
            <a:off x="6334125" y="3238500"/>
            <a:ext cx="428625" cy="0"/>
          </a:xfrm>
          <a:prstGeom prst="straightConnector1">
            <a:avLst/>
          </a:prstGeom>
          <a:ln w="19050">
            <a:solidFill>
              <a:srgbClr val="C8D6DB"/>
            </a:solidFill>
            <a:prstDash val="solid"/>
            <a:tailEnd type="triangle" w="med" len="med"/>
          </a:ln>
        </p:spPr>
      </p:cxnSp>
      <p:cxnSp>
        <p:nvCxnSpPr>
          <p:cNvPr id="157" name="肘形连接符 156"/>
          <p:cNvCxnSpPr>
            <a:stCxn id="95" idx="3"/>
            <a:endCxn id="97" idx="1"/>
          </p:cNvCxnSpPr>
          <p:nvPr/>
        </p:nvCxnSpPr>
        <p:spPr>
          <a:xfrm flipH="1">
            <a:off x="590550" y="1866900"/>
            <a:ext cx="4838700" cy="1371600"/>
          </a:xfrm>
          <a:prstGeom prst="bentConnector3">
            <a:avLst>
              <a:gd name="adj1" fmla="val 50000"/>
            </a:avLst>
          </a:prstGeom>
          <a:ln w="33338">
            <a:solidFill>
              <a:srgbClr val="20A36B"/>
            </a:solidFill>
            <a:prstDash val="solid"/>
            <a:tailEnd type="triangle" w="med" len="med"/>
          </a:ln>
        </p:spPr>
      </p:cxnSp>
      <p:cxnSp>
        <p:nvCxnSpPr>
          <p:cNvPr id="158" name="肘形连接符 157"/>
          <p:cNvCxnSpPr>
            <a:stCxn id="96" idx="3"/>
            <a:endCxn id="98" idx="1"/>
          </p:cNvCxnSpPr>
          <p:nvPr/>
        </p:nvCxnSpPr>
        <p:spPr>
          <a:xfrm flipH="1">
            <a:off x="2714625" y="1866900"/>
            <a:ext cx="5762625" cy="1371600"/>
          </a:xfrm>
          <a:prstGeom prst="bentConnector3">
            <a:avLst>
              <a:gd name="adj1" fmla="val 50000"/>
            </a:avLst>
          </a:prstGeom>
          <a:ln w="19050">
            <a:solidFill>
              <a:srgbClr val="C8D6DB"/>
            </a:solidFill>
            <a:prstDash val="solid"/>
            <a:tailEnd type="triangle" w="med" len="med"/>
          </a:ln>
        </p:spPr>
      </p:cxnSp>
      <p:sp>
        <p:nvSpPr>
          <p:cNvPr id="108" name="node-pod"/>
          <p:cNvSpPr>
            <a:spLocks noGrp="1"/>
          </p:cNvSpPr>
          <p:nvPr/>
        </p:nvSpPr>
        <p:spPr>
          <a:xfrm>
            <a:off x="590550" y="1581150"/>
            <a:ext cx="1476375" cy="571500"/>
          </a:xfrm>
          <a:prstGeom prst="roundRect">
            <a:avLst>
              <a:gd name="adj" fmla="val 18333"/>
            </a:avLst>
          </a:prstGeom>
          <a:solidFill>
            <a:srgbClr val="F6F9FA"/>
          </a:solidFill>
          <a:ln w="14288">
            <a:solidFill>
              <a:srgbClr val="AFC1C7"/>
            </a:solidFill>
            <a:prstDash val="solid"/>
          </a:ln>
        </p:spPr>
      </p:sp>
      <p:sp>
        <p:nvSpPr>
          <p:cNvPr id="109" name="矩形 108"/>
          <p:cNvSpPr>
            <a:spLocks noGrp="1"/>
          </p:cNvSpPr>
          <p:nvPr/>
        </p:nvSpPr>
        <p:spPr>
          <a:xfrm>
            <a:off x="704850" y="1743075"/>
            <a:ext cx="12477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02A34"/>
                </a:solidFill>
              </a:defRPr>
            </a:pPr>
            <a:r>
              <a:rPr sz="1275" b="1">
                <a:solidFill>
                  <a:srgbClr val="102A34"/>
                </a:solidFill>
              </a:rPr>
              <a:t>Pod</a:t>
            </a:r>
          </a:p>
        </p:txBody>
      </p:sp>
      <p:sp>
        <p:nvSpPr>
          <p:cNvPr id="110" name="node-api"/>
          <p:cNvSpPr>
            <a:spLocks noGrp="1"/>
          </p:cNvSpPr>
          <p:nvPr/>
        </p:nvSpPr>
        <p:spPr>
          <a:xfrm>
            <a:off x="3810000" y="1581150"/>
            <a:ext cx="1619250" cy="571500"/>
          </a:xfrm>
          <a:prstGeom prst="roundRect">
            <a:avLst>
              <a:gd name="adj" fmla="val 18333"/>
            </a:avLst>
          </a:prstGeom>
          <a:solidFill>
            <a:srgbClr val="E9FBF3"/>
          </a:solidFill>
          <a:ln w="23813">
            <a:solidFill>
              <a:srgbClr val="20A3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1" name="矩形 110"/>
          <p:cNvSpPr>
            <a:spLocks noGrp="1"/>
          </p:cNvSpPr>
          <p:nvPr/>
        </p:nvSpPr>
        <p:spPr>
          <a:xfrm>
            <a:off x="3924300" y="1743075"/>
            <a:ext cx="1390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0A36B"/>
                </a:solidFill>
              </a:defRPr>
            </a:pPr>
            <a:r>
              <a:rPr sz="1200" b="1">
                <a:solidFill>
                  <a:srgbClr val="20A36B"/>
                </a:solidFill>
              </a:rPr>
              <a:t>API Server / Pod</a:t>
            </a:r>
          </a:p>
        </p:txBody>
      </p:sp>
      <p:sp>
        <p:nvSpPr>
          <p:cNvPr id="112" name="node-scheduler"/>
          <p:cNvSpPr>
            <a:spLocks noGrp="1"/>
          </p:cNvSpPr>
          <p:nvPr/>
        </p:nvSpPr>
        <p:spPr>
          <a:xfrm>
            <a:off x="6762750" y="1581150"/>
            <a:ext cx="1714500" cy="571500"/>
          </a:xfrm>
          <a:prstGeom prst="roundRect">
            <a:avLst>
              <a:gd name="adj" fmla="val 18333"/>
            </a:avLst>
          </a:prstGeom>
          <a:solidFill>
            <a:srgbClr val="F6F9FA"/>
          </a:solidFill>
          <a:ln w="14288">
            <a:solidFill>
              <a:srgbClr val="AFC1C7"/>
            </a:solidFill>
            <a:prstDash val="solid"/>
          </a:ln>
        </p:spPr>
      </p:sp>
      <p:sp>
        <p:nvSpPr>
          <p:cNvPr id="113" name="矩形 112"/>
          <p:cNvSpPr>
            <a:spLocks noGrp="1"/>
          </p:cNvSpPr>
          <p:nvPr/>
        </p:nvSpPr>
        <p:spPr>
          <a:xfrm>
            <a:off x="6877050" y="1743075"/>
            <a:ext cx="1485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02A34"/>
                </a:solidFill>
              </a:defRPr>
            </a:pPr>
            <a:r>
              <a:rPr sz="1200" b="1">
                <a:solidFill>
                  <a:srgbClr val="102A34"/>
                </a:solidFill>
              </a:rPr>
              <a:t>HAMi Scheduler</a:t>
            </a:r>
          </a:p>
        </p:txBody>
      </p:sp>
      <p:sp>
        <p:nvSpPr>
          <p:cNvPr id="114" name="node-kubelet"/>
          <p:cNvSpPr>
            <a:spLocks noGrp="1"/>
          </p:cNvSpPr>
          <p:nvPr/>
        </p:nvSpPr>
        <p:spPr>
          <a:xfrm>
            <a:off x="590550" y="2952750"/>
            <a:ext cx="1476375" cy="571500"/>
          </a:xfrm>
          <a:prstGeom prst="roundRect">
            <a:avLst>
              <a:gd name="adj" fmla="val 18333"/>
            </a:avLst>
          </a:prstGeom>
          <a:solidFill>
            <a:srgbClr val="E9FBF3"/>
          </a:solidFill>
          <a:ln w="23813">
            <a:solidFill>
              <a:srgbClr val="20A3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5" name="矩形 114"/>
          <p:cNvSpPr>
            <a:spLocks noGrp="1"/>
          </p:cNvSpPr>
          <p:nvPr/>
        </p:nvSpPr>
        <p:spPr>
          <a:xfrm>
            <a:off x="704850" y="3114675"/>
            <a:ext cx="12477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20A36B"/>
                </a:solidFill>
              </a:defRPr>
            </a:pPr>
            <a:r>
              <a:rPr sz="1275" b="1">
                <a:solidFill>
                  <a:srgbClr val="20A36B"/>
                </a:solidFill>
              </a:rPr>
              <a:t>Kubelet</a:t>
            </a:r>
          </a:p>
        </p:txBody>
      </p:sp>
      <p:sp>
        <p:nvSpPr>
          <p:cNvPr id="116" name="node-plugin"/>
          <p:cNvSpPr>
            <a:spLocks noGrp="1"/>
          </p:cNvSpPr>
          <p:nvPr/>
        </p:nvSpPr>
        <p:spPr>
          <a:xfrm>
            <a:off x="2714625" y="2952750"/>
            <a:ext cx="1666875" cy="571500"/>
          </a:xfrm>
          <a:prstGeom prst="roundRect">
            <a:avLst>
              <a:gd name="adj" fmla="val 18333"/>
            </a:avLst>
          </a:prstGeom>
          <a:solidFill>
            <a:srgbClr val="E9FBF3"/>
          </a:solidFill>
          <a:ln w="23813">
            <a:solidFill>
              <a:srgbClr val="20A3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7" name="矩形 116"/>
          <p:cNvSpPr>
            <a:spLocks noGrp="1"/>
          </p:cNvSpPr>
          <p:nvPr/>
        </p:nvSpPr>
        <p:spPr>
          <a:xfrm>
            <a:off x="2828925" y="3114675"/>
            <a:ext cx="14382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20A36B"/>
                </a:solidFill>
              </a:defRPr>
            </a:pPr>
            <a:r>
              <a:rPr sz="1275" b="1">
                <a:solidFill>
                  <a:srgbClr val="20A36B"/>
                </a:solidFill>
              </a:rPr>
              <a:t>Device Plugin</a:t>
            </a:r>
          </a:p>
        </p:txBody>
      </p:sp>
      <p:sp>
        <p:nvSpPr>
          <p:cNvPr id="118" name="node-nvml"/>
          <p:cNvSpPr>
            <a:spLocks noGrp="1"/>
          </p:cNvSpPr>
          <p:nvPr/>
        </p:nvSpPr>
        <p:spPr>
          <a:xfrm>
            <a:off x="4953000" y="2952750"/>
            <a:ext cx="1381125" cy="571500"/>
          </a:xfrm>
          <a:prstGeom prst="roundRect">
            <a:avLst>
              <a:gd name="adj" fmla="val 18333"/>
            </a:avLst>
          </a:prstGeom>
          <a:solidFill>
            <a:srgbClr val="F6F9FA"/>
          </a:solidFill>
          <a:ln w="14288">
            <a:solidFill>
              <a:srgbClr val="AFC1C7"/>
            </a:solidFill>
            <a:prstDash val="solid"/>
          </a:ln>
        </p:spPr>
      </p:sp>
      <p:sp>
        <p:nvSpPr>
          <p:cNvPr id="119" name="矩形 118"/>
          <p:cNvSpPr>
            <a:spLocks noGrp="1"/>
          </p:cNvSpPr>
          <p:nvPr/>
        </p:nvSpPr>
        <p:spPr>
          <a:xfrm>
            <a:off x="5067300" y="3114675"/>
            <a:ext cx="11525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02A34"/>
                </a:solidFill>
              </a:defRPr>
            </a:pPr>
            <a:r>
              <a:rPr sz="1275" b="1">
                <a:solidFill>
                  <a:srgbClr val="102A34"/>
                </a:solidFill>
              </a:rPr>
              <a:t>NVML</a:t>
            </a:r>
          </a:p>
        </p:txBody>
      </p:sp>
      <p:sp>
        <p:nvSpPr>
          <p:cNvPr id="120" name="node-gpu"/>
          <p:cNvSpPr>
            <a:spLocks noGrp="1"/>
          </p:cNvSpPr>
          <p:nvPr/>
        </p:nvSpPr>
        <p:spPr>
          <a:xfrm>
            <a:off x="6762750" y="2733675"/>
            <a:ext cx="1714500" cy="1009650"/>
          </a:xfrm>
          <a:prstGeom prst="roundRect">
            <a:avLst>
              <a:gd name="adj" fmla="val 10377"/>
            </a:avLst>
          </a:prstGeom>
          <a:solidFill>
            <a:srgbClr val="102F3A"/>
          </a:solidFill>
          <a:ln w="14288">
            <a:solidFill>
              <a:srgbClr val="AFC1C7"/>
            </a:solidFill>
            <a:prstDash val="solid"/>
          </a:ln>
        </p:spPr>
      </p:sp>
      <p:sp>
        <p:nvSpPr>
          <p:cNvPr id="121" name="矩形 120"/>
          <p:cNvSpPr>
            <a:spLocks noGrp="1"/>
          </p:cNvSpPr>
          <p:nvPr/>
        </p:nvSpPr>
        <p:spPr>
          <a:xfrm>
            <a:off x="6858000" y="2819400"/>
            <a:ext cx="152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NVIDIA GPU · MIG</a:t>
            </a:r>
          </a:p>
        </p:txBody>
      </p:sp>
      <p:sp>
        <p:nvSpPr>
          <p:cNvPr id="122" name="圆角矩形 121"/>
          <p:cNvSpPr>
            <a:spLocks noGrp="1"/>
          </p:cNvSpPr>
          <p:nvPr/>
        </p:nvSpPr>
        <p:spPr>
          <a:xfrm>
            <a:off x="6867525" y="3114675"/>
            <a:ext cx="180975" cy="323850"/>
          </a:xfrm>
          <a:prstGeom prst="roundRect">
            <a:avLst>
              <a:gd name="adj" fmla="val 21053"/>
            </a:avLst>
          </a:prstGeom>
          <a:solidFill>
            <a:srgbClr val="1E4654"/>
          </a:solidFill>
          <a:ln w="9525">
            <a:solidFill>
              <a:srgbClr val="718991"/>
            </a:solidFill>
            <a:prstDash val="solid"/>
          </a:ln>
        </p:spPr>
      </p:sp>
      <p:sp>
        <p:nvSpPr>
          <p:cNvPr id="123" name="矩形 122"/>
          <p:cNvSpPr>
            <a:spLocks noGrp="1"/>
          </p:cNvSpPr>
          <p:nvPr/>
        </p:nvSpPr>
        <p:spPr>
          <a:xfrm>
            <a:off x="6867525" y="3200400"/>
            <a:ext cx="1809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75" b="0">
                <a:solidFill>
                  <a:srgbClr val="C3D0D4"/>
                </a:solidFill>
              </a:defRPr>
            </a:pPr>
            <a:r>
              <a:rPr sz="675" b="0">
                <a:solidFill>
                  <a:srgbClr val="C3D0D4"/>
                </a:solidFill>
              </a:rPr>
              <a:t>0</a:t>
            </a:r>
          </a:p>
        </p:txBody>
      </p:sp>
      <p:sp>
        <p:nvSpPr>
          <p:cNvPr id="124" name="圆角矩形 123"/>
          <p:cNvSpPr>
            <a:spLocks noGrp="1"/>
          </p:cNvSpPr>
          <p:nvPr/>
        </p:nvSpPr>
        <p:spPr>
          <a:xfrm>
            <a:off x="7086600" y="3114675"/>
            <a:ext cx="180975" cy="323850"/>
          </a:xfrm>
          <a:prstGeom prst="roundRect">
            <a:avLst>
              <a:gd name="adj" fmla="val 21053"/>
            </a:avLst>
          </a:prstGeom>
          <a:solidFill>
            <a:srgbClr val="1E4654"/>
          </a:solidFill>
          <a:ln w="9525">
            <a:solidFill>
              <a:srgbClr val="718991"/>
            </a:solidFill>
            <a:prstDash val="solid"/>
          </a:ln>
        </p:spPr>
      </p:sp>
      <p:sp>
        <p:nvSpPr>
          <p:cNvPr id="125" name="矩形 124"/>
          <p:cNvSpPr>
            <a:spLocks noGrp="1"/>
          </p:cNvSpPr>
          <p:nvPr/>
        </p:nvSpPr>
        <p:spPr>
          <a:xfrm>
            <a:off x="7086600" y="3200400"/>
            <a:ext cx="1809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75" b="0">
                <a:solidFill>
                  <a:srgbClr val="C3D0D4"/>
                </a:solidFill>
              </a:defRPr>
            </a:pPr>
            <a:r>
              <a:rPr sz="675" b="0">
                <a:solidFill>
                  <a:srgbClr val="C3D0D4"/>
                </a:solidFill>
              </a:rPr>
              <a:t>1</a:t>
            </a:r>
          </a:p>
        </p:txBody>
      </p:sp>
      <p:sp>
        <p:nvSpPr>
          <p:cNvPr id="126" name="圆角矩形 125"/>
          <p:cNvSpPr>
            <a:spLocks noGrp="1"/>
          </p:cNvSpPr>
          <p:nvPr/>
        </p:nvSpPr>
        <p:spPr>
          <a:xfrm>
            <a:off x="7305675" y="3114675"/>
            <a:ext cx="180975" cy="323850"/>
          </a:xfrm>
          <a:prstGeom prst="roundRect">
            <a:avLst>
              <a:gd name="adj" fmla="val 21053"/>
            </a:avLst>
          </a:prstGeom>
          <a:solidFill>
            <a:srgbClr val="1E4654"/>
          </a:solidFill>
          <a:ln w="9525">
            <a:solidFill>
              <a:srgbClr val="718991"/>
            </a:solidFill>
            <a:prstDash val="solid"/>
          </a:ln>
        </p:spPr>
      </p:sp>
      <p:sp>
        <p:nvSpPr>
          <p:cNvPr id="127" name="矩形 126"/>
          <p:cNvSpPr>
            <a:spLocks noGrp="1"/>
          </p:cNvSpPr>
          <p:nvPr/>
        </p:nvSpPr>
        <p:spPr>
          <a:xfrm>
            <a:off x="7305675" y="3200400"/>
            <a:ext cx="1809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75" b="0">
                <a:solidFill>
                  <a:srgbClr val="C3D0D4"/>
                </a:solidFill>
              </a:defRPr>
            </a:pPr>
            <a:r>
              <a:rPr sz="675" b="0">
                <a:solidFill>
                  <a:srgbClr val="C3D0D4"/>
                </a:solidFill>
              </a:rPr>
              <a:t>2</a:t>
            </a:r>
          </a:p>
        </p:txBody>
      </p:sp>
      <p:sp>
        <p:nvSpPr>
          <p:cNvPr id="128" name="圆角矩形 127"/>
          <p:cNvSpPr>
            <a:spLocks noGrp="1"/>
          </p:cNvSpPr>
          <p:nvPr/>
        </p:nvSpPr>
        <p:spPr>
          <a:xfrm>
            <a:off x="7524750" y="3114675"/>
            <a:ext cx="180975" cy="323850"/>
          </a:xfrm>
          <a:prstGeom prst="roundRect">
            <a:avLst>
              <a:gd name="adj" fmla="val 21053"/>
            </a:avLst>
          </a:prstGeom>
          <a:solidFill>
            <a:srgbClr val="1E4654"/>
          </a:solidFill>
          <a:ln w="9525">
            <a:solidFill>
              <a:srgbClr val="718991"/>
            </a:solidFill>
            <a:prstDash val="solid"/>
          </a:ln>
        </p:spPr>
      </p:sp>
      <p:sp>
        <p:nvSpPr>
          <p:cNvPr id="129" name="矩形 128"/>
          <p:cNvSpPr>
            <a:spLocks noGrp="1"/>
          </p:cNvSpPr>
          <p:nvPr/>
        </p:nvSpPr>
        <p:spPr>
          <a:xfrm>
            <a:off x="7524750" y="3200400"/>
            <a:ext cx="1809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75" b="0">
                <a:solidFill>
                  <a:srgbClr val="C3D0D4"/>
                </a:solidFill>
              </a:defRPr>
            </a:pPr>
            <a:r>
              <a:rPr sz="675" b="0">
                <a:solidFill>
                  <a:srgbClr val="C3D0D4"/>
                </a:solidFill>
              </a:rPr>
              <a:t>3</a:t>
            </a:r>
          </a:p>
        </p:txBody>
      </p:sp>
      <p:sp>
        <p:nvSpPr>
          <p:cNvPr id="130" name="圆角矩形 129"/>
          <p:cNvSpPr>
            <a:spLocks noGrp="1"/>
          </p:cNvSpPr>
          <p:nvPr/>
        </p:nvSpPr>
        <p:spPr>
          <a:xfrm>
            <a:off x="7743825" y="3114675"/>
            <a:ext cx="180975" cy="323850"/>
          </a:xfrm>
          <a:prstGeom prst="roundRect">
            <a:avLst>
              <a:gd name="adj" fmla="val 21053"/>
            </a:avLst>
          </a:prstGeom>
          <a:solidFill>
            <a:srgbClr val="1E4654"/>
          </a:solidFill>
          <a:ln w="9525">
            <a:solidFill>
              <a:srgbClr val="718991"/>
            </a:solidFill>
            <a:prstDash val="solid"/>
          </a:ln>
        </p:spPr>
      </p:sp>
      <p:sp>
        <p:nvSpPr>
          <p:cNvPr id="131" name="矩形 130"/>
          <p:cNvSpPr>
            <a:spLocks noGrp="1"/>
          </p:cNvSpPr>
          <p:nvPr/>
        </p:nvSpPr>
        <p:spPr>
          <a:xfrm>
            <a:off x="7743825" y="3200400"/>
            <a:ext cx="1809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75" b="0">
                <a:solidFill>
                  <a:srgbClr val="C3D0D4"/>
                </a:solidFill>
              </a:defRPr>
            </a:pPr>
            <a:r>
              <a:rPr sz="675" b="0">
                <a:solidFill>
                  <a:srgbClr val="C3D0D4"/>
                </a:solidFill>
              </a:rPr>
              <a:t>4</a:t>
            </a:r>
          </a:p>
        </p:txBody>
      </p:sp>
      <p:sp>
        <p:nvSpPr>
          <p:cNvPr id="132" name="圆角矩形 131"/>
          <p:cNvSpPr>
            <a:spLocks noGrp="1"/>
          </p:cNvSpPr>
          <p:nvPr/>
        </p:nvSpPr>
        <p:spPr>
          <a:xfrm>
            <a:off x="7962900" y="3114675"/>
            <a:ext cx="180975" cy="323850"/>
          </a:xfrm>
          <a:prstGeom prst="roundRect">
            <a:avLst>
              <a:gd name="adj" fmla="val 21053"/>
            </a:avLst>
          </a:prstGeom>
          <a:solidFill>
            <a:srgbClr val="1E4654"/>
          </a:solidFill>
          <a:ln w="9525">
            <a:solidFill>
              <a:srgbClr val="718991"/>
            </a:solidFill>
            <a:prstDash val="solid"/>
          </a:ln>
        </p:spPr>
      </p:sp>
      <p:sp>
        <p:nvSpPr>
          <p:cNvPr id="133" name="矩形 132"/>
          <p:cNvSpPr>
            <a:spLocks noGrp="1"/>
          </p:cNvSpPr>
          <p:nvPr/>
        </p:nvSpPr>
        <p:spPr>
          <a:xfrm>
            <a:off x="7962900" y="3200400"/>
            <a:ext cx="1809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75" b="0">
                <a:solidFill>
                  <a:srgbClr val="C3D0D4"/>
                </a:solidFill>
              </a:defRPr>
            </a:pPr>
            <a:r>
              <a:rPr sz="675" b="0">
                <a:solidFill>
                  <a:srgbClr val="C3D0D4"/>
                </a:solidFill>
              </a:rPr>
              <a:t>5</a:t>
            </a:r>
          </a:p>
        </p:txBody>
      </p:sp>
      <p:sp>
        <p:nvSpPr>
          <p:cNvPr id="134" name="圆角矩形 133"/>
          <p:cNvSpPr>
            <a:spLocks noGrp="1"/>
          </p:cNvSpPr>
          <p:nvPr/>
        </p:nvSpPr>
        <p:spPr>
          <a:xfrm>
            <a:off x="8181975" y="3114675"/>
            <a:ext cx="180975" cy="323850"/>
          </a:xfrm>
          <a:prstGeom prst="roundRect">
            <a:avLst>
              <a:gd name="adj" fmla="val 21053"/>
            </a:avLst>
          </a:prstGeom>
          <a:solidFill>
            <a:srgbClr val="1E4654"/>
          </a:solidFill>
          <a:ln w="9525">
            <a:solidFill>
              <a:srgbClr val="718991"/>
            </a:solidFill>
            <a:prstDash val="solid"/>
          </a:ln>
        </p:spPr>
      </p:sp>
      <p:sp>
        <p:nvSpPr>
          <p:cNvPr id="135" name="矩形 134"/>
          <p:cNvSpPr>
            <a:spLocks noGrp="1"/>
          </p:cNvSpPr>
          <p:nvPr/>
        </p:nvSpPr>
        <p:spPr>
          <a:xfrm>
            <a:off x="8181975" y="3200400"/>
            <a:ext cx="1809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75" b="0">
                <a:solidFill>
                  <a:srgbClr val="C3D0D4"/>
                </a:solidFill>
              </a:defRPr>
            </a:pPr>
            <a:r>
              <a:rPr sz="675" b="0">
                <a:solidFill>
                  <a:srgbClr val="C3D0D4"/>
                </a:solidFill>
              </a:rPr>
              <a:t>6</a:t>
            </a:r>
          </a:p>
        </p:txBody>
      </p:sp>
      <p:sp>
        <p:nvSpPr>
          <p:cNvPr id="136" name="矩形 135"/>
          <p:cNvSpPr>
            <a:spLocks noGrp="1"/>
          </p:cNvSpPr>
          <p:nvPr/>
        </p:nvSpPr>
        <p:spPr>
          <a:xfrm>
            <a:off x="6838950" y="3495675"/>
            <a:ext cx="1562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>
                <a:solidFill>
                  <a:srgbClr val="B3C3C8"/>
                </a:solidFill>
              </a:defRPr>
            </a:pPr>
            <a:r>
              <a:rPr sz="750">
                <a:solidFill>
                  <a:srgbClr val="B3C3C8"/>
                </a:solidFill>
              </a:rPr>
              <a:t>7 placement slots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13690" y="3924300"/>
            <a:ext cx="8515985" cy="646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/>
              <a:t>Kubelet call Device Plugin Allocate(), the Device plugin resolve Pod annotation instead of device id to build the MIG device request.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058795" y="2068830"/>
            <a:ext cx="11207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Pod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8" name="肘形连接符 157"/>
          <p:cNvCxnSpPr>
            <a:stCxn id="96" idx="3"/>
            <a:endCxn id="98" idx="1"/>
          </p:cNvCxnSpPr>
          <p:nvPr/>
        </p:nvCxnSpPr>
        <p:spPr>
          <a:xfrm flipH="1">
            <a:off x="2714625" y="1866900"/>
            <a:ext cx="5762625" cy="1371600"/>
          </a:xfrm>
          <a:prstGeom prst="bentConnector3">
            <a:avLst>
              <a:gd name="adj1" fmla="val 50000"/>
            </a:avLst>
          </a:prstGeom>
          <a:ln w="19050">
            <a:solidFill>
              <a:srgbClr val="C8D6DB"/>
            </a:solidFill>
            <a:prstDash val="solid"/>
            <a:tailEnd type="triangle" w="med" len="med"/>
          </a:ln>
        </p:spPr>
      </p:cxnSp>
      <p:sp>
        <p:nvSpPr>
          <p:cNvPr id="89" name="Google Shape;89;p5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>Dynamic MIG — Create </a:t>
            </a:r>
            <a:r>
              <a:rPr lang="en-US"/>
              <a:t>MIG Instance</a:t>
            </a:r>
          </a:p>
        </p:txBody>
      </p:sp>
      <p:sp>
        <p:nvSpPr>
          <p:cNvPr id="90" name="圆角矩形 89"/>
          <p:cNvSpPr>
            <a:spLocks noGrp="1"/>
          </p:cNvSpPr>
          <p:nvPr/>
        </p:nvSpPr>
        <p:spPr>
          <a:xfrm>
            <a:off x="314325" y="1200150"/>
            <a:ext cx="8515350" cy="1247775"/>
          </a:xfrm>
          <a:prstGeom prst="roundRect">
            <a:avLst>
              <a:gd name="adj" fmla="val 7634"/>
            </a:avLst>
          </a:prstGeom>
          <a:solidFill>
            <a:srgbClr val="FAFCFC"/>
          </a:solidFill>
          <a:ln w="9525">
            <a:solidFill>
              <a:srgbClr val="DCE6E8"/>
            </a:solidFill>
            <a:prstDash val="solid"/>
          </a:ln>
        </p:spPr>
      </p:sp>
      <p:sp>
        <p:nvSpPr>
          <p:cNvPr id="91" name="圆角矩形 90"/>
          <p:cNvSpPr>
            <a:spLocks noGrp="1"/>
          </p:cNvSpPr>
          <p:nvPr/>
        </p:nvSpPr>
        <p:spPr>
          <a:xfrm>
            <a:off x="314325" y="2581275"/>
            <a:ext cx="8515350" cy="1343025"/>
          </a:xfrm>
          <a:prstGeom prst="roundRect">
            <a:avLst>
              <a:gd name="adj" fmla="val 7092"/>
            </a:avLst>
          </a:prstGeom>
          <a:solidFill>
            <a:srgbClr val="FAFCFC"/>
          </a:solidFill>
          <a:ln w="9525">
            <a:solidFill>
              <a:srgbClr val="DCE6E8"/>
            </a:solidFill>
            <a:prstDash val="solid"/>
          </a:ln>
        </p:spPr>
      </p:sp>
      <p:sp>
        <p:nvSpPr>
          <p:cNvPr id="92" name="矩形 91"/>
          <p:cNvSpPr>
            <a:spLocks noGrp="1"/>
          </p:cNvSpPr>
          <p:nvPr/>
        </p:nvSpPr>
        <p:spPr>
          <a:xfrm>
            <a:off x="457200" y="1276350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083E4F"/>
                </a:solidFill>
              </a:defRPr>
            </a:pPr>
            <a:r>
              <a:rPr sz="750" b="1">
                <a:solidFill>
                  <a:srgbClr val="083E4F"/>
                </a:solidFill>
              </a:rPr>
              <a:t>KUBERNETES CONTROL PLANE</a:t>
            </a:r>
          </a:p>
        </p:txBody>
      </p:sp>
      <p:sp>
        <p:nvSpPr>
          <p:cNvPr id="93" name="矩形 92"/>
          <p:cNvSpPr>
            <a:spLocks noGrp="1"/>
          </p:cNvSpPr>
          <p:nvPr/>
        </p:nvSpPr>
        <p:spPr>
          <a:xfrm>
            <a:off x="457200" y="264795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083E4F"/>
                </a:solidFill>
              </a:defRPr>
            </a:pPr>
            <a:r>
              <a:rPr sz="750" b="1">
                <a:solidFill>
                  <a:srgbClr val="083E4F"/>
                </a:solidFill>
              </a:rPr>
              <a:t>GPU WORKER NODE</a:t>
            </a:r>
          </a:p>
        </p:txBody>
      </p:sp>
      <p:sp>
        <p:nvSpPr>
          <p:cNvPr id="94" name="anchor-pod"/>
          <p:cNvSpPr>
            <a:spLocks noGrp="1"/>
          </p:cNvSpPr>
          <p:nvPr/>
        </p:nvSpPr>
        <p:spPr>
          <a:xfrm>
            <a:off x="590550" y="1581150"/>
            <a:ext cx="1476375" cy="5715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95" name="anchor-api"/>
          <p:cNvSpPr>
            <a:spLocks noGrp="1"/>
          </p:cNvSpPr>
          <p:nvPr/>
        </p:nvSpPr>
        <p:spPr>
          <a:xfrm>
            <a:off x="3810000" y="1581150"/>
            <a:ext cx="1619250" cy="5715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96" name="anchor-scheduler"/>
          <p:cNvSpPr>
            <a:spLocks noGrp="1"/>
          </p:cNvSpPr>
          <p:nvPr/>
        </p:nvSpPr>
        <p:spPr>
          <a:xfrm>
            <a:off x="6762750" y="1581150"/>
            <a:ext cx="1714500" cy="5715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97" name="anchor-kubelet"/>
          <p:cNvSpPr>
            <a:spLocks noGrp="1"/>
          </p:cNvSpPr>
          <p:nvPr/>
        </p:nvSpPr>
        <p:spPr>
          <a:xfrm>
            <a:off x="590550" y="2952750"/>
            <a:ext cx="1476375" cy="5715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98" name="anchor-plugin"/>
          <p:cNvSpPr>
            <a:spLocks noGrp="1"/>
          </p:cNvSpPr>
          <p:nvPr/>
        </p:nvSpPr>
        <p:spPr>
          <a:xfrm>
            <a:off x="2714625" y="2952750"/>
            <a:ext cx="1666875" cy="5715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99" name="anchor-nvml"/>
          <p:cNvSpPr>
            <a:spLocks noGrp="1"/>
          </p:cNvSpPr>
          <p:nvPr/>
        </p:nvSpPr>
        <p:spPr>
          <a:xfrm>
            <a:off x="4953000" y="2952750"/>
            <a:ext cx="1381125" cy="5715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00" name="anchor-gpu"/>
          <p:cNvSpPr>
            <a:spLocks noGrp="1"/>
          </p:cNvSpPr>
          <p:nvPr/>
        </p:nvSpPr>
        <p:spPr>
          <a:xfrm>
            <a:off x="6762750" y="2733675"/>
            <a:ext cx="1714500" cy="1009650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52" name="直接箭头连接符 151"/>
          <p:cNvCxnSpPr>
            <a:stCxn id="94" idx="3"/>
            <a:endCxn id="95" idx="1"/>
          </p:cNvCxnSpPr>
          <p:nvPr/>
        </p:nvCxnSpPr>
        <p:spPr>
          <a:xfrm>
            <a:off x="2066925" y="1866900"/>
            <a:ext cx="1743075" cy="0"/>
          </a:xfrm>
          <a:prstGeom prst="straightConnector1">
            <a:avLst/>
          </a:prstGeom>
          <a:ln w="19050">
            <a:solidFill>
              <a:srgbClr val="C8D6DB"/>
            </a:solidFill>
            <a:prstDash val="solid"/>
            <a:tailEnd type="triangle" w="med" len="med"/>
          </a:ln>
        </p:spPr>
      </p:cxnSp>
      <p:cxnSp>
        <p:nvCxnSpPr>
          <p:cNvPr id="153" name="直接箭头连接符 152"/>
          <p:cNvCxnSpPr>
            <a:stCxn id="95" idx="3"/>
            <a:endCxn id="96" idx="1"/>
          </p:cNvCxnSpPr>
          <p:nvPr/>
        </p:nvCxnSpPr>
        <p:spPr>
          <a:xfrm>
            <a:off x="5429250" y="1866900"/>
            <a:ext cx="1333500" cy="0"/>
          </a:xfrm>
          <a:prstGeom prst="straightConnector1">
            <a:avLst/>
          </a:prstGeom>
          <a:ln w="19050">
            <a:solidFill>
              <a:srgbClr val="C8D6DB"/>
            </a:solidFill>
            <a:prstDash val="solid"/>
            <a:tailEnd type="triangle" w="med" len="med"/>
          </a:ln>
        </p:spPr>
      </p:cxnSp>
      <p:cxnSp>
        <p:nvCxnSpPr>
          <p:cNvPr id="154" name="直接箭头连接符 153"/>
          <p:cNvCxnSpPr>
            <a:stCxn id="97" idx="3"/>
            <a:endCxn id="98" idx="1"/>
          </p:cNvCxnSpPr>
          <p:nvPr/>
        </p:nvCxnSpPr>
        <p:spPr>
          <a:xfrm>
            <a:off x="2066925" y="3238500"/>
            <a:ext cx="647700" cy="0"/>
          </a:xfrm>
          <a:prstGeom prst="straightConnector1">
            <a:avLst/>
          </a:prstGeom>
          <a:ln w="19050">
            <a:solidFill>
              <a:srgbClr val="C8D6DB"/>
            </a:solidFill>
            <a:prstDash val="solid"/>
            <a:tailEnd type="triangle" w="med" len="med"/>
          </a:ln>
        </p:spPr>
      </p:cxnSp>
      <p:cxnSp>
        <p:nvCxnSpPr>
          <p:cNvPr id="155" name="直接箭头连接符 154"/>
          <p:cNvCxnSpPr>
            <a:stCxn id="98" idx="3"/>
            <a:endCxn id="99" idx="1"/>
          </p:cNvCxnSpPr>
          <p:nvPr/>
        </p:nvCxnSpPr>
        <p:spPr>
          <a:xfrm>
            <a:off x="4381500" y="3238500"/>
            <a:ext cx="571500" cy="0"/>
          </a:xfrm>
          <a:prstGeom prst="straightConnector1">
            <a:avLst/>
          </a:prstGeom>
          <a:ln w="33338">
            <a:solidFill>
              <a:srgbClr val="20A36B"/>
            </a:solidFill>
            <a:prstDash val="solid"/>
            <a:tailEnd type="triangle" w="med" len="med"/>
          </a:ln>
        </p:spPr>
      </p:cxnSp>
      <p:cxnSp>
        <p:nvCxnSpPr>
          <p:cNvPr id="156" name="直接箭头连接符 155"/>
          <p:cNvCxnSpPr>
            <a:stCxn id="99" idx="3"/>
            <a:endCxn id="100" idx="1"/>
          </p:cNvCxnSpPr>
          <p:nvPr/>
        </p:nvCxnSpPr>
        <p:spPr>
          <a:xfrm>
            <a:off x="6334125" y="3238500"/>
            <a:ext cx="428625" cy="0"/>
          </a:xfrm>
          <a:prstGeom prst="straightConnector1">
            <a:avLst/>
          </a:prstGeom>
          <a:ln w="33338">
            <a:solidFill>
              <a:srgbClr val="20A36B"/>
            </a:solidFill>
            <a:prstDash val="solid"/>
            <a:tailEnd type="triangle" w="med" len="med"/>
          </a:ln>
        </p:spPr>
      </p:cxnSp>
      <p:cxnSp>
        <p:nvCxnSpPr>
          <p:cNvPr id="157" name="肘形连接符 156"/>
          <p:cNvCxnSpPr>
            <a:stCxn id="95" idx="3"/>
            <a:endCxn id="97" idx="1"/>
          </p:cNvCxnSpPr>
          <p:nvPr/>
        </p:nvCxnSpPr>
        <p:spPr>
          <a:xfrm flipH="1">
            <a:off x="590550" y="1866900"/>
            <a:ext cx="4838700" cy="1371600"/>
          </a:xfrm>
          <a:prstGeom prst="bentConnector3">
            <a:avLst>
              <a:gd name="adj1" fmla="val 50000"/>
            </a:avLst>
          </a:prstGeom>
          <a:ln w="19050">
            <a:solidFill>
              <a:srgbClr val="C8D6DB"/>
            </a:solidFill>
            <a:prstDash val="solid"/>
            <a:tailEnd type="triangle" w="med" len="med"/>
          </a:ln>
        </p:spPr>
      </p:cxnSp>
      <p:sp>
        <p:nvSpPr>
          <p:cNvPr id="108" name="node-pod"/>
          <p:cNvSpPr>
            <a:spLocks noGrp="1"/>
          </p:cNvSpPr>
          <p:nvPr/>
        </p:nvSpPr>
        <p:spPr>
          <a:xfrm>
            <a:off x="590550" y="1581150"/>
            <a:ext cx="1476375" cy="571500"/>
          </a:xfrm>
          <a:prstGeom prst="roundRect">
            <a:avLst>
              <a:gd name="adj" fmla="val 18333"/>
            </a:avLst>
          </a:prstGeom>
          <a:solidFill>
            <a:srgbClr val="F6F9FA"/>
          </a:solidFill>
          <a:ln w="14288">
            <a:solidFill>
              <a:srgbClr val="AFC1C7"/>
            </a:solidFill>
            <a:prstDash val="solid"/>
          </a:ln>
        </p:spPr>
      </p:sp>
      <p:sp>
        <p:nvSpPr>
          <p:cNvPr id="109" name="矩形 108"/>
          <p:cNvSpPr>
            <a:spLocks noGrp="1"/>
          </p:cNvSpPr>
          <p:nvPr/>
        </p:nvSpPr>
        <p:spPr>
          <a:xfrm>
            <a:off x="704850" y="1743075"/>
            <a:ext cx="12477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02A34"/>
                </a:solidFill>
              </a:defRPr>
            </a:pPr>
            <a:r>
              <a:rPr sz="1275" b="1">
                <a:solidFill>
                  <a:srgbClr val="102A34"/>
                </a:solidFill>
              </a:rPr>
              <a:t>Pod</a:t>
            </a:r>
          </a:p>
        </p:txBody>
      </p:sp>
      <p:sp>
        <p:nvSpPr>
          <p:cNvPr id="110" name="node-api"/>
          <p:cNvSpPr>
            <a:spLocks noGrp="1"/>
          </p:cNvSpPr>
          <p:nvPr/>
        </p:nvSpPr>
        <p:spPr>
          <a:xfrm>
            <a:off x="3810000" y="1581150"/>
            <a:ext cx="1619250" cy="571500"/>
          </a:xfrm>
          <a:prstGeom prst="roundRect">
            <a:avLst>
              <a:gd name="adj" fmla="val 18333"/>
            </a:avLst>
          </a:prstGeom>
          <a:solidFill>
            <a:srgbClr val="F6F9FA"/>
          </a:solidFill>
          <a:ln w="14288">
            <a:solidFill>
              <a:srgbClr val="AFC1C7"/>
            </a:solidFill>
            <a:prstDash val="solid"/>
          </a:ln>
        </p:spPr>
      </p:sp>
      <p:sp>
        <p:nvSpPr>
          <p:cNvPr id="111" name="矩形 110"/>
          <p:cNvSpPr>
            <a:spLocks noGrp="1"/>
          </p:cNvSpPr>
          <p:nvPr/>
        </p:nvSpPr>
        <p:spPr>
          <a:xfrm>
            <a:off x="3924300" y="1743075"/>
            <a:ext cx="1390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02A34"/>
                </a:solidFill>
              </a:defRPr>
            </a:pPr>
            <a:r>
              <a:rPr sz="1200" b="1">
                <a:solidFill>
                  <a:srgbClr val="102A34"/>
                </a:solidFill>
              </a:rPr>
              <a:t>API Server / Pod</a:t>
            </a:r>
          </a:p>
        </p:txBody>
      </p:sp>
      <p:sp>
        <p:nvSpPr>
          <p:cNvPr id="112" name="node-scheduler"/>
          <p:cNvSpPr>
            <a:spLocks noGrp="1"/>
          </p:cNvSpPr>
          <p:nvPr/>
        </p:nvSpPr>
        <p:spPr>
          <a:xfrm>
            <a:off x="6762750" y="1581150"/>
            <a:ext cx="1714500" cy="571500"/>
          </a:xfrm>
          <a:prstGeom prst="roundRect">
            <a:avLst>
              <a:gd name="adj" fmla="val 18333"/>
            </a:avLst>
          </a:prstGeom>
          <a:solidFill>
            <a:srgbClr val="F6F9FA"/>
          </a:solidFill>
          <a:ln w="14288">
            <a:solidFill>
              <a:srgbClr val="AFC1C7"/>
            </a:solidFill>
            <a:prstDash val="solid"/>
          </a:ln>
        </p:spPr>
      </p:sp>
      <p:sp>
        <p:nvSpPr>
          <p:cNvPr id="113" name="矩形 112"/>
          <p:cNvSpPr>
            <a:spLocks noGrp="1"/>
          </p:cNvSpPr>
          <p:nvPr/>
        </p:nvSpPr>
        <p:spPr>
          <a:xfrm>
            <a:off x="6877050" y="1743075"/>
            <a:ext cx="1485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02A34"/>
                </a:solidFill>
              </a:defRPr>
            </a:pPr>
            <a:r>
              <a:rPr sz="1200" b="1">
                <a:solidFill>
                  <a:srgbClr val="102A34"/>
                </a:solidFill>
              </a:rPr>
              <a:t>HAMi Scheduler</a:t>
            </a:r>
          </a:p>
        </p:txBody>
      </p:sp>
      <p:sp>
        <p:nvSpPr>
          <p:cNvPr id="114" name="node-kubelet"/>
          <p:cNvSpPr>
            <a:spLocks noGrp="1"/>
          </p:cNvSpPr>
          <p:nvPr/>
        </p:nvSpPr>
        <p:spPr>
          <a:xfrm>
            <a:off x="590550" y="2952750"/>
            <a:ext cx="1476375" cy="571500"/>
          </a:xfrm>
          <a:prstGeom prst="roundRect">
            <a:avLst>
              <a:gd name="adj" fmla="val 18333"/>
            </a:avLst>
          </a:prstGeom>
          <a:solidFill>
            <a:srgbClr val="F6F9FA"/>
          </a:solidFill>
          <a:ln w="14288">
            <a:solidFill>
              <a:srgbClr val="AFC1C7"/>
            </a:solidFill>
            <a:prstDash val="solid"/>
          </a:ln>
        </p:spPr>
      </p:sp>
      <p:sp>
        <p:nvSpPr>
          <p:cNvPr id="115" name="矩形 114"/>
          <p:cNvSpPr>
            <a:spLocks noGrp="1"/>
          </p:cNvSpPr>
          <p:nvPr/>
        </p:nvSpPr>
        <p:spPr>
          <a:xfrm>
            <a:off x="704850" y="3114675"/>
            <a:ext cx="12477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02A34"/>
                </a:solidFill>
              </a:defRPr>
            </a:pPr>
            <a:r>
              <a:rPr sz="1275" b="1">
                <a:solidFill>
                  <a:srgbClr val="102A34"/>
                </a:solidFill>
              </a:rPr>
              <a:t>Kubelet</a:t>
            </a:r>
          </a:p>
        </p:txBody>
      </p:sp>
      <p:sp>
        <p:nvSpPr>
          <p:cNvPr id="116" name="node-plugin"/>
          <p:cNvSpPr>
            <a:spLocks noGrp="1"/>
          </p:cNvSpPr>
          <p:nvPr/>
        </p:nvSpPr>
        <p:spPr>
          <a:xfrm>
            <a:off x="2714625" y="2952750"/>
            <a:ext cx="1666875" cy="571500"/>
          </a:xfrm>
          <a:prstGeom prst="roundRect">
            <a:avLst>
              <a:gd name="adj" fmla="val 18333"/>
            </a:avLst>
          </a:prstGeom>
          <a:solidFill>
            <a:srgbClr val="E9FBF3"/>
          </a:solidFill>
          <a:ln w="23813">
            <a:solidFill>
              <a:srgbClr val="20A3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7" name="矩形 116"/>
          <p:cNvSpPr>
            <a:spLocks noGrp="1"/>
          </p:cNvSpPr>
          <p:nvPr/>
        </p:nvSpPr>
        <p:spPr>
          <a:xfrm>
            <a:off x="2828925" y="3114675"/>
            <a:ext cx="14382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20A36B"/>
                </a:solidFill>
              </a:defRPr>
            </a:pPr>
            <a:r>
              <a:rPr sz="1275" b="1">
                <a:solidFill>
                  <a:srgbClr val="20A36B"/>
                </a:solidFill>
              </a:rPr>
              <a:t>Device Plugin</a:t>
            </a:r>
          </a:p>
        </p:txBody>
      </p:sp>
      <p:sp>
        <p:nvSpPr>
          <p:cNvPr id="118" name="node-nvml"/>
          <p:cNvSpPr>
            <a:spLocks noGrp="1"/>
          </p:cNvSpPr>
          <p:nvPr/>
        </p:nvSpPr>
        <p:spPr>
          <a:xfrm>
            <a:off x="4953000" y="2952750"/>
            <a:ext cx="1381125" cy="571500"/>
          </a:xfrm>
          <a:prstGeom prst="roundRect">
            <a:avLst>
              <a:gd name="adj" fmla="val 18333"/>
            </a:avLst>
          </a:prstGeom>
          <a:solidFill>
            <a:srgbClr val="E9FBF3"/>
          </a:solidFill>
          <a:ln w="23813">
            <a:solidFill>
              <a:srgbClr val="20A3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9" name="矩形 118"/>
          <p:cNvSpPr>
            <a:spLocks noGrp="1"/>
          </p:cNvSpPr>
          <p:nvPr/>
        </p:nvSpPr>
        <p:spPr>
          <a:xfrm>
            <a:off x="5067300" y="3114675"/>
            <a:ext cx="11525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20A36B"/>
                </a:solidFill>
              </a:defRPr>
            </a:pPr>
            <a:r>
              <a:rPr sz="1275" b="1">
                <a:solidFill>
                  <a:srgbClr val="20A36B"/>
                </a:solidFill>
              </a:rPr>
              <a:t>NVML</a:t>
            </a:r>
          </a:p>
        </p:txBody>
      </p:sp>
      <p:sp>
        <p:nvSpPr>
          <p:cNvPr id="120" name="node-gpu"/>
          <p:cNvSpPr>
            <a:spLocks noGrp="1"/>
          </p:cNvSpPr>
          <p:nvPr/>
        </p:nvSpPr>
        <p:spPr>
          <a:xfrm>
            <a:off x="6762750" y="2733675"/>
            <a:ext cx="1714500" cy="1009650"/>
          </a:xfrm>
          <a:prstGeom prst="roundRect">
            <a:avLst>
              <a:gd name="adj" fmla="val 10377"/>
            </a:avLst>
          </a:prstGeom>
          <a:solidFill>
            <a:srgbClr val="102F3A"/>
          </a:solidFill>
          <a:ln w="23813">
            <a:solidFill>
              <a:srgbClr val="20A3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1" name="矩形 120"/>
          <p:cNvSpPr>
            <a:spLocks noGrp="1"/>
          </p:cNvSpPr>
          <p:nvPr/>
        </p:nvSpPr>
        <p:spPr>
          <a:xfrm>
            <a:off x="6858000" y="2819400"/>
            <a:ext cx="152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NVIDIA GPU · MIG</a:t>
            </a:r>
          </a:p>
        </p:txBody>
      </p:sp>
      <p:sp>
        <p:nvSpPr>
          <p:cNvPr id="122" name="圆角矩形 121"/>
          <p:cNvSpPr>
            <a:spLocks noGrp="1"/>
          </p:cNvSpPr>
          <p:nvPr/>
        </p:nvSpPr>
        <p:spPr>
          <a:xfrm>
            <a:off x="6867525" y="3114675"/>
            <a:ext cx="180975" cy="323850"/>
          </a:xfrm>
          <a:prstGeom prst="roundRect">
            <a:avLst>
              <a:gd name="adj" fmla="val 21053"/>
            </a:avLst>
          </a:prstGeom>
          <a:solidFill>
            <a:srgbClr val="1E4654"/>
          </a:solidFill>
          <a:ln w="9525">
            <a:solidFill>
              <a:srgbClr val="718991"/>
            </a:solidFill>
            <a:prstDash val="solid"/>
          </a:ln>
        </p:spPr>
      </p:sp>
      <p:sp>
        <p:nvSpPr>
          <p:cNvPr id="123" name="矩形 122"/>
          <p:cNvSpPr>
            <a:spLocks noGrp="1"/>
          </p:cNvSpPr>
          <p:nvPr/>
        </p:nvSpPr>
        <p:spPr>
          <a:xfrm>
            <a:off x="6867525" y="3200400"/>
            <a:ext cx="1809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75" b="0">
                <a:solidFill>
                  <a:srgbClr val="C3D0D4"/>
                </a:solidFill>
              </a:defRPr>
            </a:pPr>
            <a:r>
              <a:rPr sz="675" b="0">
                <a:solidFill>
                  <a:srgbClr val="C3D0D4"/>
                </a:solidFill>
              </a:rPr>
              <a:t>0</a:t>
            </a:r>
          </a:p>
        </p:txBody>
      </p:sp>
      <p:sp>
        <p:nvSpPr>
          <p:cNvPr id="124" name="圆角矩形 123"/>
          <p:cNvSpPr>
            <a:spLocks noGrp="1"/>
          </p:cNvSpPr>
          <p:nvPr/>
        </p:nvSpPr>
        <p:spPr>
          <a:xfrm>
            <a:off x="7086600" y="3114675"/>
            <a:ext cx="180975" cy="323850"/>
          </a:xfrm>
          <a:prstGeom prst="roundRect">
            <a:avLst>
              <a:gd name="adj" fmla="val 21053"/>
            </a:avLst>
          </a:prstGeom>
          <a:solidFill>
            <a:srgbClr val="1E4654"/>
          </a:solidFill>
          <a:ln w="9525">
            <a:solidFill>
              <a:srgbClr val="718991"/>
            </a:solidFill>
            <a:prstDash val="solid"/>
          </a:ln>
        </p:spPr>
      </p:sp>
      <p:sp>
        <p:nvSpPr>
          <p:cNvPr id="125" name="矩形 124"/>
          <p:cNvSpPr>
            <a:spLocks noGrp="1"/>
          </p:cNvSpPr>
          <p:nvPr/>
        </p:nvSpPr>
        <p:spPr>
          <a:xfrm>
            <a:off x="7086600" y="3200400"/>
            <a:ext cx="1809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75" b="0">
                <a:solidFill>
                  <a:srgbClr val="C3D0D4"/>
                </a:solidFill>
              </a:defRPr>
            </a:pPr>
            <a:r>
              <a:rPr sz="675" b="0">
                <a:solidFill>
                  <a:srgbClr val="C3D0D4"/>
                </a:solidFill>
              </a:rPr>
              <a:t>1</a:t>
            </a:r>
          </a:p>
        </p:txBody>
      </p:sp>
      <p:sp>
        <p:nvSpPr>
          <p:cNvPr id="126" name="圆角矩形 125"/>
          <p:cNvSpPr>
            <a:spLocks noGrp="1"/>
          </p:cNvSpPr>
          <p:nvPr/>
        </p:nvSpPr>
        <p:spPr>
          <a:xfrm>
            <a:off x="7305675" y="3114675"/>
            <a:ext cx="180975" cy="323850"/>
          </a:xfrm>
          <a:prstGeom prst="roundRect">
            <a:avLst>
              <a:gd name="adj" fmla="val 21053"/>
            </a:avLst>
          </a:prstGeom>
          <a:solidFill>
            <a:srgbClr val="1E4654"/>
          </a:solidFill>
          <a:ln w="9525">
            <a:solidFill>
              <a:srgbClr val="718991"/>
            </a:solidFill>
            <a:prstDash val="solid"/>
          </a:ln>
        </p:spPr>
      </p:sp>
      <p:sp>
        <p:nvSpPr>
          <p:cNvPr id="127" name="矩形 126"/>
          <p:cNvSpPr>
            <a:spLocks noGrp="1"/>
          </p:cNvSpPr>
          <p:nvPr/>
        </p:nvSpPr>
        <p:spPr>
          <a:xfrm>
            <a:off x="7305675" y="3200400"/>
            <a:ext cx="1809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75" b="0">
                <a:solidFill>
                  <a:srgbClr val="C3D0D4"/>
                </a:solidFill>
              </a:defRPr>
            </a:pPr>
            <a:r>
              <a:rPr sz="675" b="0">
                <a:solidFill>
                  <a:srgbClr val="C3D0D4"/>
                </a:solidFill>
              </a:rPr>
              <a:t>2</a:t>
            </a:r>
          </a:p>
        </p:txBody>
      </p:sp>
      <p:sp>
        <p:nvSpPr>
          <p:cNvPr id="128" name="圆角矩形 127"/>
          <p:cNvSpPr>
            <a:spLocks noGrp="1"/>
          </p:cNvSpPr>
          <p:nvPr/>
        </p:nvSpPr>
        <p:spPr>
          <a:xfrm>
            <a:off x="7524750" y="3114675"/>
            <a:ext cx="180975" cy="323850"/>
          </a:xfrm>
          <a:prstGeom prst="roundRect">
            <a:avLst>
              <a:gd name="adj" fmla="val 21053"/>
            </a:avLst>
          </a:prstGeom>
          <a:solidFill>
            <a:srgbClr val="1E4654"/>
          </a:solidFill>
          <a:ln w="9525">
            <a:solidFill>
              <a:srgbClr val="718991"/>
            </a:solidFill>
            <a:prstDash val="solid"/>
          </a:ln>
        </p:spPr>
      </p:sp>
      <p:sp>
        <p:nvSpPr>
          <p:cNvPr id="129" name="矩形 128"/>
          <p:cNvSpPr>
            <a:spLocks noGrp="1"/>
          </p:cNvSpPr>
          <p:nvPr/>
        </p:nvSpPr>
        <p:spPr>
          <a:xfrm>
            <a:off x="7524750" y="3200400"/>
            <a:ext cx="1809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75" b="0">
                <a:solidFill>
                  <a:srgbClr val="C3D0D4"/>
                </a:solidFill>
              </a:defRPr>
            </a:pPr>
            <a:r>
              <a:rPr sz="675" b="0">
                <a:solidFill>
                  <a:srgbClr val="C3D0D4"/>
                </a:solidFill>
              </a:rPr>
              <a:t>3</a:t>
            </a:r>
          </a:p>
        </p:txBody>
      </p:sp>
      <p:sp>
        <p:nvSpPr>
          <p:cNvPr id="130" name="圆角矩形 129"/>
          <p:cNvSpPr>
            <a:spLocks noGrp="1"/>
          </p:cNvSpPr>
          <p:nvPr/>
        </p:nvSpPr>
        <p:spPr>
          <a:xfrm>
            <a:off x="7743825" y="3114675"/>
            <a:ext cx="180975" cy="323850"/>
          </a:xfrm>
          <a:prstGeom prst="roundRect">
            <a:avLst>
              <a:gd name="adj" fmla="val 21053"/>
            </a:avLst>
          </a:prstGeom>
          <a:solidFill>
            <a:srgbClr val="20A36B"/>
          </a:solidFill>
          <a:ln w="9525">
            <a:solidFill>
              <a:srgbClr val="2BE890"/>
            </a:solidFill>
            <a:prstDash val="solid"/>
          </a:ln>
        </p:spPr>
      </p:sp>
      <p:sp>
        <p:nvSpPr>
          <p:cNvPr id="131" name="矩形 130"/>
          <p:cNvSpPr>
            <a:spLocks noGrp="1"/>
          </p:cNvSpPr>
          <p:nvPr/>
        </p:nvSpPr>
        <p:spPr>
          <a:xfrm>
            <a:off x="7743825" y="3200400"/>
            <a:ext cx="1809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2" name="圆角矩形 131"/>
          <p:cNvSpPr>
            <a:spLocks noGrp="1"/>
          </p:cNvSpPr>
          <p:nvPr/>
        </p:nvSpPr>
        <p:spPr>
          <a:xfrm>
            <a:off x="7962900" y="3114675"/>
            <a:ext cx="180975" cy="323850"/>
          </a:xfrm>
          <a:prstGeom prst="roundRect">
            <a:avLst>
              <a:gd name="adj" fmla="val 21053"/>
            </a:avLst>
          </a:prstGeom>
          <a:solidFill>
            <a:srgbClr val="20A36B"/>
          </a:solidFill>
          <a:ln w="9525">
            <a:solidFill>
              <a:srgbClr val="2BE890"/>
            </a:solidFill>
            <a:prstDash val="solid"/>
          </a:ln>
        </p:spPr>
      </p:sp>
      <p:sp>
        <p:nvSpPr>
          <p:cNvPr id="133" name="矩形 132"/>
          <p:cNvSpPr>
            <a:spLocks noGrp="1"/>
          </p:cNvSpPr>
          <p:nvPr/>
        </p:nvSpPr>
        <p:spPr>
          <a:xfrm>
            <a:off x="7962900" y="3200400"/>
            <a:ext cx="1809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34" name="圆角矩形 133"/>
          <p:cNvSpPr>
            <a:spLocks noGrp="1"/>
          </p:cNvSpPr>
          <p:nvPr/>
        </p:nvSpPr>
        <p:spPr>
          <a:xfrm>
            <a:off x="8181975" y="3114675"/>
            <a:ext cx="180975" cy="323850"/>
          </a:xfrm>
          <a:prstGeom prst="roundRect">
            <a:avLst>
              <a:gd name="adj" fmla="val 21053"/>
            </a:avLst>
          </a:prstGeom>
          <a:solidFill>
            <a:srgbClr val="20A36B"/>
          </a:solidFill>
          <a:ln w="9525">
            <a:solidFill>
              <a:srgbClr val="2BE890"/>
            </a:solidFill>
            <a:prstDash val="solid"/>
          </a:ln>
        </p:spPr>
      </p:sp>
      <p:sp>
        <p:nvSpPr>
          <p:cNvPr id="135" name="矩形 134"/>
          <p:cNvSpPr>
            <a:spLocks noGrp="1"/>
          </p:cNvSpPr>
          <p:nvPr/>
        </p:nvSpPr>
        <p:spPr>
          <a:xfrm>
            <a:off x="8181975" y="3200400"/>
            <a:ext cx="1809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36" name="矩形 135"/>
          <p:cNvSpPr>
            <a:spLocks noGrp="1"/>
          </p:cNvSpPr>
          <p:nvPr/>
        </p:nvSpPr>
        <p:spPr>
          <a:xfrm>
            <a:off x="6838950" y="3495675"/>
            <a:ext cx="1562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>
                <a:solidFill>
                  <a:srgbClr val="2BE890"/>
                </a:solidFill>
              </a:defRPr>
            </a:pPr>
            <a:r>
              <a:rPr sz="750">
                <a:solidFill>
                  <a:srgbClr val="2BE890"/>
                </a:solidFill>
              </a:rPr>
              <a:t>GI / CI active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13690" y="3924300"/>
            <a:ext cx="8515985" cy="646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/>
              <a:t>The Device Plugin call NVML to Create MIG instance with determined placement and profile which guarantee valid by the scheduler.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1" name="肘形连接符 160"/>
          <p:cNvCxnSpPr>
            <a:stCxn id="96" idx="3"/>
            <a:endCxn id="98" idx="1"/>
          </p:cNvCxnSpPr>
          <p:nvPr/>
        </p:nvCxnSpPr>
        <p:spPr>
          <a:xfrm flipH="1">
            <a:off x="2714625" y="1866900"/>
            <a:ext cx="5762625" cy="1371600"/>
          </a:xfrm>
          <a:prstGeom prst="bentConnector3">
            <a:avLst>
              <a:gd name="adj1" fmla="val 50000"/>
            </a:avLst>
          </a:prstGeom>
          <a:ln w="19050">
            <a:solidFill>
              <a:srgbClr val="C8D6DB"/>
            </a:solidFill>
            <a:prstDash val="solid"/>
            <a:tailEnd type="triangle" w="med" len="med"/>
          </a:ln>
        </p:spPr>
      </p:cxnSp>
      <p:cxnSp>
        <p:nvCxnSpPr>
          <p:cNvPr id="162" name="直接箭头连接符 161"/>
          <p:cNvCxnSpPr>
            <a:stCxn id="100" idx="3"/>
            <a:endCxn id="98" idx="1"/>
          </p:cNvCxnSpPr>
          <p:nvPr/>
        </p:nvCxnSpPr>
        <p:spPr>
          <a:xfrm flipH="1">
            <a:off x="2714625" y="3238500"/>
            <a:ext cx="5762625" cy="0"/>
          </a:xfrm>
          <a:prstGeom prst="straightConnector1">
            <a:avLst/>
          </a:prstGeom>
          <a:ln w="33338">
            <a:solidFill>
              <a:srgbClr val="20A36B"/>
            </a:solidFill>
            <a:prstDash val="solid"/>
            <a:tailEnd type="triangle" w="med" len="med"/>
          </a:ln>
        </p:spPr>
      </p:cxnSp>
      <p:sp>
        <p:nvSpPr>
          <p:cNvPr id="89" name="Google Shape;89;p5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>Dynamic MIG — Return runtime identity</a:t>
            </a:r>
          </a:p>
        </p:txBody>
      </p:sp>
      <p:sp>
        <p:nvSpPr>
          <p:cNvPr id="90" name="圆角矩形 89"/>
          <p:cNvSpPr>
            <a:spLocks noGrp="1"/>
          </p:cNvSpPr>
          <p:nvPr/>
        </p:nvSpPr>
        <p:spPr>
          <a:xfrm>
            <a:off x="314325" y="1200150"/>
            <a:ext cx="8515350" cy="1247775"/>
          </a:xfrm>
          <a:prstGeom prst="roundRect">
            <a:avLst>
              <a:gd name="adj" fmla="val 7634"/>
            </a:avLst>
          </a:prstGeom>
          <a:solidFill>
            <a:srgbClr val="FAFCFC"/>
          </a:solidFill>
          <a:ln w="9525">
            <a:solidFill>
              <a:srgbClr val="DCE6E8"/>
            </a:solidFill>
            <a:prstDash val="solid"/>
          </a:ln>
        </p:spPr>
      </p:sp>
      <p:sp>
        <p:nvSpPr>
          <p:cNvPr id="91" name="圆角矩形 90"/>
          <p:cNvSpPr>
            <a:spLocks noGrp="1"/>
          </p:cNvSpPr>
          <p:nvPr/>
        </p:nvSpPr>
        <p:spPr>
          <a:xfrm>
            <a:off x="314325" y="2581275"/>
            <a:ext cx="8515350" cy="1343025"/>
          </a:xfrm>
          <a:prstGeom prst="roundRect">
            <a:avLst>
              <a:gd name="adj" fmla="val 7092"/>
            </a:avLst>
          </a:prstGeom>
          <a:solidFill>
            <a:srgbClr val="FAFCFC"/>
          </a:solidFill>
          <a:ln w="9525">
            <a:solidFill>
              <a:srgbClr val="DCE6E8"/>
            </a:solidFill>
            <a:prstDash val="solid"/>
          </a:ln>
        </p:spPr>
      </p:sp>
      <p:sp>
        <p:nvSpPr>
          <p:cNvPr id="92" name="矩形 91"/>
          <p:cNvSpPr>
            <a:spLocks noGrp="1"/>
          </p:cNvSpPr>
          <p:nvPr/>
        </p:nvSpPr>
        <p:spPr>
          <a:xfrm>
            <a:off x="457200" y="1276350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083E4F"/>
                </a:solidFill>
              </a:defRPr>
            </a:pPr>
            <a:r>
              <a:rPr sz="750" b="1">
                <a:solidFill>
                  <a:srgbClr val="083E4F"/>
                </a:solidFill>
              </a:rPr>
              <a:t>KUBERNETES CONTROL PLANE</a:t>
            </a:r>
          </a:p>
        </p:txBody>
      </p:sp>
      <p:sp>
        <p:nvSpPr>
          <p:cNvPr id="94" name="anchor-pod"/>
          <p:cNvSpPr>
            <a:spLocks noGrp="1"/>
          </p:cNvSpPr>
          <p:nvPr/>
        </p:nvSpPr>
        <p:spPr>
          <a:xfrm>
            <a:off x="590550" y="1581150"/>
            <a:ext cx="1476375" cy="5715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95" name="anchor-api"/>
          <p:cNvSpPr>
            <a:spLocks noGrp="1"/>
          </p:cNvSpPr>
          <p:nvPr/>
        </p:nvSpPr>
        <p:spPr>
          <a:xfrm>
            <a:off x="3810000" y="1581150"/>
            <a:ext cx="1619250" cy="5715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96" name="anchor-scheduler"/>
          <p:cNvSpPr>
            <a:spLocks noGrp="1"/>
          </p:cNvSpPr>
          <p:nvPr/>
        </p:nvSpPr>
        <p:spPr>
          <a:xfrm>
            <a:off x="6762750" y="1581150"/>
            <a:ext cx="1714500" cy="5715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97" name="anchor-kubelet"/>
          <p:cNvSpPr>
            <a:spLocks noGrp="1"/>
          </p:cNvSpPr>
          <p:nvPr/>
        </p:nvSpPr>
        <p:spPr>
          <a:xfrm>
            <a:off x="590550" y="2952750"/>
            <a:ext cx="1476375" cy="5715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98" name="anchor-plugin"/>
          <p:cNvSpPr>
            <a:spLocks noGrp="1"/>
          </p:cNvSpPr>
          <p:nvPr/>
        </p:nvSpPr>
        <p:spPr>
          <a:xfrm>
            <a:off x="2714625" y="2952750"/>
            <a:ext cx="1666875" cy="5715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99" name="anchor-nvml"/>
          <p:cNvSpPr>
            <a:spLocks noGrp="1"/>
          </p:cNvSpPr>
          <p:nvPr/>
        </p:nvSpPr>
        <p:spPr>
          <a:xfrm>
            <a:off x="4953000" y="2952750"/>
            <a:ext cx="1381125" cy="5715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00" name="anchor-gpu"/>
          <p:cNvSpPr>
            <a:spLocks noGrp="1"/>
          </p:cNvSpPr>
          <p:nvPr/>
        </p:nvSpPr>
        <p:spPr>
          <a:xfrm>
            <a:off x="6762750" y="2733675"/>
            <a:ext cx="1714500" cy="1009650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55" name="直接箭头连接符 154"/>
          <p:cNvCxnSpPr>
            <a:stCxn id="94" idx="3"/>
            <a:endCxn id="95" idx="1"/>
          </p:cNvCxnSpPr>
          <p:nvPr/>
        </p:nvCxnSpPr>
        <p:spPr>
          <a:xfrm>
            <a:off x="2066925" y="1866900"/>
            <a:ext cx="1743075" cy="0"/>
          </a:xfrm>
          <a:prstGeom prst="straightConnector1">
            <a:avLst/>
          </a:prstGeom>
          <a:ln w="19050">
            <a:solidFill>
              <a:srgbClr val="C8D6DB"/>
            </a:solidFill>
            <a:prstDash val="solid"/>
            <a:tailEnd type="triangle" w="med" len="med"/>
          </a:ln>
        </p:spPr>
      </p:cxnSp>
      <p:cxnSp>
        <p:nvCxnSpPr>
          <p:cNvPr id="156" name="直接箭头连接符 155"/>
          <p:cNvCxnSpPr>
            <a:stCxn id="95" idx="3"/>
            <a:endCxn id="96" idx="1"/>
          </p:cNvCxnSpPr>
          <p:nvPr/>
        </p:nvCxnSpPr>
        <p:spPr>
          <a:xfrm>
            <a:off x="5429250" y="1866900"/>
            <a:ext cx="1333500" cy="0"/>
          </a:xfrm>
          <a:prstGeom prst="straightConnector1">
            <a:avLst/>
          </a:prstGeom>
          <a:ln w="19050">
            <a:solidFill>
              <a:srgbClr val="C8D6DB"/>
            </a:solidFill>
            <a:prstDash val="solid"/>
            <a:tailEnd type="triangle" w="med" len="med"/>
          </a:ln>
        </p:spPr>
      </p:cxnSp>
      <p:cxnSp>
        <p:nvCxnSpPr>
          <p:cNvPr id="164" name="肘形连接符 163"/>
          <p:cNvCxnSpPr>
            <a:stCxn id="97" idx="3"/>
            <a:endCxn id="94" idx="1"/>
          </p:cNvCxnSpPr>
          <p:nvPr/>
        </p:nvCxnSpPr>
        <p:spPr>
          <a:xfrm flipH="1" flipV="1">
            <a:off x="590550" y="1866900"/>
            <a:ext cx="1476375" cy="1371600"/>
          </a:xfrm>
          <a:prstGeom prst="bentConnector3">
            <a:avLst>
              <a:gd name="adj1" fmla="val 50000"/>
            </a:avLst>
          </a:prstGeom>
          <a:ln w="33338">
            <a:solidFill>
              <a:srgbClr val="20A36B"/>
            </a:solidFill>
            <a:prstDash val="solid"/>
            <a:tailEnd type="triangle" w="med" len="med"/>
          </a:ln>
        </p:spPr>
      </p:cxnSp>
      <p:cxnSp>
        <p:nvCxnSpPr>
          <p:cNvPr id="157" name="直接箭头连接符 156"/>
          <p:cNvCxnSpPr>
            <a:stCxn id="98" idx="3"/>
            <a:endCxn id="97" idx="1"/>
          </p:cNvCxnSpPr>
          <p:nvPr/>
        </p:nvCxnSpPr>
        <p:spPr>
          <a:xfrm flipH="1">
            <a:off x="590550" y="3238500"/>
            <a:ext cx="3790950" cy="0"/>
          </a:xfrm>
          <a:prstGeom prst="straightConnector1">
            <a:avLst/>
          </a:prstGeom>
          <a:ln w="33338">
            <a:solidFill>
              <a:srgbClr val="20A36B"/>
            </a:solidFill>
            <a:prstDash val="solid"/>
            <a:tailEnd type="triangle" w="med" len="med"/>
          </a:ln>
        </p:spPr>
      </p:cxnSp>
      <p:cxnSp>
        <p:nvCxnSpPr>
          <p:cNvPr id="158" name="直接箭头连接符 157"/>
          <p:cNvCxnSpPr>
            <a:stCxn id="98" idx="3"/>
            <a:endCxn id="99" idx="1"/>
          </p:cNvCxnSpPr>
          <p:nvPr/>
        </p:nvCxnSpPr>
        <p:spPr>
          <a:xfrm>
            <a:off x="4381500" y="3238500"/>
            <a:ext cx="571500" cy="0"/>
          </a:xfrm>
          <a:prstGeom prst="straightConnector1">
            <a:avLst/>
          </a:prstGeom>
          <a:ln w="19050">
            <a:solidFill>
              <a:srgbClr val="C8D6DB"/>
            </a:solidFill>
            <a:prstDash val="solid"/>
            <a:tailEnd type="triangle" w="med" len="med"/>
          </a:ln>
        </p:spPr>
      </p:cxnSp>
      <p:cxnSp>
        <p:nvCxnSpPr>
          <p:cNvPr id="159" name="直接箭头连接符 158"/>
          <p:cNvCxnSpPr>
            <a:stCxn id="99" idx="3"/>
            <a:endCxn id="100" idx="1"/>
          </p:cNvCxnSpPr>
          <p:nvPr/>
        </p:nvCxnSpPr>
        <p:spPr>
          <a:xfrm>
            <a:off x="6334125" y="3238500"/>
            <a:ext cx="428625" cy="0"/>
          </a:xfrm>
          <a:prstGeom prst="straightConnector1">
            <a:avLst/>
          </a:prstGeom>
          <a:ln w="19050">
            <a:solidFill>
              <a:srgbClr val="C8D6DB"/>
            </a:solidFill>
            <a:prstDash val="solid"/>
            <a:tailEnd type="triangle" w="med" len="med"/>
          </a:ln>
        </p:spPr>
      </p:cxnSp>
      <p:cxnSp>
        <p:nvCxnSpPr>
          <p:cNvPr id="160" name="肘形连接符 159"/>
          <p:cNvCxnSpPr>
            <a:stCxn id="95" idx="3"/>
            <a:endCxn id="97" idx="1"/>
          </p:cNvCxnSpPr>
          <p:nvPr/>
        </p:nvCxnSpPr>
        <p:spPr>
          <a:xfrm flipH="1">
            <a:off x="590550" y="1866900"/>
            <a:ext cx="4838700" cy="1371600"/>
          </a:xfrm>
          <a:prstGeom prst="bentConnector3">
            <a:avLst>
              <a:gd name="adj1" fmla="val 50000"/>
            </a:avLst>
          </a:prstGeom>
          <a:ln w="19050">
            <a:solidFill>
              <a:srgbClr val="C8D6DB"/>
            </a:solidFill>
            <a:prstDash val="solid"/>
            <a:tailEnd type="triangle" w="med" len="med"/>
          </a:ln>
        </p:spPr>
      </p:cxnSp>
      <p:cxnSp>
        <p:nvCxnSpPr>
          <p:cNvPr id="163" name="直接箭头连接符 162"/>
          <p:cNvCxnSpPr>
            <a:stCxn id="98" idx="3"/>
            <a:endCxn id="97" idx="1"/>
          </p:cNvCxnSpPr>
          <p:nvPr/>
        </p:nvCxnSpPr>
        <p:spPr>
          <a:xfrm flipH="1">
            <a:off x="590550" y="3238500"/>
            <a:ext cx="3790950" cy="0"/>
          </a:xfrm>
          <a:prstGeom prst="straightConnector1">
            <a:avLst/>
          </a:prstGeom>
          <a:ln w="33338">
            <a:solidFill>
              <a:srgbClr val="20A36B"/>
            </a:solidFill>
            <a:prstDash val="solid"/>
            <a:tailEnd type="triangle" w="med" len="med"/>
          </a:ln>
        </p:spPr>
      </p:cxnSp>
      <p:sp>
        <p:nvSpPr>
          <p:cNvPr id="111" name="node-pod"/>
          <p:cNvSpPr>
            <a:spLocks noGrp="1"/>
          </p:cNvSpPr>
          <p:nvPr/>
        </p:nvSpPr>
        <p:spPr>
          <a:xfrm>
            <a:off x="590550" y="1581150"/>
            <a:ext cx="1476375" cy="571500"/>
          </a:xfrm>
          <a:prstGeom prst="roundRect">
            <a:avLst>
              <a:gd name="adj" fmla="val 18333"/>
            </a:avLst>
          </a:prstGeom>
          <a:solidFill>
            <a:srgbClr val="E9FBF3"/>
          </a:solidFill>
          <a:ln w="23813">
            <a:solidFill>
              <a:srgbClr val="20A3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2" name="矩形 111"/>
          <p:cNvSpPr>
            <a:spLocks noGrp="1"/>
          </p:cNvSpPr>
          <p:nvPr/>
        </p:nvSpPr>
        <p:spPr>
          <a:xfrm>
            <a:off x="704850" y="1743075"/>
            <a:ext cx="12477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20A36B"/>
                </a:solidFill>
              </a:defRPr>
            </a:pPr>
            <a:r>
              <a:rPr sz="1275" b="1">
                <a:solidFill>
                  <a:srgbClr val="20A36B"/>
                </a:solidFill>
              </a:rPr>
              <a:t>Pod</a:t>
            </a:r>
          </a:p>
        </p:txBody>
      </p:sp>
      <p:sp>
        <p:nvSpPr>
          <p:cNvPr id="113" name="node-api"/>
          <p:cNvSpPr>
            <a:spLocks noGrp="1"/>
          </p:cNvSpPr>
          <p:nvPr/>
        </p:nvSpPr>
        <p:spPr>
          <a:xfrm>
            <a:off x="3810000" y="1581150"/>
            <a:ext cx="1619250" cy="571500"/>
          </a:xfrm>
          <a:prstGeom prst="roundRect">
            <a:avLst>
              <a:gd name="adj" fmla="val 18333"/>
            </a:avLst>
          </a:prstGeom>
          <a:solidFill>
            <a:srgbClr val="F6F9FA"/>
          </a:solidFill>
          <a:ln w="14288">
            <a:solidFill>
              <a:srgbClr val="AFC1C7"/>
            </a:solidFill>
            <a:prstDash val="solid"/>
          </a:ln>
        </p:spPr>
      </p:sp>
      <p:sp>
        <p:nvSpPr>
          <p:cNvPr id="114" name="矩形 113"/>
          <p:cNvSpPr>
            <a:spLocks noGrp="1"/>
          </p:cNvSpPr>
          <p:nvPr/>
        </p:nvSpPr>
        <p:spPr>
          <a:xfrm>
            <a:off x="3924300" y="1743075"/>
            <a:ext cx="1390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02A34"/>
                </a:solidFill>
              </a:defRPr>
            </a:pPr>
            <a:r>
              <a:rPr sz="1200" b="1">
                <a:solidFill>
                  <a:srgbClr val="102A34"/>
                </a:solidFill>
              </a:rPr>
              <a:t>API Server / Pod</a:t>
            </a:r>
          </a:p>
        </p:txBody>
      </p:sp>
      <p:sp>
        <p:nvSpPr>
          <p:cNvPr id="115" name="node-scheduler"/>
          <p:cNvSpPr>
            <a:spLocks noGrp="1"/>
          </p:cNvSpPr>
          <p:nvPr/>
        </p:nvSpPr>
        <p:spPr>
          <a:xfrm>
            <a:off x="6762750" y="1581150"/>
            <a:ext cx="1714500" cy="571500"/>
          </a:xfrm>
          <a:prstGeom prst="roundRect">
            <a:avLst>
              <a:gd name="adj" fmla="val 18333"/>
            </a:avLst>
          </a:prstGeom>
          <a:solidFill>
            <a:srgbClr val="F6F9FA"/>
          </a:solidFill>
          <a:ln w="14288">
            <a:solidFill>
              <a:srgbClr val="AFC1C7"/>
            </a:solidFill>
            <a:prstDash val="solid"/>
          </a:ln>
        </p:spPr>
      </p:sp>
      <p:sp>
        <p:nvSpPr>
          <p:cNvPr id="116" name="矩形 115"/>
          <p:cNvSpPr>
            <a:spLocks noGrp="1"/>
          </p:cNvSpPr>
          <p:nvPr/>
        </p:nvSpPr>
        <p:spPr>
          <a:xfrm>
            <a:off x="6877050" y="1743075"/>
            <a:ext cx="1485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02A34"/>
                </a:solidFill>
              </a:defRPr>
            </a:pPr>
            <a:r>
              <a:rPr sz="1200" b="1">
                <a:solidFill>
                  <a:srgbClr val="102A34"/>
                </a:solidFill>
              </a:rPr>
              <a:t>HAMi Scheduler</a:t>
            </a:r>
          </a:p>
        </p:txBody>
      </p:sp>
      <p:sp>
        <p:nvSpPr>
          <p:cNvPr id="117" name="node-kubelet"/>
          <p:cNvSpPr>
            <a:spLocks noGrp="1"/>
          </p:cNvSpPr>
          <p:nvPr/>
        </p:nvSpPr>
        <p:spPr>
          <a:xfrm>
            <a:off x="590550" y="2952750"/>
            <a:ext cx="1476375" cy="571500"/>
          </a:xfrm>
          <a:prstGeom prst="roundRect">
            <a:avLst>
              <a:gd name="adj" fmla="val 18333"/>
            </a:avLst>
          </a:prstGeom>
          <a:solidFill>
            <a:srgbClr val="E9FBF3"/>
          </a:solidFill>
          <a:ln w="23813">
            <a:solidFill>
              <a:srgbClr val="20A3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8" name="矩形 117"/>
          <p:cNvSpPr>
            <a:spLocks noGrp="1"/>
          </p:cNvSpPr>
          <p:nvPr/>
        </p:nvSpPr>
        <p:spPr>
          <a:xfrm>
            <a:off x="704850" y="3114675"/>
            <a:ext cx="12477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20A36B"/>
                </a:solidFill>
              </a:defRPr>
            </a:pPr>
            <a:r>
              <a:rPr sz="1275" b="1">
                <a:solidFill>
                  <a:srgbClr val="20A36B"/>
                </a:solidFill>
              </a:rPr>
              <a:t>Kubelet</a:t>
            </a:r>
          </a:p>
        </p:txBody>
      </p:sp>
      <p:sp>
        <p:nvSpPr>
          <p:cNvPr id="119" name="node-plugin"/>
          <p:cNvSpPr>
            <a:spLocks noGrp="1"/>
          </p:cNvSpPr>
          <p:nvPr/>
        </p:nvSpPr>
        <p:spPr>
          <a:xfrm>
            <a:off x="2714625" y="2952750"/>
            <a:ext cx="1666875" cy="571500"/>
          </a:xfrm>
          <a:prstGeom prst="roundRect">
            <a:avLst>
              <a:gd name="adj" fmla="val 18333"/>
            </a:avLst>
          </a:prstGeom>
          <a:solidFill>
            <a:srgbClr val="E9FBF3"/>
          </a:solidFill>
          <a:ln w="23813">
            <a:solidFill>
              <a:srgbClr val="20A3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0" name="矩形 119"/>
          <p:cNvSpPr>
            <a:spLocks noGrp="1"/>
          </p:cNvSpPr>
          <p:nvPr/>
        </p:nvSpPr>
        <p:spPr>
          <a:xfrm>
            <a:off x="2828925" y="3114675"/>
            <a:ext cx="14382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20A36B"/>
                </a:solidFill>
              </a:defRPr>
            </a:pPr>
            <a:r>
              <a:rPr sz="1275" b="1">
                <a:solidFill>
                  <a:srgbClr val="20A36B"/>
                </a:solidFill>
              </a:rPr>
              <a:t>Device Plugin</a:t>
            </a:r>
          </a:p>
        </p:txBody>
      </p:sp>
      <p:sp>
        <p:nvSpPr>
          <p:cNvPr id="121" name="node-nvml"/>
          <p:cNvSpPr>
            <a:spLocks noGrp="1"/>
          </p:cNvSpPr>
          <p:nvPr/>
        </p:nvSpPr>
        <p:spPr>
          <a:xfrm>
            <a:off x="4953000" y="2952750"/>
            <a:ext cx="1381125" cy="571500"/>
          </a:xfrm>
          <a:prstGeom prst="roundRect">
            <a:avLst>
              <a:gd name="adj" fmla="val 18333"/>
            </a:avLst>
          </a:prstGeom>
          <a:solidFill>
            <a:srgbClr val="F6F9FA"/>
          </a:solidFill>
          <a:ln w="14288">
            <a:solidFill>
              <a:srgbClr val="AFC1C7"/>
            </a:solidFill>
            <a:prstDash val="solid"/>
          </a:ln>
        </p:spPr>
      </p:sp>
      <p:sp>
        <p:nvSpPr>
          <p:cNvPr id="122" name="矩形 121"/>
          <p:cNvSpPr>
            <a:spLocks noGrp="1"/>
          </p:cNvSpPr>
          <p:nvPr/>
        </p:nvSpPr>
        <p:spPr>
          <a:xfrm>
            <a:off x="5067300" y="3114675"/>
            <a:ext cx="11525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02A34"/>
                </a:solidFill>
              </a:defRPr>
            </a:pPr>
            <a:r>
              <a:rPr sz="1275" b="1">
                <a:solidFill>
                  <a:srgbClr val="102A34"/>
                </a:solidFill>
              </a:rPr>
              <a:t>NVML</a:t>
            </a:r>
          </a:p>
        </p:txBody>
      </p:sp>
      <p:sp>
        <p:nvSpPr>
          <p:cNvPr id="123" name="node-gpu"/>
          <p:cNvSpPr>
            <a:spLocks noGrp="1"/>
          </p:cNvSpPr>
          <p:nvPr/>
        </p:nvSpPr>
        <p:spPr>
          <a:xfrm>
            <a:off x="6762750" y="2733675"/>
            <a:ext cx="1714500" cy="1009650"/>
          </a:xfrm>
          <a:prstGeom prst="roundRect">
            <a:avLst>
              <a:gd name="adj" fmla="val 10377"/>
            </a:avLst>
          </a:prstGeom>
          <a:solidFill>
            <a:srgbClr val="102F3A"/>
          </a:solidFill>
          <a:ln w="23813">
            <a:solidFill>
              <a:srgbClr val="20A3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4" name="矩形 123"/>
          <p:cNvSpPr>
            <a:spLocks noGrp="1"/>
          </p:cNvSpPr>
          <p:nvPr/>
        </p:nvSpPr>
        <p:spPr>
          <a:xfrm>
            <a:off x="6858000" y="2819400"/>
            <a:ext cx="152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NVIDIA GPU · MIG</a:t>
            </a:r>
          </a:p>
        </p:txBody>
      </p:sp>
      <p:sp>
        <p:nvSpPr>
          <p:cNvPr id="125" name="圆角矩形 124"/>
          <p:cNvSpPr>
            <a:spLocks noGrp="1"/>
          </p:cNvSpPr>
          <p:nvPr/>
        </p:nvSpPr>
        <p:spPr>
          <a:xfrm>
            <a:off x="6867525" y="3114675"/>
            <a:ext cx="180975" cy="323850"/>
          </a:xfrm>
          <a:prstGeom prst="roundRect">
            <a:avLst>
              <a:gd name="adj" fmla="val 21053"/>
            </a:avLst>
          </a:prstGeom>
          <a:solidFill>
            <a:srgbClr val="1E4654"/>
          </a:solidFill>
          <a:ln w="9525">
            <a:solidFill>
              <a:srgbClr val="718991"/>
            </a:solidFill>
            <a:prstDash val="solid"/>
          </a:ln>
        </p:spPr>
      </p:sp>
      <p:sp>
        <p:nvSpPr>
          <p:cNvPr id="126" name="矩形 125"/>
          <p:cNvSpPr>
            <a:spLocks noGrp="1"/>
          </p:cNvSpPr>
          <p:nvPr/>
        </p:nvSpPr>
        <p:spPr>
          <a:xfrm>
            <a:off x="6867525" y="3200400"/>
            <a:ext cx="1809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75" b="0">
                <a:solidFill>
                  <a:srgbClr val="C3D0D4"/>
                </a:solidFill>
              </a:defRPr>
            </a:pPr>
            <a:r>
              <a:rPr sz="675" b="0">
                <a:solidFill>
                  <a:srgbClr val="C3D0D4"/>
                </a:solidFill>
              </a:rPr>
              <a:t>0</a:t>
            </a:r>
          </a:p>
        </p:txBody>
      </p:sp>
      <p:sp>
        <p:nvSpPr>
          <p:cNvPr id="127" name="圆角矩形 126"/>
          <p:cNvSpPr>
            <a:spLocks noGrp="1"/>
          </p:cNvSpPr>
          <p:nvPr/>
        </p:nvSpPr>
        <p:spPr>
          <a:xfrm>
            <a:off x="7086600" y="3114675"/>
            <a:ext cx="180975" cy="323850"/>
          </a:xfrm>
          <a:prstGeom prst="roundRect">
            <a:avLst>
              <a:gd name="adj" fmla="val 21053"/>
            </a:avLst>
          </a:prstGeom>
          <a:solidFill>
            <a:srgbClr val="1E4654"/>
          </a:solidFill>
          <a:ln w="9525">
            <a:solidFill>
              <a:srgbClr val="718991"/>
            </a:solidFill>
            <a:prstDash val="solid"/>
          </a:ln>
        </p:spPr>
      </p:sp>
      <p:sp>
        <p:nvSpPr>
          <p:cNvPr id="128" name="矩形 127"/>
          <p:cNvSpPr>
            <a:spLocks noGrp="1"/>
          </p:cNvSpPr>
          <p:nvPr/>
        </p:nvSpPr>
        <p:spPr>
          <a:xfrm>
            <a:off x="7086600" y="3200400"/>
            <a:ext cx="1809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75" b="0">
                <a:solidFill>
                  <a:srgbClr val="C3D0D4"/>
                </a:solidFill>
              </a:defRPr>
            </a:pPr>
            <a:r>
              <a:rPr sz="675" b="0">
                <a:solidFill>
                  <a:srgbClr val="C3D0D4"/>
                </a:solidFill>
              </a:rPr>
              <a:t>1</a:t>
            </a:r>
          </a:p>
        </p:txBody>
      </p:sp>
      <p:sp>
        <p:nvSpPr>
          <p:cNvPr id="129" name="圆角矩形 128"/>
          <p:cNvSpPr>
            <a:spLocks noGrp="1"/>
          </p:cNvSpPr>
          <p:nvPr/>
        </p:nvSpPr>
        <p:spPr>
          <a:xfrm>
            <a:off x="7305675" y="3114675"/>
            <a:ext cx="180975" cy="323850"/>
          </a:xfrm>
          <a:prstGeom prst="roundRect">
            <a:avLst>
              <a:gd name="adj" fmla="val 21053"/>
            </a:avLst>
          </a:prstGeom>
          <a:solidFill>
            <a:srgbClr val="1E4654"/>
          </a:solidFill>
          <a:ln w="9525">
            <a:solidFill>
              <a:srgbClr val="718991"/>
            </a:solidFill>
            <a:prstDash val="solid"/>
          </a:ln>
        </p:spPr>
      </p:sp>
      <p:sp>
        <p:nvSpPr>
          <p:cNvPr id="130" name="矩形 129"/>
          <p:cNvSpPr>
            <a:spLocks noGrp="1"/>
          </p:cNvSpPr>
          <p:nvPr/>
        </p:nvSpPr>
        <p:spPr>
          <a:xfrm>
            <a:off x="7305675" y="3200400"/>
            <a:ext cx="1809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75" b="0">
                <a:solidFill>
                  <a:srgbClr val="C3D0D4"/>
                </a:solidFill>
              </a:defRPr>
            </a:pPr>
            <a:r>
              <a:rPr sz="675" b="0">
                <a:solidFill>
                  <a:srgbClr val="C3D0D4"/>
                </a:solidFill>
              </a:rPr>
              <a:t>2</a:t>
            </a:r>
          </a:p>
        </p:txBody>
      </p:sp>
      <p:sp>
        <p:nvSpPr>
          <p:cNvPr id="131" name="圆角矩形 130"/>
          <p:cNvSpPr>
            <a:spLocks noGrp="1"/>
          </p:cNvSpPr>
          <p:nvPr/>
        </p:nvSpPr>
        <p:spPr>
          <a:xfrm>
            <a:off x="7524750" y="3114675"/>
            <a:ext cx="180975" cy="323850"/>
          </a:xfrm>
          <a:prstGeom prst="roundRect">
            <a:avLst>
              <a:gd name="adj" fmla="val 21053"/>
            </a:avLst>
          </a:prstGeom>
          <a:solidFill>
            <a:srgbClr val="1E4654"/>
          </a:solidFill>
          <a:ln w="9525">
            <a:solidFill>
              <a:srgbClr val="718991"/>
            </a:solidFill>
            <a:prstDash val="solid"/>
          </a:ln>
        </p:spPr>
      </p:sp>
      <p:sp>
        <p:nvSpPr>
          <p:cNvPr id="132" name="矩形 131"/>
          <p:cNvSpPr>
            <a:spLocks noGrp="1"/>
          </p:cNvSpPr>
          <p:nvPr/>
        </p:nvSpPr>
        <p:spPr>
          <a:xfrm>
            <a:off x="7524750" y="3200400"/>
            <a:ext cx="1809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75" b="0">
                <a:solidFill>
                  <a:srgbClr val="C3D0D4"/>
                </a:solidFill>
              </a:defRPr>
            </a:pPr>
            <a:r>
              <a:rPr sz="675" b="0">
                <a:solidFill>
                  <a:srgbClr val="C3D0D4"/>
                </a:solidFill>
              </a:rPr>
              <a:t>3</a:t>
            </a:r>
          </a:p>
        </p:txBody>
      </p:sp>
      <p:sp>
        <p:nvSpPr>
          <p:cNvPr id="133" name="圆角矩形 132"/>
          <p:cNvSpPr>
            <a:spLocks noGrp="1"/>
          </p:cNvSpPr>
          <p:nvPr/>
        </p:nvSpPr>
        <p:spPr>
          <a:xfrm>
            <a:off x="7743825" y="3114675"/>
            <a:ext cx="180975" cy="323850"/>
          </a:xfrm>
          <a:prstGeom prst="roundRect">
            <a:avLst>
              <a:gd name="adj" fmla="val 21053"/>
            </a:avLst>
          </a:prstGeom>
          <a:solidFill>
            <a:srgbClr val="20A36B"/>
          </a:solidFill>
          <a:ln w="9525">
            <a:solidFill>
              <a:srgbClr val="2BE890"/>
            </a:solidFill>
            <a:prstDash val="solid"/>
          </a:ln>
        </p:spPr>
      </p:sp>
      <p:sp>
        <p:nvSpPr>
          <p:cNvPr id="134" name="矩形 133"/>
          <p:cNvSpPr>
            <a:spLocks noGrp="1"/>
          </p:cNvSpPr>
          <p:nvPr/>
        </p:nvSpPr>
        <p:spPr>
          <a:xfrm>
            <a:off x="7743825" y="3200400"/>
            <a:ext cx="1809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5" name="圆角矩形 134"/>
          <p:cNvSpPr>
            <a:spLocks noGrp="1"/>
          </p:cNvSpPr>
          <p:nvPr/>
        </p:nvSpPr>
        <p:spPr>
          <a:xfrm>
            <a:off x="7962900" y="3114675"/>
            <a:ext cx="180975" cy="323850"/>
          </a:xfrm>
          <a:prstGeom prst="roundRect">
            <a:avLst>
              <a:gd name="adj" fmla="val 21053"/>
            </a:avLst>
          </a:prstGeom>
          <a:solidFill>
            <a:srgbClr val="20A36B"/>
          </a:solidFill>
          <a:ln w="9525">
            <a:solidFill>
              <a:srgbClr val="2BE890"/>
            </a:solidFill>
            <a:prstDash val="solid"/>
          </a:ln>
        </p:spPr>
      </p:sp>
      <p:sp>
        <p:nvSpPr>
          <p:cNvPr id="136" name="矩形 135"/>
          <p:cNvSpPr>
            <a:spLocks noGrp="1"/>
          </p:cNvSpPr>
          <p:nvPr/>
        </p:nvSpPr>
        <p:spPr>
          <a:xfrm>
            <a:off x="7962900" y="3200400"/>
            <a:ext cx="1809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37" name="圆角矩形 136"/>
          <p:cNvSpPr>
            <a:spLocks noGrp="1"/>
          </p:cNvSpPr>
          <p:nvPr/>
        </p:nvSpPr>
        <p:spPr>
          <a:xfrm>
            <a:off x="8181975" y="3114675"/>
            <a:ext cx="180975" cy="323850"/>
          </a:xfrm>
          <a:prstGeom prst="roundRect">
            <a:avLst>
              <a:gd name="adj" fmla="val 21053"/>
            </a:avLst>
          </a:prstGeom>
          <a:solidFill>
            <a:srgbClr val="20A36B"/>
          </a:solidFill>
          <a:ln w="9525">
            <a:solidFill>
              <a:srgbClr val="2BE890"/>
            </a:solidFill>
            <a:prstDash val="solid"/>
          </a:ln>
        </p:spPr>
      </p:sp>
      <p:sp>
        <p:nvSpPr>
          <p:cNvPr id="138" name="矩形 137"/>
          <p:cNvSpPr>
            <a:spLocks noGrp="1"/>
          </p:cNvSpPr>
          <p:nvPr/>
        </p:nvSpPr>
        <p:spPr>
          <a:xfrm>
            <a:off x="8181975" y="3200400"/>
            <a:ext cx="1809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39" name="矩形 138"/>
          <p:cNvSpPr>
            <a:spLocks noGrp="1"/>
          </p:cNvSpPr>
          <p:nvPr/>
        </p:nvSpPr>
        <p:spPr>
          <a:xfrm>
            <a:off x="6838950" y="3495675"/>
            <a:ext cx="1562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>
                <a:solidFill>
                  <a:srgbClr val="2BE890"/>
                </a:solidFill>
              </a:defRPr>
            </a:pPr>
            <a:r>
              <a:rPr sz="750">
                <a:solidFill>
                  <a:srgbClr val="2BE890"/>
                </a:solidFill>
              </a:rPr>
              <a:t>MIG UUID ready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13690" y="3924300"/>
            <a:ext cx="8515985" cy="646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/>
              <a:t>After the driver return the MIG device UUID, we can finally mount the exact MIG device to the Pod using the UUID.</a:t>
            </a:r>
          </a:p>
        </p:txBody>
      </p:sp>
      <p:sp>
        <p:nvSpPr>
          <p:cNvPr id="93" name="矩形 92"/>
          <p:cNvSpPr>
            <a:spLocks noGrp="1"/>
          </p:cNvSpPr>
          <p:nvPr/>
        </p:nvSpPr>
        <p:spPr>
          <a:xfrm>
            <a:off x="457200" y="264795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083E4F"/>
                </a:solidFill>
              </a:defRPr>
            </a:pPr>
            <a:r>
              <a:rPr sz="750" b="1">
                <a:solidFill>
                  <a:srgbClr val="083E4F"/>
                </a:solidFill>
              </a:rPr>
              <a:t>GPU WORKER NODE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dynamic-mig-demo-paced-v4">
            <a:hlinkClick r:id="" action="ppaction://media"/>
          </p:cNvPr>
          <p:cNvPicPr/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6949739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Future enhancements</a:t>
            </a:r>
          </a:p>
        </p:txBody>
      </p:sp>
      <p:pic>
        <p:nvPicPr>
          <p:cNvPr id="4" name="图片 3" descr="b200-profiles-v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960" y="1066800"/>
            <a:ext cx="8006080" cy="350774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68960" y="4593590"/>
            <a:ext cx="80054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Well design scheduling to maximize utilization for NVIDIA A, H and B series. </a:t>
            </a: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3583305" y="1102995"/>
            <a:ext cx="0" cy="344995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6949739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altLang="zh-CN"/>
              <a:t>On the shoulders of giants</a:t>
            </a:r>
          </a:p>
        </p:txBody>
      </p:sp>
      <p:sp>
        <p:nvSpPr>
          <p:cNvPr id="96" name="Google Shape;96;p6"/>
          <p:cNvSpPr txBox="1">
            <a:spLocks noGrp="1"/>
          </p:cNvSpPr>
          <p:nvPr>
            <p:ph type="body" idx="1"/>
          </p:nvPr>
        </p:nvSpPr>
        <p:spPr>
          <a:xfrm>
            <a:off x="311785" y="1152525"/>
            <a:ext cx="8520430" cy="3785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000"/>
              <a:t>Special thanks for </a:t>
            </a:r>
            <a:r>
              <a:rPr lang="en-US" sz="2000">
                <a:hlinkClick r:id="rId3" action="ppaction://hlinkfile"/>
              </a:rPr>
              <a:t>dra-driver-nvidia-gpu</a:t>
            </a:r>
            <a:r>
              <a:rPr lang="en-US" sz="2000"/>
              <a:t> for:</a:t>
            </a:r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altLang="zh-CN" sz="2000"/>
              <a:t> Prove feasibility of dynamic MIG management</a:t>
            </a:r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altLang="zh-CN" sz="2000"/>
              <a:t> Providing reference implementation of CDI</a:t>
            </a:r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altLang="zh-CN" sz="2000"/>
              <a:t> Pushing adaptation of ecosystem like dcgm-exporter </a:t>
            </a:r>
          </a:p>
          <a:p>
            <a:pPr marL="2286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n-US" altLang="zh-CN" sz="2000"/>
          </a:p>
          <a:p>
            <a:pPr marL="2286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altLang="zh-CN" sz="2000"/>
              <a:t>But it still have problems:</a:t>
            </a:r>
          </a:p>
          <a:p>
            <a:pPr lvl="0" indent="-228600" algn="l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altLang="zh-CN" sz="2000"/>
              <a:t> Unable to customize scheduling strategy</a:t>
            </a:r>
          </a:p>
          <a:p>
            <a:pPr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altLang="zh-CN" sz="2000"/>
              <a:t> DRA requires high kubernetes version</a:t>
            </a:r>
          </a:p>
          <a:p>
            <a:pPr marL="2286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n-US" altLang="zh-CN" sz="2000"/>
          </a:p>
          <a:p>
            <a:pPr marL="2286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altLang="zh-CN" sz="2000"/>
              <a:t>DRA is the future, but we must bring everyone along. </a:t>
            </a:r>
          </a:p>
          <a:p>
            <a:pPr marL="2286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n-US" altLang="zh-CN"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"/>
          <p:cNvSpPr>
            <a:spLocks noGrp="1"/>
          </p:cNvSpPr>
          <p:nvPr>
            <p:ph type="title"/>
          </p:nvPr>
        </p:nvSpPr>
        <p:spPr>
          <a:xfrm>
            <a:off x="535220" y="1940538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r>
              <a:rPr lang="en-US">
                <a:solidFill>
                  <a:schemeClr val="lt1"/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SNA24">
  <a:themeElements>
    <a:clrScheme name="Custom 2">
      <a:dk1>
        <a:srgbClr val="000000"/>
      </a:dk1>
      <a:lt1>
        <a:srgbClr val="FFFFFF"/>
      </a:lt1>
      <a:dk2>
        <a:srgbClr val="000000"/>
      </a:dk2>
      <a:lt2>
        <a:srgbClr val="EEEEEE"/>
      </a:lt2>
      <a:accent1>
        <a:srgbClr val="083E4F"/>
      </a:accent1>
      <a:accent2>
        <a:srgbClr val="262267"/>
      </a:accent2>
      <a:accent3>
        <a:srgbClr val="305BA9"/>
      </a:accent3>
      <a:accent4>
        <a:srgbClr val="B0DDFF"/>
      </a:accent4>
      <a:accent5>
        <a:srgbClr val="FFC217"/>
      </a:accent5>
      <a:accent6>
        <a:srgbClr val="FFA35F"/>
      </a:accent6>
      <a:hlink>
        <a:srgbClr val="FF7F15"/>
      </a:hlink>
      <a:folHlink>
        <a:srgbClr val="FFA35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ustom 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SSNA24">
  <a:themeElements>
    <a:clrScheme name="Custom 2">
      <a:dk1>
        <a:srgbClr val="000000"/>
      </a:dk1>
      <a:lt1>
        <a:srgbClr val="FFFFFF"/>
      </a:lt1>
      <a:dk2>
        <a:srgbClr val="000000"/>
      </a:dk2>
      <a:lt2>
        <a:srgbClr val="EEEEEE"/>
      </a:lt2>
      <a:accent1>
        <a:srgbClr val="083E4F"/>
      </a:accent1>
      <a:accent2>
        <a:srgbClr val="262267"/>
      </a:accent2>
      <a:accent3>
        <a:srgbClr val="305BA9"/>
      </a:accent3>
      <a:accent4>
        <a:srgbClr val="B0DDFF"/>
      </a:accent4>
      <a:accent5>
        <a:srgbClr val="FFC217"/>
      </a:accent5>
      <a:accent6>
        <a:srgbClr val="FFA35F"/>
      </a:accent6>
      <a:hlink>
        <a:srgbClr val="FF7F15"/>
      </a:hlink>
      <a:folHlink>
        <a:srgbClr val="FFA35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ustom 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14300" dist="38100" dir="5400000">
              <a:srgbClr val="20A36B">
                <a:alpha val="1451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419</Words>
  <Application>Microsoft Macintosh PowerPoint</Application>
  <PresentationFormat>On-screen Show (16:9)</PresentationFormat>
  <Paragraphs>116</Paragraphs>
  <Slides>11</Slides>
  <Notes>10</Notes>
  <HiddenSlides>0</HiddenSlides>
  <MMClips>1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OSSNA24</vt:lpstr>
      <vt:lpstr>Dynamic MIG with HAMi From Static Slices to Elastic GPUs </vt:lpstr>
      <vt:lpstr>Classic MIG manager: MIG partd</vt:lpstr>
      <vt:lpstr>Dynamic MIG — Publish capacity</vt:lpstr>
      <vt:lpstr>Dynamic MIG — Reserve allocation</vt:lpstr>
      <vt:lpstr>Dynamic MIG — Allocate on the node</vt:lpstr>
      <vt:lpstr>Dynamic MIG — Create MIG Instance</vt:lpstr>
      <vt:lpstr>Dynamic MIG — Return runtime identity</vt:lpstr>
      <vt:lpstr>PowerPoint Presentation</vt:lpstr>
      <vt:lpstr>Future enhancements</vt:lpstr>
      <vt:lpstr>On the shoulders of giants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Dynamic MIG: Scheduling topology</dc:title>
  <dc:creator>Walnut Exporter</dc:creator>
  <cp:lastModifiedBy>Jimmy Song</cp:lastModifiedBy>
  <cp:revision>6</cp:revision>
  <dcterms:created xsi:type="dcterms:W3CDTF">2026-08-31T08:44:53Z</dcterms:created>
  <dcterms:modified xsi:type="dcterms:W3CDTF">2026-09-10T02:01:05Z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2052-12.1.26046.26046</vt:lpwstr>
  </property>
  <property fmtid="{D5CDD505-2E9C-101B-9397-08002B2CF9AE}" pid="3" name="ICV">
    <vt:lpwstr>233267C56E6BFA0D053F956A2D911CEB_43</vt:lpwstr>
  </property>
</Properties>
</file>