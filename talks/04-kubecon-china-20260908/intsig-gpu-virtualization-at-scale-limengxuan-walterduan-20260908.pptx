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58" r:id="rId2"/>
  </p:sldMasterIdLst>
  <p:notesMasterIdLst>
    <p:notesMasterId r:id="rId21"/>
  </p:notesMasterIdLst>
  <p:handoutMasterIdLst>
    <p:handoutMasterId r:id="rId22"/>
  </p:handoutMasterIdLst>
  <p:sldIdLst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9" r:id="rId11"/>
    <p:sldId id="286" r:id="rId12"/>
    <p:sldId id="287" r:id="rId13"/>
    <p:sldId id="288" r:id="rId14"/>
    <p:sldId id="293" r:id="rId15"/>
    <p:sldId id="294" r:id="rId16"/>
    <p:sldId id="292" r:id="rId17"/>
    <p:sldId id="295" r:id="rId18"/>
    <p:sldId id="275" r:id="rId19"/>
    <p:sldId id="265" r:id="rId2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Open Sans bold" panose="02010600030101010101" charset="0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B900"/>
    <a:srgbClr val="6CD1F0"/>
    <a:srgbClr val="5E9200"/>
    <a:srgbClr val="F0FFD5"/>
    <a:srgbClr val="F5FBEF"/>
    <a:srgbClr val="E4F3D3"/>
    <a:srgbClr val="CEFDB9"/>
    <a:srgbClr val="E9FFD5"/>
    <a:srgbClr val="52C000"/>
    <a:srgbClr val="D1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0" autoAdjust="0"/>
    <p:restoredTop sz="94726"/>
  </p:normalViewPr>
  <p:slideViewPr>
    <p:cSldViewPr snapToGrid="0" showGuides="1">
      <p:cViewPr>
        <p:scale>
          <a:sx n="100" d="100"/>
          <a:sy n="100" d="100"/>
        </p:scale>
        <p:origin x="1278" y="447"/>
      </p:cViewPr>
      <p:guideLst>
        <p:guide orient="horz" pos="16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819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E88840-C0C7-4FB6-A9D6-491839B01EA3}" type="doc">
      <dgm:prSet loTypeId="urn:microsoft.com/office/officeart/2005/8/layout/funnel1" loCatId="relationship" qsTypeId="urn:microsoft.com/office/officeart/2005/8/quickstyle/simple1#1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6FBCA26A-C88E-43E1-A9C2-841D65071233}">
      <dgm:prSet phldrT="[文本]"/>
      <dgm:spPr/>
      <dgm:t>
        <a:bodyPr/>
        <a:lstStyle/>
        <a:p>
          <a:r>
            <a:rPr lang="en-US" altLang="zh-CN" dirty="0"/>
            <a:t>2G</a:t>
          </a:r>
          <a:endParaRPr lang="zh-CN" altLang="en-US" dirty="0"/>
        </a:p>
      </dgm:t>
    </dgm:pt>
    <dgm:pt modelId="{60FE2C0B-0EC0-44B4-86DD-68C4741A37E2}" type="parTrans" cxnId="{6FF98807-A440-44E0-B494-2284775548CE}">
      <dgm:prSet/>
      <dgm:spPr/>
      <dgm:t>
        <a:bodyPr/>
        <a:lstStyle/>
        <a:p>
          <a:endParaRPr lang="zh-CN" altLang="en-US"/>
        </a:p>
      </dgm:t>
    </dgm:pt>
    <dgm:pt modelId="{9E211FD6-CE7C-41BB-B176-D038838F0A5E}" type="sibTrans" cxnId="{6FF98807-A440-44E0-B494-2284775548CE}">
      <dgm:prSet/>
      <dgm:spPr/>
      <dgm:t>
        <a:bodyPr/>
        <a:lstStyle/>
        <a:p>
          <a:endParaRPr lang="zh-CN" altLang="en-US"/>
        </a:p>
      </dgm:t>
    </dgm:pt>
    <dgm:pt modelId="{20133461-8586-498A-B753-7DD1A59F5233}">
      <dgm:prSet phldrT="[文本]"/>
      <dgm:spPr/>
      <dgm:t>
        <a:bodyPr/>
        <a:lstStyle/>
        <a:p>
          <a:r>
            <a:rPr lang="en-US" altLang="zh-CN" dirty="0"/>
            <a:t>2G</a:t>
          </a:r>
          <a:endParaRPr lang="zh-CN" altLang="en-US" dirty="0"/>
        </a:p>
      </dgm:t>
    </dgm:pt>
    <dgm:pt modelId="{10167578-F562-4739-A8B6-F92F46FD64F5}" type="parTrans" cxnId="{3B4ACABF-9F48-43EF-A573-EDD6BC78BBC2}">
      <dgm:prSet/>
      <dgm:spPr/>
      <dgm:t>
        <a:bodyPr/>
        <a:lstStyle/>
        <a:p>
          <a:endParaRPr lang="zh-CN" altLang="en-US"/>
        </a:p>
      </dgm:t>
    </dgm:pt>
    <dgm:pt modelId="{CB80F968-5E9C-45A2-970C-35898E563F31}" type="sibTrans" cxnId="{3B4ACABF-9F48-43EF-A573-EDD6BC78BBC2}">
      <dgm:prSet/>
      <dgm:spPr/>
      <dgm:t>
        <a:bodyPr/>
        <a:lstStyle/>
        <a:p>
          <a:endParaRPr lang="zh-CN" altLang="en-US"/>
        </a:p>
      </dgm:t>
    </dgm:pt>
    <dgm:pt modelId="{7F5FDC52-095A-43D9-A10D-91B1F0981876}">
      <dgm:prSet phldrT="[文本]"/>
      <dgm:spPr/>
      <dgm:t>
        <a:bodyPr/>
        <a:lstStyle/>
        <a:p>
          <a:r>
            <a:rPr lang="en-US" altLang="zh-CN" dirty="0"/>
            <a:t>2G</a:t>
          </a:r>
          <a:endParaRPr lang="zh-CN" altLang="en-US" dirty="0"/>
        </a:p>
      </dgm:t>
    </dgm:pt>
    <dgm:pt modelId="{B065CF10-743E-4F90-8DF5-EC26A7636608}" type="parTrans" cxnId="{537D757B-AADD-41CC-BC71-CAE607AD95F7}">
      <dgm:prSet/>
      <dgm:spPr/>
      <dgm:t>
        <a:bodyPr/>
        <a:lstStyle/>
        <a:p>
          <a:endParaRPr lang="zh-CN" altLang="en-US"/>
        </a:p>
      </dgm:t>
    </dgm:pt>
    <dgm:pt modelId="{9866EF05-74CA-415F-875F-18A358F7EC1D}" type="sibTrans" cxnId="{537D757B-AADD-41CC-BC71-CAE607AD95F7}">
      <dgm:prSet/>
      <dgm:spPr/>
      <dgm:t>
        <a:bodyPr/>
        <a:lstStyle/>
        <a:p>
          <a:endParaRPr lang="zh-CN" altLang="en-US"/>
        </a:p>
      </dgm:t>
    </dgm:pt>
    <dgm:pt modelId="{8A0DCB8C-89C0-47C5-8E0E-65FDCB1FAB19}">
      <dgm:prSet phldrT="[文本]"/>
      <dgm:spPr/>
      <dgm:t>
        <a:bodyPr/>
        <a:lstStyle/>
        <a:p>
          <a:endParaRPr lang="zh-CN" altLang="en-US" dirty="0"/>
        </a:p>
      </dgm:t>
    </dgm:pt>
    <dgm:pt modelId="{256A5490-BCA2-451D-B46A-2CC0A59A46CF}" type="sibTrans" cxnId="{AC813530-E57A-490E-99FE-F79F12FFB27D}">
      <dgm:prSet/>
      <dgm:spPr/>
      <dgm:t>
        <a:bodyPr/>
        <a:lstStyle/>
        <a:p>
          <a:endParaRPr lang="zh-CN" altLang="en-US"/>
        </a:p>
      </dgm:t>
    </dgm:pt>
    <dgm:pt modelId="{6277E967-D834-4A8A-8F24-1F06BF5EB078}" type="parTrans" cxnId="{AC813530-E57A-490E-99FE-F79F12FFB27D}">
      <dgm:prSet/>
      <dgm:spPr/>
      <dgm:t>
        <a:bodyPr/>
        <a:lstStyle/>
        <a:p>
          <a:endParaRPr lang="zh-CN" altLang="en-US"/>
        </a:p>
      </dgm:t>
    </dgm:pt>
    <dgm:pt modelId="{9B81C451-52C2-4A31-86F4-D50ADE36FA13}" type="pres">
      <dgm:prSet presAssocID="{ABE88840-C0C7-4FB6-A9D6-491839B01EA3}" presName="Name0" presStyleCnt="0">
        <dgm:presLayoutVars>
          <dgm:chMax val="4"/>
          <dgm:resizeHandles val="exact"/>
        </dgm:presLayoutVars>
      </dgm:prSet>
      <dgm:spPr/>
    </dgm:pt>
    <dgm:pt modelId="{32A3CEC2-B01F-47FB-8AFE-52B9144A00C3}" type="pres">
      <dgm:prSet presAssocID="{ABE88840-C0C7-4FB6-A9D6-491839B01EA3}" presName="ellipse" presStyleLbl="trBgShp" presStyleIdx="0" presStyleCnt="1"/>
      <dgm:spPr/>
    </dgm:pt>
    <dgm:pt modelId="{C1E1CD43-5E81-4B4F-8BEB-FDAF583C526C}" type="pres">
      <dgm:prSet presAssocID="{ABE88840-C0C7-4FB6-A9D6-491839B01EA3}" presName="arrow1" presStyleLbl="fgShp" presStyleIdx="0" presStyleCnt="1" custScaleY="271178"/>
      <dgm:spPr/>
    </dgm:pt>
    <dgm:pt modelId="{6A7FCF88-DD0C-4AC6-9EDC-07B18F70B765}" type="pres">
      <dgm:prSet presAssocID="{ABE88840-C0C7-4FB6-A9D6-491839B01EA3}" presName="rectangle" presStyleLbl="revTx" presStyleIdx="0" presStyleCnt="1">
        <dgm:presLayoutVars>
          <dgm:bulletEnabled val="1"/>
        </dgm:presLayoutVars>
      </dgm:prSet>
      <dgm:spPr/>
    </dgm:pt>
    <dgm:pt modelId="{39431841-E361-42A8-8751-56A5A304C6E0}" type="pres">
      <dgm:prSet presAssocID="{20133461-8586-498A-B753-7DD1A59F5233}" presName="item1" presStyleLbl="node1" presStyleIdx="0" presStyleCnt="3">
        <dgm:presLayoutVars>
          <dgm:bulletEnabled val="1"/>
        </dgm:presLayoutVars>
      </dgm:prSet>
      <dgm:spPr/>
    </dgm:pt>
    <dgm:pt modelId="{AD43E67B-D58C-4874-B018-AB652C595ADA}" type="pres">
      <dgm:prSet presAssocID="{7F5FDC52-095A-43D9-A10D-91B1F0981876}" presName="item2" presStyleLbl="node1" presStyleIdx="1" presStyleCnt="3">
        <dgm:presLayoutVars>
          <dgm:bulletEnabled val="1"/>
        </dgm:presLayoutVars>
      </dgm:prSet>
      <dgm:spPr/>
    </dgm:pt>
    <dgm:pt modelId="{63E8B5A4-D749-494B-835A-D804BF77ABD8}" type="pres">
      <dgm:prSet presAssocID="{8A0DCB8C-89C0-47C5-8E0E-65FDCB1FAB19}" presName="item3" presStyleLbl="node1" presStyleIdx="2" presStyleCnt="3">
        <dgm:presLayoutVars>
          <dgm:bulletEnabled val="1"/>
        </dgm:presLayoutVars>
      </dgm:prSet>
      <dgm:spPr/>
    </dgm:pt>
    <dgm:pt modelId="{746D0CEF-2B5B-45A2-983C-504F32EBE61D}" type="pres">
      <dgm:prSet presAssocID="{ABE88840-C0C7-4FB6-A9D6-491839B01EA3}" presName="funnel" presStyleLbl="trAlignAcc1" presStyleIdx="0" presStyleCnt="1"/>
      <dgm:spPr/>
    </dgm:pt>
  </dgm:ptLst>
  <dgm:cxnLst>
    <dgm:cxn modelId="{6FF98807-A440-44E0-B494-2284775548CE}" srcId="{ABE88840-C0C7-4FB6-A9D6-491839B01EA3}" destId="{6FBCA26A-C88E-43E1-A9C2-841D65071233}" srcOrd="0" destOrd="0" parTransId="{60FE2C0B-0EC0-44B4-86DD-68C4741A37E2}" sibTransId="{9E211FD6-CE7C-41BB-B176-D038838F0A5E}"/>
    <dgm:cxn modelId="{552F6327-EEF3-4393-A68D-0D56F57F2A06}" type="presOf" srcId="{ABE88840-C0C7-4FB6-A9D6-491839B01EA3}" destId="{9B81C451-52C2-4A31-86F4-D50ADE36FA13}" srcOrd="0" destOrd="0" presId="urn:microsoft.com/office/officeart/2005/8/layout/funnel1"/>
    <dgm:cxn modelId="{AC813530-E57A-490E-99FE-F79F12FFB27D}" srcId="{ABE88840-C0C7-4FB6-A9D6-491839B01EA3}" destId="{8A0DCB8C-89C0-47C5-8E0E-65FDCB1FAB19}" srcOrd="3" destOrd="0" parTransId="{6277E967-D834-4A8A-8F24-1F06BF5EB078}" sibTransId="{256A5490-BCA2-451D-B46A-2CC0A59A46CF}"/>
    <dgm:cxn modelId="{537D757B-AADD-41CC-BC71-CAE607AD95F7}" srcId="{ABE88840-C0C7-4FB6-A9D6-491839B01EA3}" destId="{7F5FDC52-095A-43D9-A10D-91B1F0981876}" srcOrd="2" destOrd="0" parTransId="{B065CF10-743E-4F90-8DF5-EC26A7636608}" sibTransId="{9866EF05-74CA-415F-875F-18A358F7EC1D}"/>
    <dgm:cxn modelId="{D12CAE9B-60D4-4B8C-9869-69C9C77706B5}" type="presOf" srcId="{6FBCA26A-C88E-43E1-A9C2-841D65071233}" destId="{63E8B5A4-D749-494B-835A-D804BF77ABD8}" srcOrd="0" destOrd="0" presId="urn:microsoft.com/office/officeart/2005/8/layout/funnel1"/>
    <dgm:cxn modelId="{8F97F2BC-62F8-493B-8D3C-89E46F24D3D5}" type="presOf" srcId="{8A0DCB8C-89C0-47C5-8E0E-65FDCB1FAB19}" destId="{6A7FCF88-DD0C-4AC6-9EDC-07B18F70B765}" srcOrd="0" destOrd="0" presId="urn:microsoft.com/office/officeart/2005/8/layout/funnel1"/>
    <dgm:cxn modelId="{3B4ACABF-9F48-43EF-A573-EDD6BC78BBC2}" srcId="{ABE88840-C0C7-4FB6-A9D6-491839B01EA3}" destId="{20133461-8586-498A-B753-7DD1A59F5233}" srcOrd="1" destOrd="0" parTransId="{10167578-F562-4739-A8B6-F92F46FD64F5}" sibTransId="{CB80F968-5E9C-45A2-970C-35898E563F31}"/>
    <dgm:cxn modelId="{B9C387FB-5CD1-4516-A642-BF9898BAD083}" type="presOf" srcId="{20133461-8586-498A-B753-7DD1A59F5233}" destId="{AD43E67B-D58C-4874-B018-AB652C595ADA}" srcOrd="0" destOrd="0" presId="urn:microsoft.com/office/officeart/2005/8/layout/funnel1"/>
    <dgm:cxn modelId="{E83698FC-5E19-4255-972C-9F341CE9C93A}" type="presOf" srcId="{7F5FDC52-095A-43D9-A10D-91B1F0981876}" destId="{39431841-E361-42A8-8751-56A5A304C6E0}" srcOrd="0" destOrd="0" presId="urn:microsoft.com/office/officeart/2005/8/layout/funnel1"/>
    <dgm:cxn modelId="{09A137BC-8653-47ED-AA1E-E1DCE75EA065}" type="presParOf" srcId="{9B81C451-52C2-4A31-86F4-D50ADE36FA13}" destId="{32A3CEC2-B01F-47FB-8AFE-52B9144A00C3}" srcOrd="0" destOrd="0" presId="urn:microsoft.com/office/officeart/2005/8/layout/funnel1"/>
    <dgm:cxn modelId="{300DE049-617B-468D-AC78-6A633CF1283A}" type="presParOf" srcId="{9B81C451-52C2-4A31-86F4-D50ADE36FA13}" destId="{C1E1CD43-5E81-4B4F-8BEB-FDAF583C526C}" srcOrd="1" destOrd="0" presId="urn:microsoft.com/office/officeart/2005/8/layout/funnel1"/>
    <dgm:cxn modelId="{99BBAC32-3CE9-4816-B93F-9FA7E2314996}" type="presParOf" srcId="{9B81C451-52C2-4A31-86F4-D50ADE36FA13}" destId="{6A7FCF88-DD0C-4AC6-9EDC-07B18F70B765}" srcOrd="2" destOrd="0" presId="urn:microsoft.com/office/officeart/2005/8/layout/funnel1"/>
    <dgm:cxn modelId="{4DDFBD7F-8F03-43D9-AD74-30D01A75CBBB}" type="presParOf" srcId="{9B81C451-52C2-4A31-86F4-D50ADE36FA13}" destId="{39431841-E361-42A8-8751-56A5A304C6E0}" srcOrd="3" destOrd="0" presId="urn:microsoft.com/office/officeart/2005/8/layout/funnel1"/>
    <dgm:cxn modelId="{499D0AA6-F0DA-45BB-B5D5-D5ADE2D74F1C}" type="presParOf" srcId="{9B81C451-52C2-4A31-86F4-D50ADE36FA13}" destId="{AD43E67B-D58C-4874-B018-AB652C595ADA}" srcOrd="4" destOrd="0" presId="urn:microsoft.com/office/officeart/2005/8/layout/funnel1"/>
    <dgm:cxn modelId="{64C58219-417E-4504-9C7A-CA1D7CCE4D35}" type="presParOf" srcId="{9B81C451-52C2-4A31-86F4-D50ADE36FA13}" destId="{63E8B5A4-D749-494B-835A-D804BF77ABD8}" srcOrd="5" destOrd="0" presId="urn:microsoft.com/office/officeart/2005/8/layout/funnel1"/>
    <dgm:cxn modelId="{88569660-FE5C-4175-A0EB-642C1BD00D81}" type="presParOf" srcId="{9B81C451-52C2-4A31-86F4-D50ADE36FA13}" destId="{746D0CEF-2B5B-45A2-983C-504F32EBE61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3CEC2-B01F-47FB-8AFE-52B9144A00C3}">
      <dsp:nvSpPr>
        <dsp:cNvPr id="0" name=""/>
        <dsp:cNvSpPr/>
      </dsp:nvSpPr>
      <dsp:spPr>
        <a:xfrm>
          <a:off x="268549" y="214233"/>
          <a:ext cx="981384" cy="3408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E1CD43-5E81-4B4F-8BEB-FDAF583C526C}">
      <dsp:nvSpPr>
        <dsp:cNvPr id="0" name=""/>
        <dsp:cNvSpPr/>
      </dsp:nvSpPr>
      <dsp:spPr>
        <a:xfrm>
          <a:off x="665667" y="944609"/>
          <a:ext cx="190190" cy="33008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FCF88-DD0C-4AC6-9EDC-07B18F70B765}">
      <dsp:nvSpPr>
        <dsp:cNvPr id="0" name=""/>
        <dsp:cNvSpPr/>
      </dsp:nvSpPr>
      <dsp:spPr bwMode="white">
        <a:xfrm>
          <a:off x="304305" y="1146168"/>
          <a:ext cx="912915" cy="228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800" kern="1200" dirty="0"/>
        </a:p>
      </dsp:txBody>
      <dsp:txXfrm>
        <a:off x="304305" y="1146168"/>
        <a:ext cx="912915" cy="228228"/>
      </dsp:txXfrm>
    </dsp:sp>
    <dsp:sp modelId="{39431841-E361-42A8-8751-56A5A304C6E0}">
      <dsp:nvSpPr>
        <dsp:cNvPr id="0" name=""/>
        <dsp:cNvSpPr/>
      </dsp:nvSpPr>
      <dsp:spPr bwMode="white">
        <a:xfrm>
          <a:off x="625347" y="581377"/>
          <a:ext cx="342343" cy="3423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2G</a:t>
          </a:r>
          <a:endParaRPr lang="zh-CN" altLang="en-US" sz="1200" kern="1200" dirty="0"/>
        </a:p>
      </dsp:txBody>
      <dsp:txXfrm>
        <a:off x="675482" y="631512"/>
        <a:ext cx="242073" cy="242073"/>
      </dsp:txXfrm>
    </dsp:sp>
    <dsp:sp modelId="{AD43E67B-D58C-4874-B018-AB652C595ADA}">
      <dsp:nvSpPr>
        <dsp:cNvPr id="0" name=""/>
        <dsp:cNvSpPr/>
      </dsp:nvSpPr>
      <dsp:spPr bwMode="white">
        <a:xfrm>
          <a:off x="380381" y="324544"/>
          <a:ext cx="342343" cy="3423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2G</a:t>
          </a:r>
          <a:endParaRPr lang="zh-CN" altLang="en-US" sz="1200" kern="1200" dirty="0"/>
        </a:p>
      </dsp:txBody>
      <dsp:txXfrm>
        <a:off x="430516" y="374679"/>
        <a:ext cx="242073" cy="242073"/>
      </dsp:txXfrm>
    </dsp:sp>
    <dsp:sp modelId="{63E8B5A4-D749-494B-835A-D804BF77ABD8}">
      <dsp:nvSpPr>
        <dsp:cNvPr id="0" name=""/>
        <dsp:cNvSpPr/>
      </dsp:nvSpPr>
      <dsp:spPr bwMode="white">
        <a:xfrm>
          <a:off x="730332" y="241773"/>
          <a:ext cx="342343" cy="3423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/>
            <a:t>2G</a:t>
          </a:r>
          <a:endParaRPr lang="zh-CN" altLang="en-US" sz="1200" kern="1200" dirty="0"/>
        </a:p>
      </dsp:txBody>
      <dsp:txXfrm>
        <a:off x="780467" y="291908"/>
        <a:ext cx="242073" cy="242073"/>
      </dsp:txXfrm>
    </dsp:sp>
    <dsp:sp modelId="{746D0CEF-2B5B-45A2-983C-504F32EBE61D}">
      <dsp:nvSpPr>
        <dsp:cNvPr id="0" name=""/>
        <dsp:cNvSpPr/>
      </dsp:nvSpPr>
      <dsp:spPr>
        <a:xfrm>
          <a:off x="228228" y="172391"/>
          <a:ext cx="1065068" cy="85205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ED8B199-E104-309B-2498-E54D72B1A2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D0E5CB-FD5D-151F-83EA-06B204FA0E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E9688-300B-46DA-81AF-B815081A375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ABFA91-24D8-BF37-5EE2-26C683593B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A6C02F-BCEF-FF06-B5E3-E636E0BDB7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B1698-F1C7-417F-AB5A-B9454052D3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646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9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991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B618-4F0E-9C37-CC06-E1F5C2A6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904B9A-8D3C-F49F-5D5F-532DB5807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A57E9D-E722-1EA9-F85F-4FD013C4D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161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0" y="2998599"/>
            <a:ext cx="9144000" cy="2144901"/>
            <a:chOff x="100484" y="3022169"/>
            <a:chExt cx="9043516" cy="212133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/>
            <a:srcRect r="14460"/>
            <a:stretch>
              <a:fillRect/>
            </a:stretch>
          </p:blipFill>
          <p:spPr>
            <a:xfrm>
              <a:off x="2785997" y="3022169"/>
              <a:ext cx="6358003" cy="212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/>
            <a:srcRect l="64144"/>
            <a:stretch>
              <a:fillRect/>
            </a:stretch>
          </p:blipFill>
          <p:spPr>
            <a:xfrm>
              <a:off x="100484" y="4082834"/>
              <a:ext cx="2685514" cy="1060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0" y="0"/>
            <a:ext cx="9144000" cy="1053525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83E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1" name="Google Shape;11;p12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/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90204"/>
              <a:buNone/>
              <a:defRPr/>
            </a:pP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KubeCon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CloudNativeCon</a:t>
            </a:r>
            <a:b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b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OpenInfraSummit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PyTorchCon</a:t>
            </a:r>
            <a:endParaRPr sz="1200" b="0" i="0" u="none" strike="noStrike" cap="none" dirty="0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/>
            <a:srcRect l="7975" r="3180"/>
            <a:stretch>
              <a:fillRect/>
            </a:stretch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0" y="2998599"/>
            <a:ext cx="9144000" cy="2144901"/>
            <a:chOff x="100484" y="3022169"/>
            <a:chExt cx="9043516" cy="212133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/>
            <a:srcRect r="14460"/>
            <a:stretch>
              <a:fillRect/>
            </a:stretch>
          </p:blipFill>
          <p:spPr>
            <a:xfrm>
              <a:off x="2785997" y="3022169"/>
              <a:ext cx="6358003" cy="212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/>
            <a:srcRect l="64144"/>
            <a:stretch>
              <a:fillRect/>
            </a:stretch>
          </p:blipFill>
          <p:spPr>
            <a:xfrm>
              <a:off x="100484" y="4082834"/>
              <a:ext cx="2685514" cy="1060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/>
          <a:srcRect l="41002" b="9974"/>
          <a:stretch>
            <a:fillRect/>
          </a:stretch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/>
          <a:srcRect t="40037" r="35395" b="24793"/>
          <a:stretch>
            <a:fillRect/>
          </a:stretch>
        </p:blipFill>
        <p:spPr>
          <a:xfrm>
            <a:off x="5890451" y="-1"/>
            <a:ext cx="32535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1317" y="0"/>
            <a:ext cx="91666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1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 panose="020B0604020202090204"/>
              <a:buNone/>
              <a:defRPr sz="2800" b="0" i="0" u="none" strike="noStrike" cap="none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90204"/>
              <a:buNone/>
              <a:defRPr sz="1000" b="1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microsoft.com/office/2007/relationships/diagramDrawing" Target="../diagrams/drawing1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5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diagramColors" Target="../diagrams/colors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diagramQuickStyle" Target="../diagrams/quickStyle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diagramLayout" Target="../diagrams/layout1.xml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diagramData" Target="../diagrams/data1.xml"/><Relationship Id="rId27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jpe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6F2A5-343A-58DE-C38F-E8556282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40538"/>
            <a:ext cx="8028259" cy="841800"/>
          </a:xfrm>
        </p:spPr>
        <p:txBody>
          <a:bodyPr/>
          <a:lstStyle/>
          <a:p>
            <a:r>
              <a:rPr lang="en-US" altLang="zh-CN" dirty="0"/>
              <a:t>How </a:t>
            </a:r>
            <a:r>
              <a:rPr lang="en-US" altLang="zh-CN" dirty="0" err="1"/>
              <a:t>Intsig</a:t>
            </a:r>
            <a:r>
              <a:rPr lang="en-US" altLang="zh-CN" dirty="0"/>
              <a:t> Serves Billions of Document Scans: GPU Virtualization at Scale with HAMi</a:t>
            </a:r>
            <a:endParaRPr lang="zh-CN" altLang="en-US" dirty="0"/>
          </a:p>
        </p:txBody>
      </p:sp>
      <p:sp>
        <p:nvSpPr>
          <p:cNvPr id="3" name="Google Shape;68;p1">
            <a:extLst>
              <a:ext uri="{FF2B5EF4-FFF2-40B4-BE49-F238E27FC236}">
                <a16:creationId xmlns:a16="http://schemas.microsoft.com/office/drawing/2014/main" id="{5B2C7828-572A-66A3-7977-1D1226F8AF09}"/>
              </a:ext>
            </a:extLst>
          </p:cNvPr>
          <p:cNvSpPr txBox="1">
            <a:spLocks/>
          </p:cNvSpPr>
          <p:nvPr/>
        </p:nvSpPr>
        <p:spPr>
          <a:xfrm>
            <a:off x="237642" y="3336451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457200" indent="-342900">
              <a:buClr>
                <a:schemeClr val="lt1"/>
              </a:buClr>
              <a:buSzPts val="2800"/>
            </a:pPr>
            <a:r>
              <a:rPr lang="en-US" sz="1800" dirty="0">
                <a:solidFill>
                  <a:schemeClr val="bg1"/>
                </a:solidFill>
              </a:rPr>
              <a:t>Mengxuan Li, Walter Duan</a:t>
            </a:r>
          </a:p>
        </p:txBody>
      </p:sp>
    </p:spTree>
    <p:extLst>
      <p:ext uri="{BB962C8B-B14F-4D97-AF65-F5344CB8AC3E}">
        <p14:creationId xmlns:p14="http://schemas.microsoft.com/office/powerpoint/2010/main" val="405345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FB9EA-5BA1-D3DF-79F5-90998CFF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Catalog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50D7A2-280A-EF82-FD0E-D4C6D192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106" y="1953495"/>
            <a:ext cx="936936" cy="122406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973E1B5-5C1A-C13F-80C5-6B834AB8060B}"/>
              </a:ext>
            </a:extLst>
          </p:cNvPr>
          <p:cNvSpPr txBox="1"/>
          <p:nvPr/>
        </p:nvSpPr>
        <p:spPr>
          <a:xfrm>
            <a:off x="4276244" y="1896657"/>
            <a:ext cx="2915587" cy="1337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</a:p>
          <a:p>
            <a:pPr marL="285750" indent="-285750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HAMi Introduction</a:t>
            </a:r>
          </a:p>
          <a:p>
            <a:pPr marL="285750" indent="-285750">
              <a:lnSpc>
                <a:spcPts val="335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Case-study</a:t>
            </a:r>
          </a:p>
        </p:txBody>
      </p:sp>
    </p:spTree>
    <p:extLst>
      <p:ext uri="{BB962C8B-B14F-4D97-AF65-F5344CB8AC3E}">
        <p14:creationId xmlns:p14="http://schemas.microsoft.com/office/powerpoint/2010/main" val="488779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B7DB3-4C59-4092-750D-EA3BDB65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Background: </a:t>
            </a:r>
            <a:br>
              <a:rPr lang="en-US" altLang="zh-CN" dirty="0"/>
            </a:br>
            <a:r>
              <a:rPr lang="en-US" altLang="zh-CN" dirty="0"/>
              <a:t>Inadequate Compute resources</a:t>
            </a:r>
            <a:endParaRPr lang="zh-CN" alt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FE658E-782E-DD33-27EE-8784BDBBF3A8}"/>
              </a:ext>
            </a:extLst>
          </p:cNvPr>
          <p:cNvGrpSpPr/>
          <p:nvPr/>
        </p:nvGrpSpPr>
        <p:grpSpPr>
          <a:xfrm>
            <a:off x="90864" y="1274850"/>
            <a:ext cx="5071745" cy="2216432"/>
            <a:chOff x="4072255" y="1173154"/>
            <a:chExt cx="5071745" cy="2216432"/>
          </a:xfrm>
        </p:grpSpPr>
        <p:graphicFrame>
          <p:nvGraphicFramePr>
            <p:cNvPr id="5" name="图示 4">
              <a:extLst>
                <a:ext uri="{FF2B5EF4-FFF2-40B4-BE49-F238E27FC236}">
                  <a16:creationId xmlns:a16="http://schemas.microsoft.com/office/drawing/2014/main" id="{931265B5-7487-98CA-4D95-E7610577C3E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07152644"/>
                </p:ext>
              </p:extLst>
            </p:nvPr>
          </p:nvGraphicFramePr>
          <p:xfrm>
            <a:off x="5847365" y="1173154"/>
            <a:ext cx="1521526" cy="154678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5EFFEAC-6D9F-3D11-D304-2767898AFED1}"/>
                </a:ext>
              </a:extLst>
            </p:cNvPr>
            <p:cNvSpPr txBox="1"/>
            <p:nvPr/>
          </p:nvSpPr>
          <p:spPr>
            <a:xfrm>
              <a:off x="4194386" y="1758349"/>
              <a:ext cx="2027797" cy="3020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dirty="0">
                  <a:latin typeface="+mn-lt"/>
                </a:rPr>
                <a:t>Task queue status: pending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29CFADB-E86B-9B86-1F17-171CCEFE47BB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4316518" y="2636529"/>
              <a:ext cx="8713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40G</a:t>
              </a: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EE3C4260-A5A4-CB2B-E31F-1E5F5DA04314}"/>
                </a:ext>
              </a:extLst>
            </p:cNvPr>
            <p:cNvGrpSpPr/>
            <p:nvPr/>
          </p:nvGrpSpPr>
          <p:grpSpPr>
            <a:xfrm>
              <a:off x="4072255" y="2350970"/>
              <a:ext cx="1097960" cy="1038616"/>
              <a:chOff x="436543" y="3183964"/>
              <a:chExt cx="1421815" cy="1421815"/>
            </a:xfrm>
          </p:grpSpPr>
          <p:pic>
            <p:nvPicPr>
              <p:cNvPr id="39" name="图形 38" descr="圆柱 轮廓">
                <a:extLst>
                  <a:ext uri="{FF2B5EF4-FFF2-40B4-BE49-F238E27FC236}">
                    <a16:creationId xmlns:a16="http://schemas.microsoft.com/office/drawing/2014/main" id="{A1A3E450-AE87-2787-727F-A82DBC1659B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8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436543" y="3183964"/>
                <a:ext cx="1421815" cy="1421815"/>
              </a:xfrm>
              <a:prstGeom prst="rect">
                <a:avLst/>
              </a:prstGeom>
            </p:spPr>
          </p:pic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62AE871B-4B75-FB6B-87E1-5C35161C0367}"/>
                  </a:ext>
                </a:extLst>
              </p:cNvPr>
              <p:cNvGrpSpPr/>
              <p:nvPr/>
            </p:nvGrpSpPr>
            <p:grpSpPr>
              <a:xfrm>
                <a:off x="833746" y="3947370"/>
                <a:ext cx="413615" cy="400110"/>
                <a:chOff x="1504492" y="364677"/>
                <a:chExt cx="705231" cy="705231"/>
              </a:xfrm>
            </p:grpSpPr>
            <p:sp>
              <p:nvSpPr>
                <p:cNvPr id="41" name="椭圆 40">
                  <a:extLst>
                    <a:ext uri="{FF2B5EF4-FFF2-40B4-BE49-F238E27FC236}">
                      <a16:creationId xmlns:a16="http://schemas.microsoft.com/office/drawing/2014/main" id="{CCC19163-6142-0A04-96F1-5FD840C76EE4}"/>
                    </a:ext>
                  </a:extLst>
                </p:cNvPr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504492" y="364677"/>
                  <a:ext cx="705231" cy="70523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椭圆 4">
                  <a:extLst>
                    <a:ext uri="{FF2B5EF4-FFF2-40B4-BE49-F238E27FC236}">
                      <a16:creationId xmlns:a16="http://schemas.microsoft.com/office/drawing/2014/main" id="{1AFABA1C-1D9A-523A-6FFA-1953F7605563}"/>
                    </a:ext>
                  </a:extLst>
                </p:cNvPr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1607771" y="365519"/>
                  <a:ext cx="498672" cy="6011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1750" tIns="31750" rIns="31750" bIns="31750" numCol="1" spcCol="1270" anchor="ctr" anchorCtr="0">
                  <a:noAutofit/>
                </a:bodyPr>
                <a:lstStyle/>
                <a:p>
                  <a:pPr marL="0" lvl="0" indent="0" algn="ctr" defTabSz="11112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zh-CN" sz="900" kern="1200" dirty="0"/>
                    <a:t>2G</a:t>
                  </a:r>
                </a:p>
              </p:txBody>
            </p:sp>
          </p:grp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4834454-1FE6-F445-8CDA-E5A9CB8AA5AC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5309964" y="2636529"/>
              <a:ext cx="8536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40G</a:t>
              </a: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BA8C2C8-3EC0-16BB-039A-7D39BE340C47}"/>
                </a:ext>
              </a:extLst>
            </p:cNvPr>
            <p:cNvGrpSpPr/>
            <p:nvPr/>
          </p:nvGrpSpPr>
          <p:grpSpPr>
            <a:xfrm>
              <a:off x="5065701" y="2350970"/>
              <a:ext cx="1097960" cy="1038616"/>
              <a:chOff x="436543" y="3183964"/>
              <a:chExt cx="1421815" cy="1421815"/>
            </a:xfrm>
          </p:grpSpPr>
          <p:pic>
            <p:nvPicPr>
              <p:cNvPr id="33" name="图形 32" descr="圆柱 轮廓">
                <a:extLst>
                  <a:ext uri="{FF2B5EF4-FFF2-40B4-BE49-F238E27FC236}">
                    <a16:creationId xmlns:a16="http://schemas.microsoft.com/office/drawing/2014/main" id="{6017ACFF-13DD-ADB0-D249-12C690D6E51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436543" y="3183964"/>
                <a:ext cx="1421815" cy="1421815"/>
              </a:xfrm>
              <a:prstGeom prst="rect">
                <a:avLst/>
              </a:prstGeom>
            </p:spPr>
          </p:pic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5E41E360-4B01-B4F2-87C4-65FC777494C3}"/>
                  </a:ext>
                </a:extLst>
              </p:cNvPr>
              <p:cNvGrpSpPr/>
              <p:nvPr/>
            </p:nvGrpSpPr>
            <p:grpSpPr>
              <a:xfrm>
                <a:off x="833746" y="3947370"/>
                <a:ext cx="413615" cy="400110"/>
                <a:chOff x="1504492" y="364677"/>
                <a:chExt cx="705231" cy="705231"/>
              </a:xfrm>
            </p:grpSpPr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7A872738-212D-26FD-1E65-F0D6E02F619F}"/>
                    </a:ext>
                  </a:extLst>
                </p:cNvPr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504492" y="364677"/>
                  <a:ext cx="705231" cy="70523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椭圆 4">
                  <a:extLst>
                    <a:ext uri="{FF2B5EF4-FFF2-40B4-BE49-F238E27FC236}">
                      <a16:creationId xmlns:a16="http://schemas.microsoft.com/office/drawing/2014/main" id="{EA5C1B07-0AB6-34BB-576F-FBA7690125D9}"/>
                    </a:ext>
                  </a:extLst>
                </p:cNvPr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1607771" y="365519"/>
                  <a:ext cx="498672" cy="6011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1750" tIns="31750" rIns="31750" bIns="31750" numCol="1" spcCol="1270" anchor="ctr" anchorCtr="0">
                  <a:noAutofit/>
                </a:bodyPr>
                <a:lstStyle/>
                <a:p>
                  <a:pPr marL="0" lvl="0" indent="0" algn="ctr" defTabSz="11112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zh-CN" sz="900" kern="1200" dirty="0"/>
                    <a:t>2G</a:t>
                  </a:r>
                  <a:endParaRPr lang="zh-CN" altLang="en-US" sz="900" kern="1200" dirty="0"/>
                </a:p>
              </p:txBody>
            </p:sp>
          </p:grp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98FBF66-A17F-2A53-1D57-445A8167D07C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6303411" y="2636529"/>
              <a:ext cx="8536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40G</a:t>
              </a: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80CC7F3-B7D1-BD83-E7E8-E462B1058A9E}"/>
                </a:ext>
              </a:extLst>
            </p:cNvPr>
            <p:cNvGrpSpPr/>
            <p:nvPr/>
          </p:nvGrpSpPr>
          <p:grpSpPr>
            <a:xfrm>
              <a:off x="6059148" y="2350969"/>
              <a:ext cx="1097960" cy="1038616"/>
              <a:chOff x="436544" y="3183961"/>
              <a:chExt cx="1421816" cy="1421814"/>
            </a:xfrm>
          </p:grpSpPr>
          <p:pic>
            <p:nvPicPr>
              <p:cNvPr id="27" name="图形 26" descr="圆柱 轮廓">
                <a:extLst>
                  <a:ext uri="{FF2B5EF4-FFF2-40B4-BE49-F238E27FC236}">
                    <a16:creationId xmlns:a16="http://schemas.microsoft.com/office/drawing/2014/main" id="{A2CB46E8-ECDD-D5F8-1C0E-1E6048DB11B2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436544" y="3183961"/>
                <a:ext cx="1421816" cy="1421814"/>
              </a:xfrm>
              <a:prstGeom prst="rect">
                <a:avLst/>
              </a:prstGeom>
            </p:spPr>
          </p:pic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2FCACA2B-2142-2D4E-F516-CCE304E1A52F}"/>
                  </a:ext>
                </a:extLst>
              </p:cNvPr>
              <p:cNvGrpSpPr/>
              <p:nvPr/>
            </p:nvGrpSpPr>
            <p:grpSpPr>
              <a:xfrm>
                <a:off x="833746" y="3947369"/>
                <a:ext cx="413616" cy="400110"/>
                <a:chOff x="1504492" y="364677"/>
                <a:chExt cx="705231" cy="705231"/>
              </a:xfrm>
            </p:grpSpPr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429B175E-EC03-3AF2-2EF9-E866D2CD0FC2}"/>
                    </a:ext>
                  </a:extLst>
                </p:cNvPr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504492" y="364677"/>
                  <a:ext cx="705231" cy="70523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椭圆 4">
                  <a:extLst>
                    <a:ext uri="{FF2B5EF4-FFF2-40B4-BE49-F238E27FC236}">
                      <a16:creationId xmlns:a16="http://schemas.microsoft.com/office/drawing/2014/main" id="{7ABB3E72-D834-D823-F228-F2F3B4513DEF}"/>
                    </a:ext>
                  </a:extLst>
                </p:cNvPr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607771" y="365519"/>
                  <a:ext cx="498672" cy="601112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1750" tIns="31750" rIns="31750" bIns="31750" numCol="1" spcCol="1270" anchor="ctr" anchorCtr="0">
                  <a:noAutofit/>
                </a:bodyPr>
                <a:lstStyle/>
                <a:p>
                  <a:pPr marL="0" lvl="0" indent="0" algn="ctr" defTabSz="11112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zh-CN" sz="900" kern="1200" dirty="0"/>
                    <a:t>2G</a:t>
                  </a:r>
                </a:p>
              </p:txBody>
            </p:sp>
          </p:grp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86FB6C3-E3EF-A0C9-2B9A-FD43132F704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296857" y="2636529"/>
              <a:ext cx="8536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40G</a:t>
              </a:r>
            </a:p>
          </p:txBody>
        </p:sp>
        <p:pic>
          <p:nvPicPr>
            <p:cNvPr id="21" name="图形 20" descr="圆柱 轮廓">
              <a:extLst>
                <a:ext uri="{FF2B5EF4-FFF2-40B4-BE49-F238E27FC236}">
                  <a16:creationId xmlns:a16="http://schemas.microsoft.com/office/drawing/2014/main" id="{BA9A9A53-631C-034F-757E-B203B121F9E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7052594" y="2350970"/>
              <a:ext cx="1097960" cy="1038616"/>
            </a:xfrm>
            <a:prstGeom prst="rect">
              <a:avLst/>
            </a:prstGeom>
          </p:spPr>
        </p:pic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F1C7B40-641A-95C7-C676-FEB8F95D2CE7}"/>
                </a:ext>
              </a:extLst>
            </p:cNvPr>
            <p:cNvGrpSpPr/>
            <p:nvPr/>
          </p:nvGrpSpPr>
          <p:grpSpPr>
            <a:xfrm>
              <a:off x="7359324" y="2908627"/>
              <a:ext cx="319404" cy="292275"/>
              <a:chOff x="1504492" y="364677"/>
              <a:chExt cx="705231" cy="705231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A59BD7D1-A8DF-2297-4FF9-A68E232FEC2E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504492" y="364677"/>
                <a:ext cx="705231" cy="70523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椭圆 4">
                <a:extLst>
                  <a:ext uri="{FF2B5EF4-FFF2-40B4-BE49-F238E27FC236}">
                    <a16:creationId xmlns:a16="http://schemas.microsoft.com/office/drawing/2014/main" id="{0A9D35F8-5F42-D73E-91B2-5B8817A71161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07771" y="365519"/>
                <a:ext cx="498672" cy="601112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31750" tIns="31750" rIns="31750" bIns="31750" numCol="1" spcCol="1270" anchor="ctr" anchorCtr="0">
                <a:noAutofit/>
              </a:bodyPr>
              <a:lstStyle/>
              <a:p>
                <a:pPr marL="0" lvl="0" indent="0" algn="ctr" defTabSz="1111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900" kern="1200" dirty="0"/>
                  <a:t>2G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A8BE09A-7D60-8744-3920-88903303C95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8290303" y="2636529"/>
              <a:ext cx="8536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40G</a:t>
              </a: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5045410-AA59-B054-30D9-83DEBC1ECCFF}"/>
                </a:ext>
              </a:extLst>
            </p:cNvPr>
            <p:cNvGrpSpPr/>
            <p:nvPr/>
          </p:nvGrpSpPr>
          <p:grpSpPr>
            <a:xfrm>
              <a:off x="8046040" y="2350970"/>
              <a:ext cx="1097960" cy="1038616"/>
              <a:chOff x="436543" y="3183964"/>
              <a:chExt cx="1421815" cy="1421815"/>
            </a:xfrm>
          </p:grpSpPr>
          <p:pic>
            <p:nvPicPr>
              <p:cNvPr id="15" name="图形 14" descr="圆柱 轮廓">
                <a:extLst>
                  <a:ext uri="{FF2B5EF4-FFF2-40B4-BE49-F238E27FC236}">
                    <a16:creationId xmlns:a16="http://schemas.microsoft.com/office/drawing/2014/main" id="{9B0899D4-966D-0371-86D6-A76973E6BFBD}"/>
                  </a:ext>
                </a:extLst>
              </p:cNvPr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436543" y="3183964"/>
                <a:ext cx="1421815" cy="1421815"/>
              </a:xfrm>
              <a:prstGeom prst="rect">
                <a:avLst/>
              </a:prstGeom>
            </p:spPr>
          </p:pic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6EB05CD8-071C-4784-3186-8D8670D052BB}"/>
                  </a:ext>
                </a:extLst>
              </p:cNvPr>
              <p:cNvGrpSpPr/>
              <p:nvPr/>
            </p:nvGrpSpPr>
            <p:grpSpPr>
              <a:xfrm>
                <a:off x="833746" y="3947370"/>
                <a:ext cx="413615" cy="400110"/>
                <a:chOff x="1504492" y="364677"/>
                <a:chExt cx="705231" cy="705231"/>
              </a:xfrm>
            </p:grpSpPr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C177320A-CD46-2617-0F58-D166EBAD8956}"/>
                    </a:ext>
                  </a:extLst>
                </p:cNvPr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504492" y="364677"/>
                  <a:ext cx="705231" cy="705231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rgbClr r="0" g="0" b="0"/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椭圆 4">
                  <a:extLst>
                    <a:ext uri="{FF2B5EF4-FFF2-40B4-BE49-F238E27FC236}">
                      <a16:creationId xmlns:a16="http://schemas.microsoft.com/office/drawing/2014/main" id="{1BB5D3A9-5E6D-D7D8-637C-FE51AD9CBF0B}"/>
                    </a:ext>
                  </a:extLst>
                </p:cNvPr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1608244" y="364677"/>
                  <a:ext cx="499131" cy="60144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31750" tIns="31750" rIns="31750" bIns="31750" numCol="1" spcCol="1270" anchor="ctr" anchorCtr="0">
                  <a:noAutofit/>
                </a:bodyPr>
                <a:lstStyle/>
                <a:p>
                  <a:pPr marL="0" lvl="0" indent="0" algn="ctr" defTabSz="11112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altLang="zh-CN" sz="900" kern="1200" dirty="0"/>
                    <a:t>2G</a:t>
                  </a:r>
                </a:p>
              </p:txBody>
            </p:sp>
          </p:grpSp>
        </p:grpSp>
      </p:grpSp>
      <p:pic>
        <p:nvPicPr>
          <p:cNvPr id="45" name="图片 44" descr="显存利用率低">
            <a:extLst>
              <a:ext uri="{FF2B5EF4-FFF2-40B4-BE49-F238E27FC236}">
                <a16:creationId xmlns:a16="http://schemas.microsoft.com/office/drawing/2014/main" id="{BDA8EE45-79B2-0A1F-6049-1FDE8BDB5F16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1934" t="13429" r="2646" b="3701"/>
          <a:stretch>
            <a:fillRect/>
          </a:stretch>
        </p:blipFill>
        <p:spPr>
          <a:xfrm>
            <a:off x="90864" y="3491282"/>
            <a:ext cx="5104130" cy="161671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4285C2B1-5D78-C3EB-2DDB-2F4253396575}"/>
              </a:ext>
            </a:extLst>
          </p:cNvPr>
          <p:cNvSpPr txBox="1"/>
          <p:nvPr/>
        </p:nvSpPr>
        <p:spPr>
          <a:xfrm>
            <a:off x="5334743" y="2725722"/>
            <a:ext cx="375624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</a:rPr>
              <a:t>Exclusive GPU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+mn-lt"/>
              </a:rPr>
              <a:t>Large number of small deployments</a:t>
            </a:r>
          </a:p>
          <a:p>
            <a:endParaRPr lang="en-US" altLang="zh-CN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2034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0DD1B-FEF6-E4B6-D773-0E725474C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Background: Topology-aware scheduling is needed</a:t>
            </a:r>
            <a:endParaRPr lang="zh-CN" altLang="en-US" dirty="0"/>
          </a:p>
        </p:txBody>
      </p:sp>
      <p:pic>
        <p:nvPicPr>
          <p:cNvPr id="5" name="Google Shape;178;p36">
            <a:extLst>
              <a:ext uri="{FF2B5EF4-FFF2-40B4-BE49-F238E27FC236}">
                <a16:creationId xmlns:a16="http://schemas.microsoft.com/office/drawing/2014/main" id="{974D7A60-BA0C-A062-CD6A-66582056C40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20407" y="1185863"/>
            <a:ext cx="4237355" cy="3452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80E21753-20FA-4223-C102-8C2501004D31}"/>
              </a:ext>
            </a:extLst>
          </p:cNvPr>
          <p:cNvGrpSpPr/>
          <p:nvPr/>
        </p:nvGrpSpPr>
        <p:grpSpPr>
          <a:xfrm>
            <a:off x="5464099" y="2571750"/>
            <a:ext cx="2775026" cy="954107"/>
            <a:chOff x="5334743" y="2725722"/>
            <a:chExt cx="2775026" cy="954107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6C6D0AF-C4AA-9994-149B-4291792B2779}"/>
                </a:ext>
              </a:extLst>
            </p:cNvPr>
            <p:cNvSpPr txBox="1"/>
            <p:nvPr/>
          </p:nvSpPr>
          <p:spPr>
            <a:xfrm>
              <a:off x="5334743" y="2725722"/>
              <a:ext cx="277502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If we allocate 2 GPUs</a:t>
              </a:r>
            </a:p>
            <a:p>
              <a:endParaRPr lang="en-US" altLang="zh-CN" dirty="0"/>
            </a:p>
            <a:p>
              <a:r>
                <a:rPr lang="en-US" altLang="zh-CN" dirty="0"/>
                <a:t>(GPU0, GPU1)  </a:t>
              </a:r>
            </a:p>
            <a:p>
              <a:r>
                <a:rPr lang="en-US" altLang="zh-CN" dirty="0"/>
                <a:t>(GPU0, GPU6) </a:t>
              </a:r>
            </a:p>
          </p:txBody>
        </p:sp>
        <p:pic>
          <p:nvPicPr>
            <p:cNvPr id="11" name="图形 10" descr="复选标记 纯色填充">
              <a:extLst>
                <a:ext uri="{FF2B5EF4-FFF2-40B4-BE49-F238E27FC236}">
                  <a16:creationId xmlns:a16="http://schemas.microsoft.com/office/drawing/2014/main" id="{47956E2D-F6EB-E555-B0DC-9A30185A3C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71217" y="3172989"/>
              <a:ext cx="238906" cy="238906"/>
            </a:xfrm>
            <a:prstGeom prst="rect">
              <a:avLst/>
            </a:prstGeom>
          </p:spPr>
        </p:pic>
        <p:pic>
          <p:nvPicPr>
            <p:cNvPr id="13" name="图形 12" descr="关闭 纯色填充">
              <a:extLst>
                <a:ext uri="{FF2B5EF4-FFF2-40B4-BE49-F238E27FC236}">
                  <a16:creationId xmlns:a16="http://schemas.microsoft.com/office/drawing/2014/main" id="{D82E5AAB-A01E-C905-48F9-616A855CB0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56928" y="3402624"/>
              <a:ext cx="238906" cy="238906"/>
            </a:xfrm>
            <a:prstGeom prst="rect">
              <a:avLst/>
            </a:prstGeom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09CE0D8E-199A-7C31-6D89-0FEAB516A2A1}"/>
              </a:ext>
            </a:extLst>
          </p:cNvPr>
          <p:cNvSpPr txBox="1"/>
          <p:nvPr/>
        </p:nvSpPr>
        <p:spPr>
          <a:xfrm>
            <a:off x="832880" y="4686300"/>
            <a:ext cx="4300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NVLink</a:t>
            </a:r>
            <a:r>
              <a:rPr lang="en-US" altLang="zh-CN" dirty="0"/>
              <a:t> (25GB/s – 1800GB/s)  &gt; </a:t>
            </a:r>
            <a:r>
              <a:rPr lang="en-US" altLang="zh-CN" dirty="0" err="1"/>
              <a:t>Pcie</a:t>
            </a:r>
            <a:r>
              <a:rPr lang="en-US" altLang="zh-CN" dirty="0"/>
              <a:t> (16GB/s)</a:t>
            </a:r>
          </a:p>
        </p:txBody>
      </p:sp>
    </p:spTree>
    <p:extLst>
      <p:ext uri="{BB962C8B-B14F-4D97-AF65-F5344CB8AC3E}">
        <p14:creationId xmlns:p14="http://schemas.microsoft.com/office/powerpoint/2010/main" val="359582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12A57-A38B-DBFC-E081-CADF20C4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HAMi: </a:t>
            </a:r>
            <a:br>
              <a:rPr lang="en-US" altLang="zh-CN" dirty="0"/>
            </a:br>
            <a:r>
              <a:rPr lang="en-US" altLang="zh-CN" dirty="0"/>
              <a:t>Middleware for GPU Clusters</a:t>
            </a:r>
            <a:endParaRPr lang="zh-CN" altLang="en-US" dirty="0"/>
          </a:p>
        </p:txBody>
      </p:sp>
      <p:pic>
        <p:nvPicPr>
          <p:cNvPr id="5" name="图片 4" descr="687e8672-24cf-4bd1-ad35-4d06063582df">
            <a:extLst>
              <a:ext uri="{FF2B5EF4-FFF2-40B4-BE49-F238E27FC236}">
                <a16:creationId xmlns:a16="http://schemas.microsoft.com/office/drawing/2014/main" id="{7B86C6A1-1811-E5F8-4542-5C53FDBF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6" y="1404938"/>
            <a:ext cx="6279515" cy="34861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6EFB0CF-FA72-16AA-976E-EB618F9A850D}"/>
              </a:ext>
            </a:extLst>
          </p:cNvPr>
          <p:cNvSpPr txBox="1"/>
          <p:nvPr/>
        </p:nvSpPr>
        <p:spPr>
          <a:xfrm>
            <a:off x="6551432" y="2498932"/>
            <a:ext cx="24636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Device Slicing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Scheduling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396437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5148E-40EC-F3D5-BA63-C39036B6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HAMi</a:t>
            </a:r>
            <a:r>
              <a:rPr lang="en-US" altLang="zh-CN" dirty="0"/>
              <a:t> architect</a:t>
            </a:r>
            <a:endParaRPr lang="zh-CN" altLang="en-US" dirty="0"/>
          </a:p>
        </p:txBody>
      </p:sp>
      <p:pic>
        <p:nvPicPr>
          <p:cNvPr id="7" name="Picture 2" descr="Picture 2">
            <a:extLst>
              <a:ext uri="{FF2B5EF4-FFF2-40B4-BE49-F238E27FC236}">
                <a16:creationId xmlns:a16="http://schemas.microsoft.com/office/drawing/2014/main" id="{3DCBE2EE-EBC6-786E-27CE-59D1A406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27" t="19107" r="24360" b="24859"/>
          <a:stretch>
            <a:fillRect/>
          </a:stretch>
        </p:blipFill>
        <p:spPr>
          <a:xfrm>
            <a:off x="241366" y="3103553"/>
            <a:ext cx="4902134" cy="203994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" name="Google Shape;145;p31">
            <a:extLst>
              <a:ext uri="{FF2B5EF4-FFF2-40B4-BE49-F238E27FC236}">
                <a16:creationId xmlns:a16="http://schemas.microsoft.com/office/drawing/2014/main" id="{02D948CF-A9DD-5904-3F26-948656F0A186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1047901"/>
            <a:ext cx="5560682" cy="21096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EE5B176-DF0F-29A9-C249-0A0A4D69415F}"/>
              </a:ext>
            </a:extLst>
          </p:cNvPr>
          <p:cNvSpPr txBox="1"/>
          <p:nvPr/>
        </p:nvSpPr>
        <p:spPr>
          <a:xfrm>
            <a:off x="6091238" y="1719263"/>
            <a:ext cx="21955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Scheduling layer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Pluggable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Compatible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0641C9-8C59-A089-A831-661CF3E9CC5D}"/>
              </a:ext>
            </a:extLst>
          </p:cNvPr>
          <p:cNvSpPr txBox="1"/>
          <p:nvPr/>
        </p:nvSpPr>
        <p:spPr>
          <a:xfrm>
            <a:off x="6091237" y="3500438"/>
            <a:ext cx="2733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CUDA layer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Transparent to GPU tasks</a:t>
            </a:r>
          </a:p>
        </p:txBody>
      </p:sp>
    </p:spTree>
    <p:extLst>
      <p:ext uri="{BB962C8B-B14F-4D97-AF65-F5344CB8AC3E}">
        <p14:creationId xmlns:p14="http://schemas.microsoft.com/office/powerpoint/2010/main" val="129546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DCCA3-BE4C-8A46-381D-CA8BA230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HAMi</a:t>
            </a:r>
            <a:r>
              <a:rPr lang="en-US" altLang="zh-CN" dirty="0"/>
              <a:t> DRA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E69857-125E-D883-F35E-1A83B7E731E7}"/>
              </a:ext>
            </a:extLst>
          </p:cNvPr>
          <p:cNvSpPr>
            <a:spLocks noGrp="1"/>
          </p:cNvSpPr>
          <p:nvPr/>
        </p:nvSpPr>
        <p:spPr>
          <a:xfrm>
            <a:off x="268922" y="1597026"/>
            <a:ext cx="8482330" cy="3170237"/>
          </a:xfrm>
          <a:prstGeom prst="rect">
            <a:avLst/>
          </a:prstGeom>
          <a:solidFill>
            <a:srgbClr val="F4F8F6"/>
          </a:solidFill>
          <a:ln w="11430">
            <a:solidFill>
              <a:srgbClr val="BED1C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B48BC8-A1E8-6B88-4998-E8F7DB0446B7}"/>
              </a:ext>
            </a:extLst>
          </p:cNvPr>
          <p:cNvSpPr>
            <a:spLocks noGrp="1"/>
          </p:cNvSpPr>
          <p:nvPr/>
        </p:nvSpPr>
        <p:spPr>
          <a:xfrm>
            <a:off x="394017" y="1811021"/>
            <a:ext cx="5366385" cy="230012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33023B-A3ED-AFBE-4A3E-B1237A0ACA5F}"/>
              </a:ext>
            </a:extLst>
          </p:cNvPr>
          <p:cNvSpPr>
            <a:spLocks noGrp="1"/>
          </p:cNvSpPr>
          <p:nvPr/>
        </p:nvSpPr>
        <p:spPr>
          <a:xfrm>
            <a:off x="566102" y="2120266"/>
            <a:ext cx="2174240" cy="1335405"/>
          </a:xfrm>
          <a:prstGeom prst="rect">
            <a:avLst/>
          </a:prstGeom>
          <a:solidFill>
            <a:srgbClr val="EAF5EC"/>
          </a:solidFill>
          <a:ln w="11430">
            <a:solidFill>
              <a:srgbClr val="9FC8A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>
                <a:solidFill>
                  <a:srgbClr val="0B4655"/>
                </a:solidFill>
              </a:defRPr>
            </a:pPr>
            <a:r>
              <a:rPr sz="1500" b="1">
                <a:solidFill>
                  <a:srgbClr val="0B4655"/>
                </a:solidFill>
              </a:rPr>
              <a:t>Kubernetes 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A76048-1525-BF4C-96E8-12041E37D04B}"/>
              </a:ext>
            </a:extLst>
          </p:cNvPr>
          <p:cNvSpPr>
            <a:spLocks noGrp="1"/>
          </p:cNvSpPr>
          <p:nvPr/>
        </p:nvSpPr>
        <p:spPr>
          <a:xfrm>
            <a:off x="6122352" y="2120266"/>
            <a:ext cx="2383155" cy="1336040"/>
          </a:xfrm>
          <a:prstGeom prst="rect">
            <a:avLst/>
          </a:prstGeom>
          <a:solidFill>
            <a:srgbClr val="77B900"/>
          </a:solidFill>
          <a:ln w="11430">
            <a:solidFill>
              <a:srgbClr val="5EA8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 dirty="0">
                <a:solidFill>
                  <a:srgbClr val="FFFFFF"/>
                </a:solidFill>
              </a:rPr>
              <a:t>HAMi DRA  </a:t>
            </a:r>
            <a:endParaRPr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E3E556-9A40-55D3-2AA9-749D0B9CD4C4}"/>
              </a:ext>
            </a:extLst>
          </p:cNvPr>
          <p:cNvSpPr>
            <a:spLocks noGrp="1"/>
          </p:cNvSpPr>
          <p:nvPr/>
        </p:nvSpPr>
        <p:spPr>
          <a:xfrm>
            <a:off x="3020377" y="2120266"/>
            <a:ext cx="2383155" cy="1336040"/>
          </a:xfrm>
          <a:prstGeom prst="rect">
            <a:avLst/>
          </a:prstGeom>
          <a:solidFill>
            <a:srgbClr val="FFFFFF"/>
          </a:solidFill>
          <a:ln w="11430">
            <a:solidFill>
              <a:srgbClr val="C8D4D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00" b="1">
                <a:solidFill>
                  <a:srgbClr val="0B4655"/>
                </a:solidFill>
              </a:defRPr>
            </a:pPr>
            <a:r>
              <a:rPr sz="1500" b="1">
                <a:solidFill>
                  <a:srgbClr val="0B4655"/>
                </a:solidFill>
              </a:rPr>
              <a:t>DRA Driver  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AAB0C07F-FDEE-C7C3-6081-1E7D2C362CB5}"/>
              </a:ext>
            </a:extLst>
          </p:cNvPr>
          <p:cNvSpPr>
            <a:spLocks noGrp="1"/>
          </p:cNvSpPr>
          <p:nvPr/>
        </p:nvSpPr>
        <p:spPr>
          <a:xfrm>
            <a:off x="566102" y="3681731"/>
            <a:ext cx="3832225" cy="2885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b="1" dirty="0">
                <a:solidFill>
                  <a:schemeClr val="accent1"/>
                </a:solidFill>
              </a:rPr>
              <a:t>Device slicing abilities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" name="文本框 7">
            <a:extLst>
              <a:ext uri="{FF2B5EF4-FFF2-40B4-BE49-F238E27FC236}">
                <a16:creationId xmlns:a16="http://schemas.microsoft.com/office/drawing/2014/main" id="{BAC04215-A22B-690B-70E5-31179CFEAB4B}"/>
              </a:ext>
            </a:extLst>
          </p:cNvPr>
          <p:cNvSpPr>
            <a:spLocks noGrp="1"/>
          </p:cNvSpPr>
          <p:nvPr/>
        </p:nvSpPr>
        <p:spPr>
          <a:xfrm>
            <a:off x="550862" y="4330703"/>
            <a:ext cx="7918450" cy="3067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0B4655"/>
                </a:solidFill>
              </a:defRPr>
            </a:pPr>
            <a:r>
              <a:rPr dirty="0">
                <a:solidFill>
                  <a:srgbClr val="0B4655"/>
                </a:solidFill>
              </a:rPr>
              <a:t>Best experience</a:t>
            </a:r>
            <a:r>
              <a:rPr lang="en-US" dirty="0">
                <a:solidFill>
                  <a:srgbClr val="0B4655"/>
                </a:solidFill>
              </a:rPr>
              <a:t> : </a:t>
            </a:r>
            <a:r>
              <a:rPr dirty="0">
                <a:solidFill>
                  <a:srgbClr val="0B4655"/>
                </a:solidFill>
              </a:rPr>
              <a:t>Transparent</a:t>
            </a:r>
            <a:r>
              <a:rPr lang="en-US" dirty="0">
                <a:solidFill>
                  <a:srgbClr val="0B4655"/>
                </a:solidFill>
              </a:rPr>
              <a:t> , </a:t>
            </a:r>
            <a:r>
              <a:rPr dirty="0">
                <a:solidFill>
                  <a:srgbClr val="0B4655"/>
                </a:solidFill>
              </a:rPr>
              <a:t>Observability</a:t>
            </a:r>
            <a:r>
              <a:rPr lang="en-US" dirty="0">
                <a:solidFill>
                  <a:srgbClr val="0B4655"/>
                </a:solidFill>
              </a:rPr>
              <a:t> , </a:t>
            </a:r>
            <a:r>
              <a:rPr dirty="0">
                <a:solidFill>
                  <a:srgbClr val="0B4655"/>
                </a:solidFill>
              </a:rPr>
              <a:t>Scheduling events</a:t>
            </a:r>
            <a:r>
              <a:rPr lang="en-US" dirty="0">
                <a:solidFill>
                  <a:srgbClr val="0B4655"/>
                </a:solidFill>
              </a:rPr>
              <a:t> 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3012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34F75-6A91-4F4E-4218-83DFEFF4D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HAMi</a:t>
            </a:r>
            <a:r>
              <a:rPr lang="en-US" altLang="zh-CN" dirty="0"/>
              <a:t> Usage</a:t>
            </a:r>
            <a:endParaRPr lang="zh-CN" altLang="en-US" dirty="0"/>
          </a:p>
        </p:txBody>
      </p:sp>
      <p:pic>
        <p:nvPicPr>
          <p:cNvPr id="5" name="Google Shape;166;p34">
            <a:extLst>
              <a:ext uri="{FF2B5EF4-FFF2-40B4-BE49-F238E27FC236}">
                <a16:creationId xmlns:a16="http://schemas.microsoft.com/office/drawing/2014/main" id="{E98DAE32-53A0-7328-DC7F-8CAB6C4FD29D}"/>
              </a:ext>
            </a:extLst>
          </p:cNvPr>
          <p:cNvPicPr preferRelativeResize="0"/>
          <p:nvPr/>
        </p:nvPicPr>
        <p:blipFill>
          <a:blip r:embed="rId2"/>
          <a:srcRect r="2580" b="3116"/>
          <a:stretch>
            <a:fillRect/>
          </a:stretch>
        </p:blipFill>
        <p:spPr>
          <a:xfrm>
            <a:off x="114305" y="2400709"/>
            <a:ext cx="4519613" cy="269768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65DC628B-9F85-737C-4920-509E0AB3E640}"/>
              </a:ext>
            </a:extLst>
          </p:cNvPr>
          <p:cNvSpPr txBox="1"/>
          <p:nvPr/>
        </p:nvSpPr>
        <p:spPr>
          <a:xfrm>
            <a:off x="5077993" y="1596631"/>
            <a:ext cx="34289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+mn-lt"/>
              </a:rPr>
              <a:t>apiVersion</a:t>
            </a:r>
            <a:r>
              <a:rPr lang="en-US" altLang="zh-CN" sz="1200" dirty="0">
                <a:latin typeface="+mn-lt"/>
              </a:rPr>
              <a:t>: v1</a:t>
            </a:r>
          </a:p>
          <a:p>
            <a:r>
              <a:rPr lang="en-US" altLang="zh-CN" sz="1200" dirty="0">
                <a:latin typeface="+mn-lt"/>
              </a:rPr>
              <a:t>kind: Pod</a:t>
            </a:r>
          </a:p>
          <a:p>
            <a:r>
              <a:rPr lang="en-US" altLang="zh-CN" sz="1200" dirty="0">
                <a:latin typeface="+mn-lt"/>
              </a:rPr>
              <a:t>metadata:</a:t>
            </a:r>
          </a:p>
          <a:p>
            <a:r>
              <a:rPr lang="en-US" altLang="zh-CN" sz="1200" dirty="0">
                <a:latin typeface="+mn-lt"/>
              </a:rPr>
              <a:t>  annotations:</a:t>
            </a:r>
          </a:p>
          <a:p>
            <a:r>
              <a:rPr lang="en-US" altLang="zh-CN" sz="1200" dirty="0">
                <a:latin typeface="+mn-lt"/>
              </a:rPr>
              <a:t>     </a:t>
            </a:r>
            <a:r>
              <a:rPr lang="en-US" altLang="zh-CN" sz="1200" dirty="0" err="1">
                <a:solidFill>
                  <a:srgbClr val="5E9200"/>
                </a:solidFill>
                <a:latin typeface="+mn-lt"/>
              </a:rPr>
              <a:t>hami</a:t>
            </a:r>
            <a:r>
              <a:rPr lang="en-US" altLang="zh-CN" sz="1200" dirty="0">
                <a:solidFill>
                  <a:srgbClr val="5E9200"/>
                </a:solidFill>
                <a:latin typeface="+mn-lt"/>
              </a:rPr>
              <a:t>-schedule-policy: “mutex, numa, spread”</a:t>
            </a:r>
          </a:p>
          <a:p>
            <a:r>
              <a:rPr lang="en-US" altLang="zh-CN" sz="1200" dirty="0">
                <a:latin typeface="+mn-lt"/>
              </a:rPr>
              <a:t>  name: gpu-pod12</a:t>
            </a:r>
          </a:p>
          <a:p>
            <a:r>
              <a:rPr lang="en-US" altLang="zh-CN" sz="1200" dirty="0">
                <a:latin typeface="+mn-lt"/>
              </a:rPr>
              <a:t>spec:</a:t>
            </a:r>
          </a:p>
          <a:p>
            <a:r>
              <a:rPr lang="en-US" altLang="zh-CN" sz="1200" dirty="0">
                <a:latin typeface="+mn-lt"/>
              </a:rPr>
              <a:t>  containers:</a:t>
            </a:r>
          </a:p>
          <a:p>
            <a:r>
              <a:rPr lang="en-US" altLang="zh-CN" sz="1200" dirty="0">
                <a:latin typeface="+mn-lt"/>
              </a:rPr>
              <a:t>    - name: ubuntu-container</a:t>
            </a:r>
          </a:p>
          <a:p>
            <a:r>
              <a:rPr lang="en-US" altLang="zh-CN" sz="1200" dirty="0">
                <a:latin typeface="+mn-lt"/>
              </a:rPr>
              <a:t>      image: ubuntu:18.04</a:t>
            </a:r>
          </a:p>
          <a:p>
            <a:r>
              <a:rPr lang="en-US" altLang="zh-CN" sz="1200" dirty="0">
                <a:latin typeface="+mn-lt"/>
              </a:rPr>
              <a:t>      command: ["bash", "-c", "sleep 86400"]</a:t>
            </a:r>
          </a:p>
          <a:p>
            <a:r>
              <a:rPr lang="en-US" altLang="zh-CN" sz="1200" dirty="0">
                <a:latin typeface="+mn-lt"/>
              </a:rPr>
              <a:t>      resources:</a:t>
            </a:r>
          </a:p>
          <a:p>
            <a:r>
              <a:rPr lang="en-US" altLang="zh-CN" sz="1200" dirty="0">
                <a:latin typeface="+mn-lt"/>
              </a:rPr>
              <a:t>        limits:</a:t>
            </a:r>
          </a:p>
          <a:p>
            <a:r>
              <a:rPr lang="en-US" altLang="zh-CN" sz="1200" dirty="0">
                <a:latin typeface="+mn-lt"/>
              </a:rPr>
              <a:t>     </a:t>
            </a:r>
            <a:r>
              <a:rPr lang="en-US" altLang="zh-CN" sz="1200" b="1" dirty="0">
                <a:solidFill>
                  <a:srgbClr val="5E9200"/>
                </a:solidFill>
                <a:latin typeface="+mn-lt"/>
              </a:rPr>
              <a:t>nvidia.com/gpu: 2 # requesting 2 vGPUs</a:t>
            </a:r>
          </a:p>
          <a:p>
            <a:r>
              <a:rPr lang="en-US" altLang="zh-CN" sz="1200" b="1" dirty="0">
                <a:solidFill>
                  <a:srgbClr val="5E9200"/>
                </a:solidFill>
                <a:latin typeface="+mn-lt"/>
              </a:rPr>
              <a:t>     nvidia.com/gpumem: 10240</a:t>
            </a:r>
          </a:p>
          <a:p>
            <a:r>
              <a:rPr lang="en-US" altLang="zh-CN" sz="1200" b="1" dirty="0">
                <a:solidFill>
                  <a:srgbClr val="5E9200"/>
                </a:solidFill>
                <a:latin typeface="+mn-lt"/>
              </a:rPr>
              <a:t>     nvidia.com/gpucores: 30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7B79587-43C8-6AD8-D7D0-2A7CA9D629E3}"/>
              </a:ext>
            </a:extLst>
          </p:cNvPr>
          <p:cNvGrpSpPr/>
          <p:nvPr/>
        </p:nvGrpSpPr>
        <p:grpSpPr>
          <a:xfrm>
            <a:off x="353377" y="1126452"/>
            <a:ext cx="2809240" cy="1195705"/>
            <a:chOff x="353377" y="1126452"/>
            <a:chExt cx="2809240" cy="1195705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2EC6FC4-AF20-2ED3-C04E-5F6A7C4C7069}"/>
                </a:ext>
              </a:extLst>
            </p:cNvPr>
            <p:cNvGrpSpPr/>
            <p:nvPr/>
          </p:nvGrpSpPr>
          <p:grpSpPr>
            <a:xfrm>
              <a:off x="1658937" y="1126452"/>
              <a:ext cx="1503680" cy="1195705"/>
              <a:chOff x="6578600" y="1428246"/>
              <a:chExt cx="1503680" cy="1195705"/>
            </a:xfrm>
          </p:grpSpPr>
          <p:sp>
            <p:nvSpPr>
              <p:cNvPr id="9" name="Google Shape;173;p34">
                <a:extLst>
                  <a:ext uri="{FF2B5EF4-FFF2-40B4-BE49-F238E27FC236}">
                    <a16:creationId xmlns:a16="http://schemas.microsoft.com/office/drawing/2014/main" id="{B11CE41F-6CC6-A7A3-907B-F5A4FCAAD4A9}"/>
                  </a:ext>
                </a:extLst>
              </p:cNvPr>
              <p:cNvSpPr/>
              <p:nvPr/>
            </p:nvSpPr>
            <p:spPr>
              <a:xfrm>
                <a:off x="6578600" y="1428246"/>
                <a:ext cx="1503680" cy="495935"/>
              </a:xfrm>
              <a:prstGeom prst="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GPU  0 </a:t>
                </a: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22G idle0</a:t>
                </a: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1" name="Google Shape;174;p34">
                <a:extLst>
                  <a:ext uri="{FF2B5EF4-FFF2-40B4-BE49-F238E27FC236}">
                    <a16:creationId xmlns:a16="http://schemas.microsoft.com/office/drawing/2014/main" id="{BD1B4B63-02BA-5333-4CD2-22F216662257}"/>
                  </a:ext>
                </a:extLst>
              </p:cNvPr>
              <p:cNvSpPr/>
              <p:nvPr/>
            </p:nvSpPr>
            <p:spPr>
              <a:xfrm>
                <a:off x="6578600" y="2128016"/>
                <a:ext cx="880110" cy="495935"/>
              </a:xfrm>
              <a:prstGeom prst="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GPU 1</a:t>
                </a: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22G idle</a:t>
                </a:r>
                <a:endParaRPr kumimoji="0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3" name="Google Shape;175;p34">
                <a:extLst>
                  <a:ext uri="{FF2B5EF4-FFF2-40B4-BE49-F238E27FC236}">
                    <a16:creationId xmlns:a16="http://schemas.microsoft.com/office/drawing/2014/main" id="{27F7D165-14F9-2D16-DFBE-AD5313918F8A}"/>
                  </a:ext>
                </a:extLst>
              </p:cNvPr>
              <p:cNvSpPr/>
              <p:nvPr/>
            </p:nvSpPr>
            <p:spPr>
              <a:xfrm>
                <a:off x="7459345" y="2128016"/>
                <a:ext cx="622935" cy="495935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10G Used</a:t>
                </a:r>
                <a:endParaRPr kumimoji="0" sz="1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5" name="Google Shape;175;p34">
                <a:extLst>
                  <a:ext uri="{FF2B5EF4-FFF2-40B4-BE49-F238E27FC236}">
                    <a16:creationId xmlns:a16="http://schemas.microsoft.com/office/drawing/2014/main" id="{403ADBC4-8BCD-3862-4E61-9653E2B19211}"/>
                  </a:ext>
                </a:extLst>
              </p:cNvPr>
              <p:cNvSpPr/>
              <p:nvPr/>
            </p:nvSpPr>
            <p:spPr>
              <a:xfrm>
                <a:off x="7458710" y="1428246"/>
                <a:ext cx="622935" cy="495935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white"/>
                  </a:buClr>
                  <a:buSzPts val="900"/>
                  <a:buFont typeface="Arial" panose="020B0604020202090204"/>
                  <a:buNone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10G Used</a:t>
                </a:r>
                <a:endParaRPr kumimoji="0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5ECB99C-08EA-0759-B394-4EBBB0DCFF7C}"/>
                </a:ext>
              </a:extLst>
            </p:cNvPr>
            <p:cNvSpPr txBox="1"/>
            <p:nvPr/>
          </p:nvSpPr>
          <p:spPr>
            <a:xfrm>
              <a:off x="353377" y="1626365"/>
              <a:ext cx="130492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GPU Node</a:t>
              </a:r>
              <a:endParaRPr lang="zh-CN" altLang="en-US" dirty="0"/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E6D69029-C72F-31E2-0936-B02F824B7F53}"/>
                </a:ext>
              </a:extLst>
            </p:cNvPr>
            <p:cNvSpPr/>
            <p:nvPr/>
          </p:nvSpPr>
          <p:spPr>
            <a:xfrm>
              <a:off x="1447800" y="1304925"/>
              <a:ext cx="76200" cy="94773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2215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0F4FA-55F7-6EF2-2A6D-CE815E53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HAMi</a:t>
            </a:r>
            <a:r>
              <a:rPr lang="en-US" altLang="zh-CN" dirty="0"/>
              <a:t> Supported devices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191DED7-7338-2366-FAEA-9103572883A7}"/>
              </a:ext>
            </a:extLst>
          </p:cNvPr>
          <p:cNvSpPr/>
          <p:nvPr/>
        </p:nvSpPr>
        <p:spPr>
          <a:xfrm>
            <a:off x="178351" y="1662114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0DBC629-9C15-0E04-FF97-18401F146DCF}"/>
              </a:ext>
            </a:extLst>
          </p:cNvPr>
          <p:cNvSpPr/>
          <p:nvPr/>
        </p:nvSpPr>
        <p:spPr>
          <a:xfrm>
            <a:off x="1730926" y="1662114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E6D1A55-F358-69D5-59DD-8F1398FF9D02}"/>
              </a:ext>
            </a:extLst>
          </p:cNvPr>
          <p:cNvSpPr/>
          <p:nvPr/>
        </p:nvSpPr>
        <p:spPr>
          <a:xfrm>
            <a:off x="3283501" y="1662114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9A00EEF-94CC-9144-81D6-15AFFA41F5E9}"/>
              </a:ext>
            </a:extLst>
          </p:cNvPr>
          <p:cNvSpPr/>
          <p:nvPr/>
        </p:nvSpPr>
        <p:spPr>
          <a:xfrm>
            <a:off x="4836076" y="1662114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24E67B6-D7E3-3550-1A69-783197CAA432}"/>
              </a:ext>
            </a:extLst>
          </p:cNvPr>
          <p:cNvSpPr/>
          <p:nvPr/>
        </p:nvSpPr>
        <p:spPr>
          <a:xfrm>
            <a:off x="178350" y="2729226"/>
            <a:ext cx="1326599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CD64426-895D-FF22-4732-5C07192A177B}"/>
              </a:ext>
            </a:extLst>
          </p:cNvPr>
          <p:cNvSpPr/>
          <p:nvPr/>
        </p:nvSpPr>
        <p:spPr>
          <a:xfrm>
            <a:off x="1730926" y="2729226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0EE7452-0FC1-21DA-1A46-3E87ABCC2E1F}"/>
              </a:ext>
            </a:extLst>
          </p:cNvPr>
          <p:cNvSpPr/>
          <p:nvPr/>
        </p:nvSpPr>
        <p:spPr>
          <a:xfrm>
            <a:off x="3283501" y="2729226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8A2125B-E52B-2A0B-0F99-31186C678019}"/>
              </a:ext>
            </a:extLst>
          </p:cNvPr>
          <p:cNvSpPr/>
          <p:nvPr/>
        </p:nvSpPr>
        <p:spPr>
          <a:xfrm>
            <a:off x="4836076" y="2729226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98BE2C7-3365-209F-442F-8130A204685E}"/>
              </a:ext>
            </a:extLst>
          </p:cNvPr>
          <p:cNvSpPr/>
          <p:nvPr/>
        </p:nvSpPr>
        <p:spPr>
          <a:xfrm>
            <a:off x="178351" y="3796338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A2D4B52-7F60-EAFD-FA22-3C3E82050248}"/>
              </a:ext>
            </a:extLst>
          </p:cNvPr>
          <p:cNvSpPr/>
          <p:nvPr/>
        </p:nvSpPr>
        <p:spPr>
          <a:xfrm>
            <a:off x="1730926" y="3796338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2AFC562-3102-0838-D29C-614A881A005B}"/>
              </a:ext>
            </a:extLst>
          </p:cNvPr>
          <p:cNvSpPr/>
          <p:nvPr/>
        </p:nvSpPr>
        <p:spPr>
          <a:xfrm>
            <a:off x="3283501" y="3796338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662C28B-E750-9EE3-3E89-D819FD947292}"/>
              </a:ext>
            </a:extLst>
          </p:cNvPr>
          <p:cNvSpPr/>
          <p:nvPr/>
        </p:nvSpPr>
        <p:spPr>
          <a:xfrm>
            <a:off x="4836076" y="3796338"/>
            <a:ext cx="1326600" cy="791036"/>
          </a:xfrm>
          <a:prstGeom prst="roundRect">
            <a:avLst/>
          </a:prstGeom>
          <a:noFill/>
          <a:ln w="9525">
            <a:solidFill>
              <a:srgbClr val="77B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654C64EF-BBF7-3570-1FD2-B8D3EAD32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950027"/>
            <a:ext cx="1249105" cy="23733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24E05CD0-D6A6-272D-2622-66627C396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626" y="1815596"/>
            <a:ext cx="1276350" cy="48714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070798DC-EB43-7F49-9803-C272D86B0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746" y="1933670"/>
            <a:ext cx="1164439" cy="334908"/>
          </a:xfrm>
          <a:prstGeom prst="rect">
            <a:avLst/>
          </a:prstGeom>
        </p:spPr>
      </p:pic>
      <p:pic>
        <p:nvPicPr>
          <p:cNvPr id="47" name="图片 46" descr="Hygon">
            <a:extLst>
              <a:ext uri="{FF2B5EF4-FFF2-40B4-BE49-F238E27FC236}">
                <a16:creationId xmlns:a16="http://schemas.microsoft.com/office/drawing/2014/main" id="{16B8B51A-8179-149C-1C4B-21C5BB77F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209" y="2980276"/>
            <a:ext cx="1100065" cy="365973"/>
          </a:xfrm>
          <a:prstGeom prst="rect">
            <a:avLst/>
          </a:prstGeom>
        </p:spPr>
      </p:pic>
      <p:pic>
        <p:nvPicPr>
          <p:cNvPr id="48" name="图片 47" descr="Iluvatar">
            <a:extLst>
              <a:ext uri="{FF2B5EF4-FFF2-40B4-BE49-F238E27FC236}">
                <a16:creationId xmlns:a16="http://schemas.microsoft.com/office/drawing/2014/main" id="{5C7D6404-55E0-2A97-CD11-912DEB8E5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3216" y="2946106"/>
            <a:ext cx="1221760" cy="395380"/>
          </a:xfrm>
          <a:prstGeom prst="rect">
            <a:avLst/>
          </a:prstGeom>
        </p:spPr>
      </p:pic>
      <p:pic>
        <p:nvPicPr>
          <p:cNvPr id="49" name="图片 48" descr="Kunlunxin">
            <a:extLst>
              <a:ext uri="{FF2B5EF4-FFF2-40B4-BE49-F238E27FC236}">
                <a16:creationId xmlns:a16="http://schemas.microsoft.com/office/drawing/2014/main" id="{DC9C9DD6-098D-F92A-7F88-E73A026BF76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25"/>
          <a:stretch>
            <a:fillRect/>
          </a:stretch>
        </p:blipFill>
        <p:spPr>
          <a:xfrm>
            <a:off x="4886336" y="2927054"/>
            <a:ext cx="1184103" cy="425584"/>
          </a:xfrm>
          <a:prstGeom prst="rect">
            <a:avLst/>
          </a:prstGeom>
        </p:spPr>
      </p:pic>
      <p:pic>
        <p:nvPicPr>
          <p:cNvPr id="50" name="图片 49" descr="MetaX">
            <a:extLst>
              <a:ext uri="{FF2B5EF4-FFF2-40B4-BE49-F238E27FC236}">
                <a16:creationId xmlns:a16="http://schemas.microsoft.com/office/drawing/2014/main" id="{C436006C-B70B-5264-1B87-8F418A1E90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89" y="4012867"/>
            <a:ext cx="1200919" cy="291300"/>
          </a:xfrm>
          <a:prstGeom prst="rect">
            <a:avLst/>
          </a:prstGeom>
        </p:spPr>
      </p:pic>
      <p:pic>
        <p:nvPicPr>
          <p:cNvPr id="51" name="图片 50" descr="Moore Threads">
            <a:extLst>
              <a:ext uri="{FF2B5EF4-FFF2-40B4-BE49-F238E27FC236}">
                <a16:creationId xmlns:a16="http://schemas.microsoft.com/office/drawing/2014/main" id="{65B985F1-8DE3-6F95-FBD0-6C521373D2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0926" y="4022391"/>
            <a:ext cx="1295195" cy="368632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3E498F69-1C44-8C1A-CEE9-E8CD4E82D0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9304" y="4091796"/>
            <a:ext cx="838200" cy="20012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22853DC8-6984-CF38-C1CF-98B3197278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3084" y="4024694"/>
            <a:ext cx="1147762" cy="327932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EB825FEF-E3C0-7031-7AA7-BE6355F3A5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3893" y="1830200"/>
            <a:ext cx="871364" cy="513269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BBBEBF9F-5CFD-01D3-FB11-DA9B232511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5478" y="2801489"/>
            <a:ext cx="1146213" cy="5846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05D5BD-29F5-8497-4C15-B3953581CD9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2936" y="2014539"/>
            <a:ext cx="2801809" cy="207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0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0CDDB-6E95-650A-F8AF-54ADA4B79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HAMi: Use Cases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98DC8B9-04BA-133E-E6EC-724E7E9736AC}"/>
              </a:ext>
            </a:extLst>
          </p:cNvPr>
          <p:cNvGrpSpPr/>
          <p:nvPr/>
        </p:nvGrpSpPr>
        <p:grpSpPr>
          <a:xfrm>
            <a:off x="1438228" y="2016006"/>
            <a:ext cx="2455023" cy="2110979"/>
            <a:chOff x="2005012" y="2016006"/>
            <a:chExt cx="2455023" cy="2110979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05FF302-A44E-466A-40B8-797E6E4E1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012" y="2016006"/>
              <a:ext cx="2455023" cy="703660"/>
            </a:xfrm>
            <a:custGeom>
              <a:avLst/>
              <a:gdLst>
                <a:gd name="T0" fmla="*/ 2260 w 2538"/>
                <a:gd name="T1" fmla="*/ 591 h 591"/>
                <a:gd name="T2" fmla="*/ 2400 w 2538"/>
                <a:gd name="T3" fmla="*/ 443 h 591"/>
                <a:gd name="T4" fmla="*/ 2538 w 2538"/>
                <a:gd name="T5" fmla="*/ 296 h 591"/>
                <a:gd name="T6" fmla="*/ 2400 w 2538"/>
                <a:gd name="T7" fmla="*/ 148 h 591"/>
                <a:gd name="T8" fmla="*/ 2260 w 2538"/>
                <a:gd name="T9" fmla="*/ 0 h 591"/>
                <a:gd name="T10" fmla="*/ 2260 w 2538"/>
                <a:gd name="T11" fmla="*/ 0 h 591"/>
                <a:gd name="T12" fmla="*/ 0 w 2538"/>
                <a:gd name="T13" fmla="*/ 0 h 591"/>
                <a:gd name="T14" fmla="*/ 0 w 2538"/>
                <a:gd name="T15" fmla="*/ 591 h 591"/>
                <a:gd name="T16" fmla="*/ 2260 w 2538"/>
                <a:gd name="T17" fmla="*/ 591 h 591"/>
                <a:gd name="T18" fmla="*/ 2260 w 2538"/>
                <a:gd name="T19" fmla="*/ 591 h 591"/>
                <a:gd name="T20" fmla="*/ 2260 w 2538"/>
                <a:gd name="T21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38" h="591">
                  <a:moveTo>
                    <a:pt x="2260" y="591"/>
                  </a:moveTo>
                  <a:lnTo>
                    <a:pt x="2400" y="443"/>
                  </a:lnTo>
                  <a:lnTo>
                    <a:pt x="2538" y="296"/>
                  </a:lnTo>
                  <a:lnTo>
                    <a:pt x="2400" y="148"/>
                  </a:lnTo>
                  <a:lnTo>
                    <a:pt x="2260" y="0"/>
                  </a:lnTo>
                  <a:lnTo>
                    <a:pt x="2260" y="0"/>
                  </a:lnTo>
                  <a:lnTo>
                    <a:pt x="0" y="0"/>
                  </a:lnTo>
                  <a:lnTo>
                    <a:pt x="0" y="591"/>
                  </a:lnTo>
                  <a:lnTo>
                    <a:pt x="2260" y="591"/>
                  </a:lnTo>
                  <a:lnTo>
                    <a:pt x="2260" y="591"/>
                  </a:lnTo>
                  <a:lnTo>
                    <a:pt x="2260" y="591"/>
                  </a:lnTo>
                  <a:close/>
                </a:path>
              </a:pathLst>
            </a:custGeom>
            <a:solidFill>
              <a:srgbClr val="083E4F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5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00FEAC4-9970-47F8-335E-119814198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012" y="2719665"/>
              <a:ext cx="2455023" cy="703660"/>
            </a:xfrm>
            <a:custGeom>
              <a:avLst/>
              <a:gdLst>
                <a:gd name="T0" fmla="*/ 0 w 2538"/>
                <a:gd name="T1" fmla="*/ 0 h 591"/>
                <a:gd name="T2" fmla="*/ 0 w 2538"/>
                <a:gd name="T3" fmla="*/ 591 h 591"/>
                <a:gd name="T4" fmla="*/ 2260 w 2538"/>
                <a:gd name="T5" fmla="*/ 591 h 591"/>
                <a:gd name="T6" fmla="*/ 2260 w 2538"/>
                <a:gd name="T7" fmla="*/ 591 h 591"/>
                <a:gd name="T8" fmla="*/ 2260 w 2538"/>
                <a:gd name="T9" fmla="*/ 591 h 591"/>
                <a:gd name="T10" fmla="*/ 2400 w 2538"/>
                <a:gd name="T11" fmla="*/ 443 h 591"/>
                <a:gd name="T12" fmla="*/ 2538 w 2538"/>
                <a:gd name="T13" fmla="*/ 295 h 591"/>
                <a:gd name="T14" fmla="*/ 2400 w 2538"/>
                <a:gd name="T15" fmla="*/ 148 h 591"/>
                <a:gd name="T16" fmla="*/ 2260 w 2538"/>
                <a:gd name="T17" fmla="*/ 0 h 591"/>
                <a:gd name="T18" fmla="*/ 2260 w 2538"/>
                <a:gd name="T19" fmla="*/ 0 h 591"/>
                <a:gd name="T20" fmla="*/ 0 w 2538"/>
                <a:gd name="T21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38" h="591">
                  <a:moveTo>
                    <a:pt x="0" y="0"/>
                  </a:moveTo>
                  <a:lnTo>
                    <a:pt x="0" y="591"/>
                  </a:lnTo>
                  <a:lnTo>
                    <a:pt x="2260" y="591"/>
                  </a:lnTo>
                  <a:lnTo>
                    <a:pt x="2260" y="591"/>
                  </a:lnTo>
                  <a:lnTo>
                    <a:pt x="2260" y="591"/>
                  </a:lnTo>
                  <a:lnTo>
                    <a:pt x="2400" y="443"/>
                  </a:lnTo>
                  <a:lnTo>
                    <a:pt x="2538" y="295"/>
                  </a:lnTo>
                  <a:lnTo>
                    <a:pt x="2400" y="148"/>
                  </a:lnTo>
                  <a:lnTo>
                    <a:pt x="2260" y="0"/>
                  </a:lnTo>
                  <a:lnTo>
                    <a:pt x="2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724384-A2A5-481B-66F1-8109FDEB8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012" y="3423325"/>
              <a:ext cx="2455023" cy="703660"/>
            </a:xfrm>
            <a:custGeom>
              <a:avLst/>
              <a:gdLst>
                <a:gd name="T0" fmla="*/ 0 w 2538"/>
                <a:gd name="T1" fmla="*/ 0 h 591"/>
                <a:gd name="T2" fmla="*/ 0 w 2538"/>
                <a:gd name="T3" fmla="*/ 591 h 591"/>
                <a:gd name="T4" fmla="*/ 2260 w 2538"/>
                <a:gd name="T5" fmla="*/ 591 h 591"/>
                <a:gd name="T6" fmla="*/ 2260 w 2538"/>
                <a:gd name="T7" fmla="*/ 591 h 591"/>
                <a:gd name="T8" fmla="*/ 2260 w 2538"/>
                <a:gd name="T9" fmla="*/ 589 h 591"/>
                <a:gd name="T10" fmla="*/ 2400 w 2538"/>
                <a:gd name="T11" fmla="*/ 443 h 591"/>
                <a:gd name="T12" fmla="*/ 2538 w 2538"/>
                <a:gd name="T13" fmla="*/ 295 h 591"/>
                <a:gd name="T14" fmla="*/ 2400 w 2538"/>
                <a:gd name="T15" fmla="*/ 148 h 591"/>
                <a:gd name="T16" fmla="*/ 2260 w 2538"/>
                <a:gd name="T17" fmla="*/ 0 h 591"/>
                <a:gd name="T18" fmla="*/ 2260 w 2538"/>
                <a:gd name="T19" fmla="*/ 0 h 591"/>
                <a:gd name="T20" fmla="*/ 0 w 2538"/>
                <a:gd name="T21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38" h="591">
                  <a:moveTo>
                    <a:pt x="0" y="0"/>
                  </a:moveTo>
                  <a:lnTo>
                    <a:pt x="0" y="591"/>
                  </a:lnTo>
                  <a:lnTo>
                    <a:pt x="2260" y="591"/>
                  </a:lnTo>
                  <a:lnTo>
                    <a:pt x="2260" y="591"/>
                  </a:lnTo>
                  <a:lnTo>
                    <a:pt x="2260" y="589"/>
                  </a:lnTo>
                  <a:lnTo>
                    <a:pt x="2400" y="443"/>
                  </a:lnTo>
                  <a:lnTo>
                    <a:pt x="2538" y="295"/>
                  </a:lnTo>
                  <a:lnTo>
                    <a:pt x="2400" y="148"/>
                  </a:lnTo>
                  <a:lnTo>
                    <a:pt x="2260" y="0"/>
                  </a:lnTo>
                  <a:lnTo>
                    <a:pt x="2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B9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50" dirty="0"/>
            </a:p>
          </p:txBody>
        </p:sp>
      </p:grpSp>
      <p:sp>
        <p:nvSpPr>
          <p:cNvPr id="11" name="Freeform 15">
            <a:extLst>
              <a:ext uri="{FF2B5EF4-FFF2-40B4-BE49-F238E27FC236}">
                <a16:creationId xmlns:a16="http://schemas.microsoft.com/office/drawing/2014/main" id="{FEBA2CF2-5D6B-D112-BD57-8B48DCC9D2EF}"/>
              </a:ext>
            </a:extLst>
          </p:cNvPr>
          <p:cNvSpPr>
            <a:spLocks/>
          </p:cNvSpPr>
          <p:nvPr/>
        </p:nvSpPr>
        <p:spPr bwMode="auto">
          <a:xfrm>
            <a:off x="807199" y="2016006"/>
            <a:ext cx="631031" cy="841772"/>
          </a:xfrm>
          <a:custGeom>
            <a:avLst/>
            <a:gdLst>
              <a:gd name="T0" fmla="*/ 530 w 530"/>
              <a:gd name="T1" fmla="*/ 0 h 707"/>
              <a:gd name="T2" fmla="*/ 0 w 530"/>
              <a:gd name="T3" fmla="*/ 292 h 707"/>
              <a:gd name="T4" fmla="*/ 0 w 530"/>
              <a:gd name="T5" fmla="*/ 707 h 707"/>
              <a:gd name="T6" fmla="*/ 530 w 530"/>
              <a:gd name="T7" fmla="*/ 591 h 707"/>
              <a:gd name="T8" fmla="*/ 530 w 530"/>
              <a:gd name="T9" fmla="*/ 0 h 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707">
                <a:moveTo>
                  <a:pt x="530" y="0"/>
                </a:moveTo>
                <a:lnTo>
                  <a:pt x="0" y="292"/>
                </a:lnTo>
                <a:lnTo>
                  <a:pt x="0" y="707"/>
                </a:lnTo>
                <a:lnTo>
                  <a:pt x="530" y="591"/>
                </a:lnTo>
                <a:lnTo>
                  <a:pt x="530" y="0"/>
                </a:lnTo>
                <a:close/>
              </a:path>
            </a:pathLst>
          </a:custGeom>
          <a:solidFill>
            <a:srgbClr val="073847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05B09573-3C21-FE0A-3984-75D6BD9E3FCC}"/>
              </a:ext>
            </a:extLst>
          </p:cNvPr>
          <p:cNvSpPr>
            <a:spLocks/>
          </p:cNvSpPr>
          <p:nvPr/>
        </p:nvSpPr>
        <p:spPr bwMode="auto">
          <a:xfrm>
            <a:off x="807199" y="2718077"/>
            <a:ext cx="631031" cy="703660"/>
          </a:xfrm>
          <a:custGeom>
            <a:avLst/>
            <a:gdLst>
              <a:gd name="T0" fmla="*/ 530 w 530"/>
              <a:gd name="T1" fmla="*/ 0 h 591"/>
              <a:gd name="T2" fmla="*/ 0 w 530"/>
              <a:gd name="T3" fmla="*/ 116 h 591"/>
              <a:gd name="T4" fmla="*/ 0 w 530"/>
              <a:gd name="T5" fmla="*/ 475 h 591"/>
              <a:gd name="T6" fmla="*/ 530 w 530"/>
              <a:gd name="T7" fmla="*/ 591 h 591"/>
              <a:gd name="T8" fmla="*/ 530 w 530"/>
              <a:gd name="T9" fmla="*/ 0 h 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591">
                <a:moveTo>
                  <a:pt x="530" y="0"/>
                </a:moveTo>
                <a:lnTo>
                  <a:pt x="0" y="116"/>
                </a:lnTo>
                <a:lnTo>
                  <a:pt x="0" y="475"/>
                </a:lnTo>
                <a:lnTo>
                  <a:pt x="530" y="591"/>
                </a:lnTo>
                <a:lnTo>
                  <a:pt x="53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BA43178B-D094-D904-4057-51E7C1B806C2}"/>
              </a:ext>
            </a:extLst>
          </p:cNvPr>
          <p:cNvSpPr>
            <a:spLocks/>
          </p:cNvSpPr>
          <p:nvPr/>
        </p:nvSpPr>
        <p:spPr bwMode="auto">
          <a:xfrm>
            <a:off x="807199" y="3282036"/>
            <a:ext cx="631031" cy="841772"/>
          </a:xfrm>
          <a:custGeom>
            <a:avLst/>
            <a:gdLst>
              <a:gd name="T0" fmla="*/ 530 w 530"/>
              <a:gd name="T1" fmla="*/ 116 h 707"/>
              <a:gd name="T2" fmla="*/ 0 w 530"/>
              <a:gd name="T3" fmla="*/ 0 h 707"/>
              <a:gd name="T4" fmla="*/ 0 w 530"/>
              <a:gd name="T5" fmla="*/ 414 h 707"/>
              <a:gd name="T6" fmla="*/ 530 w 530"/>
              <a:gd name="T7" fmla="*/ 707 h 707"/>
              <a:gd name="T8" fmla="*/ 530 w 530"/>
              <a:gd name="T9" fmla="*/ 116 h 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0" h="707">
                <a:moveTo>
                  <a:pt x="530" y="116"/>
                </a:moveTo>
                <a:lnTo>
                  <a:pt x="0" y="0"/>
                </a:lnTo>
                <a:lnTo>
                  <a:pt x="0" y="414"/>
                </a:lnTo>
                <a:lnTo>
                  <a:pt x="530" y="707"/>
                </a:lnTo>
                <a:lnTo>
                  <a:pt x="530" y="116"/>
                </a:lnTo>
                <a:close/>
              </a:path>
            </a:pathLst>
          </a:custGeom>
          <a:solidFill>
            <a:srgbClr val="5E9200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/>
          </a:p>
        </p:txBody>
      </p:sp>
      <p:sp>
        <p:nvSpPr>
          <p:cNvPr id="23" name="Rectangle 134">
            <a:extLst>
              <a:ext uri="{FF2B5EF4-FFF2-40B4-BE49-F238E27FC236}">
                <a16:creationId xmlns:a16="http://schemas.microsoft.com/office/drawing/2014/main" id="{87C2630B-89DD-56B8-19B1-B5503A55CE81}"/>
              </a:ext>
            </a:extLst>
          </p:cNvPr>
          <p:cNvSpPr/>
          <p:nvPr/>
        </p:nvSpPr>
        <p:spPr>
          <a:xfrm>
            <a:off x="0" y="2363668"/>
            <a:ext cx="807198" cy="4968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5" name="Rectangle 135">
            <a:extLst>
              <a:ext uri="{FF2B5EF4-FFF2-40B4-BE49-F238E27FC236}">
                <a16:creationId xmlns:a16="http://schemas.microsoft.com/office/drawing/2014/main" id="{C7AAE7E2-A71F-913C-C808-45D8575DF218}"/>
              </a:ext>
            </a:extLst>
          </p:cNvPr>
          <p:cNvSpPr/>
          <p:nvPr/>
        </p:nvSpPr>
        <p:spPr>
          <a:xfrm>
            <a:off x="0" y="2857777"/>
            <a:ext cx="807198" cy="4274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7" name="Rectangle 136">
            <a:extLst>
              <a:ext uri="{FF2B5EF4-FFF2-40B4-BE49-F238E27FC236}">
                <a16:creationId xmlns:a16="http://schemas.microsoft.com/office/drawing/2014/main" id="{08E2D91F-41C4-260A-B80C-ABD42C6ACDDC}"/>
              </a:ext>
            </a:extLst>
          </p:cNvPr>
          <p:cNvSpPr/>
          <p:nvPr/>
        </p:nvSpPr>
        <p:spPr>
          <a:xfrm>
            <a:off x="0" y="3285212"/>
            <a:ext cx="807198" cy="496855"/>
          </a:xfrm>
          <a:prstGeom prst="rect">
            <a:avLst/>
          </a:prstGeom>
          <a:solidFill>
            <a:srgbClr val="77B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9A3FDFB-E685-A8DD-A46F-20F4154CE3B7}"/>
              </a:ext>
            </a:extLst>
          </p:cNvPr>
          <p:cNvGrpSpPr/>
          <p:nvPr/>
        </p:nvGrpSpPr>
        <p:grpSpPr>
          <a:xfrm>
            <a:off x="1545386" y="2221737"/>
            <a:ext cx="2124863" cy="1699518"/>
            <a:chOff x="2247112" y="2226819"/>
            <a:chExt cx="2124863" cy="1699518"/>
          </a:xfrm>
        </p:grpSpPr>
        <p:sp>
          <p:nvSpPr>
            <p:cNvPr id="17" name="Rectangle 104">
              <a:extLst>
                <a:ext uri="{FF2B5EF4-FFF2-40B4-BE49-F238E27FC236}">
                  <a16:creationId xmlns:a16="http://schemas.microsoft.com/office/drawing/2014/main" id="{895BACAC-F259-E984-CE86-9B8794B4365E}"/>
                </a:ext>
              </a:extLst>
            </p:cNvPr>
            <p:cNvSpPr/>
            <p:nvPr/>
          </p:nvSpPr>
          <p:spPr>
            <a:xfrm>
              <a:off x="2247112" y="2226819"/>
              <a:ext cx="2124863" cy="28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75" dirty="0">
                  <a:solidFill>
                    <a:schemeClr val="bg1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Traditional Models</a:t>
              </a:r>
            </a:p>
          </p:txBody>
        </p:sp>
        <p:sp>
          <p:nvSpPr>
            <p:cNvPr id="19" name="Rectangle 105">
              <a:extLst>
                <a:ext uri="{FF2B5EF4-FFF2-40B4-BE49-F238E27FC236}">
                  <a16:creationId xmlns:a16="http://schemas.microsoft.com/office/drawing/2014/main" id="{38DB8142-B776-026F-6338-38D169A4FD1D}"/>
                </a:ext>
              </a:extLst>
            </p:cNvPr>
            <p:cNvSpPr/>
            <p:nvPr/>
          </p:nvSpPr>
          <p:spPr>
            <a:xfrm>
              <a:off x="2247113" y="2927223"/>
              <a:ext cx="2124862" cy="28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75" dirty="0">
                  <a:solidFill>
                    <a:schemeClr val="bg1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LLM Inference Cluster</a:t>
              </a:r>
            </a:p>
          </p:txBody>
        </p:sp>
        <p:sp>
          <p:nvSpPr>
            <p:cNvPr id="21" name="Rectangle 106">
              <a:extLst>
                <a:ext uri="{FF2B5EF4-FFF2-40B4-BE49-F238E27FC236}">
                  <a16:creationId xmlns:a16="http://schemas.microsoft.com/office/drawing/2014/main" id="{BACE2575-487B-1ED3-4B7C-B3C0C3CB244F}"/>
                </a:ext>
              </a:extLst>
            </p:cNvPr>
            <p:cNvSpPr/>
            <p:nvPr/>
          </p:nvSpPr>
          <p:spPr>
            <a:xfrm>
              <a:off x="2247113" y="3637796"/>
              <a:ext cx="2124862" cy="28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1275" dirty="0">
                  <a:solidFill>
                    <a:schemeClr val="bg1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Heterogeneous cluster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F2F0A859-88BD-DD4A-D2B0-7031DB2EBC9B}"/>
              </a:ext>
            </a:extLst>
          </p:cNvPr>
          <p:cNvSpPr txBox="1"/>
          <p:nvPr/>
        </p:nvSpPr>
        <p:spPr>
          <a:xfrm>
            <a:off x="4300538" y="2209779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A/B Testing, Embedding, RL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FC7C4CE-ACB0-BDA9-2505-70441B9516ED}"/>
              </a:ext>
            </a:extLst>
          </p:cNvPr>
          <p:cNvSpPr txBox="1"/>
          <p:nvPr/>
        </p:nvSpPr>
        <p:spPr>
          <a:xfrm>
            <a:off x="4300538" y="2912522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mooncake, </a:t>
            </a:r>
            <a:r>
              <a:rPr lang="en-US" altLang="zh-CN" dirty="0" err="1">
                <a:solidFill>
                  <a:srgbClr val="0070C0"/>
                </a:solidFill>
              </a:rPr>
              <a:t>llm</a:t>
            </a:r>
            <a:r>
              <a:rPr lang="en-US" altLang="zh-CN" dirty="0">
                <a:solidFill>
                  <a:srgbClr val="0070C0"/>
                </a:solidFill>
              </a:rPr>
              <a:t>-d, dynamo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B6E2BEE-A808-8D62-C054-B1913548B5A1}"/>
              </a:ext>
            </a:extLst>
          </p:cNvPr>
          <p:cNvSpPr txBox="1"/>
          <p:nvPr/>
        </p:nvSpPr>
        <p:spPr>
          <a:xfrm>
            <a:off x="4300538" y="3621266"/>
            <a:ext cx="297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7B900"/>
                </a:solidFill>
              </a:rPr>
              <a:t>Ascend 910X, </a:t>
            </a:r>
            <a:r>
              <a:rPr lang="en-US" altLang="zh-CN" dirty="0" err="1">
                <a:solidFill>
                  <a:srgbClr val="77B900"/>
                </a:solidFill>
              </a:rPr>
              <a:t>MetaX+Nvidia</a:t>
            </a:r>
            <a:endParaRPr lang="en-US" altLang="zh-CN" dirty="0">
              <a:solidFill>
                <a:srgbClr val="77B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6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0FFDD-BD12-491E-0D23-6E740431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HAMi in LLM inference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66B42B-413C-761F-6EA0-732AD2C5F1A3}"/>
              </a:ext>
            </a:extLst>
          </p:cNvPr>
          <p:cNvSpPr>
            <a:spLocks noGrp="1"/>
          </p:cNvSpPr>
          <p:nvPr/>
        </p:nvSpPr>
        <p:spPr>
          <a:xfrm>
            <a:off x="1347238" y="1404937"/>
            <a:ext cx="1544955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dirty="0">
                <a:solidFill>
                  <a:srgbClr val="0B4655"/>
                </a:solidFill>
              </a:rPr>
              <a:t>POST-API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9A47F53-9CD1-BD0A-B849-F5A7666C1B27}"/>
              </a:ext>
            </a:extLst>
          </p:cNvPr>
          <p:cNvSpPr/>
          <p:nvPr/>
        </p:nvSpPr>
        <p:spPr>
          <a:xfrm>
            <a:off x="895913" y="2428240"/>
            <a:ext cx="7379807" cy="742950"/>
          </a:xfrm>
          <a:prstGeom prst="roundRect">
            <a:avLst/>
          </a:prstGeom>
          <a:solidFill>
            <a:srgbClr val="F0FFD5"/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51EC7F-3597-B4EF-C5BB-D116AC171F71}"/>
              </a:ext>
            </a:extLst>
          </p:cNvPr>
          <p:cNvSpPr>
            <a:spLocks noGrp="1"/>
          </p:cNvSpPr>
          <p:nvPr/>
        </p:nvSpPr>
        <p:spPr>
          <a:xfrm>
            <a:off x="3868505" y="1420812"/>
            <a:ext cx="2085023" cy="57213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llm-d router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A161A9-5FFC-E002-0697-3FF28A994D94}"/>
              </a:ext>
            </a:extLst>
          </p:cNvPr>
          <p:cNvSpPr>
            <a:spLocks noGrp="1"/>
          </p:cNvSpPr>
          <p:nvPr/>
        </p:nvSpPr>
        <p:spPr>
          <a:xfrm>
            <a:off x="1347238" y="2594927"/>
            <a:ext cx="1544955" cy="40513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Prefill</a:t>
            </a: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CA05AB-1721-9E1C-0F50-C2FE5A844363}"/>
              </a:ext>
            </a:extLst>
          </p:cNvPr>
          <p:cNvSpPr>
            <a:spLocks noGrp="1"/>
          </p:cNvSpPr>
          <p:nvPr/>
        </p:nvSpPr>
        <p:spPr>
          <a:xfrm>
            <a:off x="3868505" y="2543492"/>
            <a:ext cx="2085023" cy="4972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0B4655"/>
                </a:solidFill>
              </a:defRPr>
            </a:pPr>
            <a:r>
              <a:rPr sz="1350" b="1">
                <a:solidFill>
                  <a:srgbClr val="0B4655"/>
                </a:solidFill>
              </a:rPr>
              <a:t>Decode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8A27D98-76CD-972F-838C-0DF18DC4539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892193" y="1706880"/>
            <a:ext cx="976312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9">
            <a:extLst>
              <a:ext uri="{FF2B5EF4-FFF2-40B4-BE49-F238E27FC236}">
                <a16:creationId xmlns:a16="http://schemas.microsoft.com/office/drawing/2014/main" id="{CCD35512-84E9-D0C0-46DC-0902D881794E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4911017" y="1992947"/>
            <a:ext cx="0" cy="55054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29A1D72-6759-0836-15DA-01A38C7B284E}"/>
              </a:ext>
            </a:extLst>
          </p:cNvPr>
          <p:cNvSpPr>
            <a:spLocks noGrp="1"/>
          </p:cNvSpPr>
          <p:nvPr/>
        </p:nvSpPr>
        <p:spPr>
          <a:xfrm>
            <a:off x="3868505" y="3335972"/>
            <a:ext cx="2085021" cy="604520"/>
          </a:xfrm>
          <a:prstGeom prst="rect">
            <a:avLst/>
          </a:prstGeom>
          <a:solidFill>
            <a:srgbClr val="77B900"/>
          </a:solidFill>
          <a:ln w="11430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 dirty="0">
                <a:solidFill>
                  <a:srgbClr val="FFFFFF"/>
                </a:solidFill>
              </a:rPr>
              <a:t>HAMi Plugin</a:t>
            </a:r>
            <a:endParaRPr dirty="0"/>
          </a:p>
        </p:txBody>
      </p:sp>
      <p:cxnSp>
        <p:nvCxnSpPr>
          <p:cNvPr id="11" name="直接箭头连接符 12">
            <a:extLst>
              <a:ext uri="{FF2B5EF4-FFF2-40B4-BE49-F238E27FC236}">
                <a16:creationId xmlns:a16="http://schemas.microsoft.com/office/drawing/2014/main" id="{2934C2FA-92AF-3FD2-A6EB-D1C674B52BB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911016" y="3040697"/>
            <a:ext cx="1" cy="29527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01C5F94-6FE1-3513-CE18-B61C756A4BFB}"/>
              </a:ext>
            </a:extLst>
          </p:cNvPr>
          <p:cNvSpPr>
            <a:spLocks noGrp="1"/>
          </p:cNvSpPr>
          <p:nvPr/>
        </p:nvSpPr>
        <p:spPr>
          <a:xfrm>
            <a:off x="1347238" y="4249101"/>
            <a:ext cx="1544955" cy="6038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C2C9C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56616A"/>
                </a:solidFill>
              </a:defRPr>
            </a:pPr>
            <a:r>
              <a:rPr sz="1350" b="1" dirty="0">
                <a:solidFill>
                  <a:srgbClr val="56616A"/>
                </a:solidFill>
              </a:rPr>
              <a:t>GPU</a:t>
            </a:r>
            <a:endParaRPr dirty="0"/>
          </a:p>
        </p:txBody>
      </p:sp>
      <p:cxnSp>
        <p:nvCxnSpPr>
          <p:cNvPr id="13" name="直接箭头连接符 48">
            <a:extLst>
              <a:ext uri="{FF2B5EF4-FFF2-40B4-BE49-F238E27FC236}">
                <a16:creationId xmlns:a16="http://schemas.microsoft.com/office/drawing/2014/main" id="{A4D28ACE-B1D2-CEA6-4E6F-9744BC8CE149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 flipH="1">
            <a:off x="4911015" y="3940492"/>
            <a:ext cx="1" cy="30860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49">
            <a:extLst>
              <a:ext uri="{FF2B5EF4-FFF2-40B4-BE49-F238E27FC236}">
                <a16:creationId xmlns:a16="http://schemas.microsoft.com/office/drawing/2014/main" id="{001B8B5E-5262-EB37-4A9C-C2C9B66FE9BF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2119716" y="3000057"/>
            <a:ext cx="0" cy="1249044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B960D38-A25A-7D77-1C4D-217CCC366A74}"/>
              </a:ext>
            </a:extLst>
          </p:cNvPr>
          <p:cNvSpPr>
            <a:spLocks noGrp="1"/>
          </p:cNvSpPr>
          <p:nvPr/>
        </p:nvSpPr>
        <p:spPr>
          <a:xfrm>
            <a:off x="3868505" y="4249100"/>
            <a:ext cx="2085019" cy="603885"/>
          </a:xfrm>
          <a:prstGeom prst="rect">
            <a:avLst/>
          </a:prstGeom>
          <a:noFill/>
          <a:ln w="28575">
            <a:solidFill>
              <a:srgbClr val="77B9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350" b="1">
                <a:solidFill>
                  <a:srgbClr val="56616A"/>
                </a:solidFill>
              </a:defRPr>
            </a:pPr>
            <a:r>
              <a:rPr sz="1350" b="1" dirty="0">
                <a:solidFill>
                  <a:srgbClr val="5E9200"/>
                </a:solidFill>
              </a:rPr>
              <a:t>GPU Slice</a:t>
            </a:r>
            <a:endParaRPr dirty="0">
              <a:solidFill>
                <a:srgbClr val="5E9200"/>
              </a:solidFill>
            </a:endParaRPr>
          </a:p>
        </p:txBody>
      </p:sp>
      <p:cxnSp>
        <p:nvCxnSpPr>
          <p:cNvPr id="16" name="直接箭头连接符 6">
            <a:extLst>
              <a:ext uri="{FF2B5EF4-FFF2-40B4-BE49-F238E27FC236}">
                <a16:creationId xmlns:a16="http://schemas.microsoft.com/office/drawing/2014/main" id="{1D26C04A-915E-527A-A542-2BC91C2BC32D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2892193" y="2792095"/>
            <a:ext cx="976312" cy="539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DACF3BC7-E154-16C9-AF91-991F6E90C73D}"/>
              </a:ext>
            </a:extLst>
          </p:cNvPr>
          <p:cNvSpPr txBox="1"/>
          <p:nvPr/>
        </p:nvSpPr>
        <p:spPr>
          <a:xfrm>
            <a:off x="6423111" y="2638205"/>
            <a:ext cx="1852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5E9200"/>
                </a:solidFill>
              </a:rPr>
              <a:t>HAMi Scheduler</a:t>
            </a:r>
          </a:p>
        </p:txBody>
      </p:sp>
    </p:spTree>
    <p:extLst>
      <p:ext uri="{BB962C8B-B14F-4D97-AF65-F5344CB8AC3E}">
        <p14:creationId xmlns:p14="http://schemas.microsoft.com/office/powerpoint/2010/main" val="75627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6137-925A-56C4-3E94-326B2732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Volcano + HAMi</a:t>
            </a:r>
            <a:endParaRPr lang="zh-CN" altLang="en-US" dirty="0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7A7AAFF-E20E-76B4-4AFD-8552CD0C4409}"/>
              </a:ext>
            </a:extLst>
          </p:cNvPr>
          <p:cNvGrpSpPr/>
          <p:nvPr/>
        </p:nvGrpSpPr>
        <p:grpSpPr>
          <a:xfrm>
            <a:off x="5319689" y="1282652"/>
            <a:ext cx="2985829" cy="2053078"/>
            <a:chOff x="4901309" y="1819277"/>
            <a:chExt cx="2985829" cy="2053078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8294530D-157D-BC2F-2CBF-5F6F9037EDAC}"/>
                </a:ext>
              </a:extLst>
            </p:cNvPr>
            <p:cNvSpPr/>
            <p:nvPr/>
          </p:nvSpPr>
          <p:spPr>
            <a:xfrm>
              <a:off x="4901309" y="1819277"/>
              <a:ext cx="2985829" cy="2053078"/>
            </a:xfrm>
            <a:prstGeom prst="roundRect">
              <a:avLst>
                <a:gd name="adj" fmla="val 12857"/>
              </a:avLst>
            </a:prstGeom>
            <a:solidFill>
              <a:srgbClr val="EFF2F6"/>
            </a:solidFill>
            <a:ln w="12700">
              <a:miter lim="400000"/>
            </a:ln>
          </p:spPr>
          <p:txBody>
            <a:bodyPr lIns="45718" tIns="45718" rIns="45718" bIns="45718" anchor="ctr"/>
            <a:lstStyle/>
            <a:p>
              <a:pPr algn="ctr">
                <a:defRPr sz="16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3CA426C-B323-E8AD-B69A-E4D0EF6E3849}"/>
                </a:ext>
              </a:extLst>
            </p:cNvPr>
            <p:cNvSpPr txBox="1"/>
            <p:nvPr/>
          </p:nvSpPr>
          <p:spPr>
            <a:xfrm>
              <a:off x="4959895" y="1882040"/>
              <a:ext cx="288394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latin typeface="+mn-lt"/>
                </a:rPr>
                <a:t>$ cat &lt;&lt;EOF | </a:t>
              </a:r>
              <a:r>
                <a:rPr lang="en-US" altLang="zh-CN" sz="800" dirty="0" err="1">
                  <a:latin typeface="+mn-lt"/>
                </a:rPr>
                <a:t>kubectl</a:t>
              </a:r>
              <a:r>
                <a:rPr lang="en-US" altLang="zh-CN" sz="800" dirty="0">
                  <a:latin typeface="+mn-lt"/>
                </a:rPr>
                <a:t> apply -f -</a:t>
              </a:r>
            </a:p>
            <a:p>
              <a:r>
                <a:rPr lang="en-US" altLang="zh-CN" sz="800" dirty="0" err="1">
                  <a:latin typeface="+mn-lt"/>
                </a:rPr>
                <a:t>apiVersion</a:t>
              </a:r>
              <a:r>
                <a:rPr lang="en-US" altLang="zh-CN" sz="800" dirty="0">
                  <a:latin typeface="+mn-lt"/>
                </a:rPr>
                <a:t>: v1</a:t>
              </a:r>
            </a:p>
            <a:p>
              <a:r>
                <a:rPr lang="en-US" altLang="zh-CN" sz="800" dirty="0">
                  <a:latin typeface="+mn-lt"/>
                </a:rPr>
                <a:t>kind: Pod</a:t>
              </a:r>
            </a:p>
            <a:p>
              <a:r>
                <a:rPr lang="en-US" altLang="zh-CN" sz="800" dirty="0">
                  <a:latin typeface="+mn-lt"/>
                </a:rPr>
                <a:t>metadata:</a:t>
              </a:r>
            </a:p>
            <a:p>
              <a:r>
                <a:rPr lang="en-US" altLang="zh-CN" sz="800" dirty="0">
                  <a:latin typeface="+mn-lt"/>
                </a:rPr>
                <a:t>  name: gpu-pod12</a:t>
              </a:r>
            </a:p>
            <a:p>
              <a:r>
                <a:rPr lang="en-US" altLang="zh-CN" sz="800" dirty="0">
                  <a:latin typeface="+mn-lt"/>
                </a:rPr>
                <a:t>spec:</a:t>
              </a:r>
            </a:p>
            <a:p>
              <a:r>
                <a:rPr lang="en-US" altLang="zh-CN" sz="800" dirty="0">
                  <a:latin typeface="+mn-lt"/>
                </a:rPr>
                <a:t>  </a:t>
              </a:r>
              <a:r>
                <a:rPr lang="en-US" altLang="zh-CN" sz="800" b="1" dirty="0">
                  <a:latin typeface="+mn-lt"/>
                </a:rPr>
                <a:t>schedulerName: volcano</a:t>
              </a:r>
            </a:p>
            <a:p>
              <a:r>
                <a:rPr lang="en-US" altLang="zh-CN" sz="800" dirty="0">
                  <a:latin typeface="+mn-lt"/>
                </a:rPr>
                <a:t>  containers:</a:t>
              </a:r>
            </a:p>
            <a:p>
              <a:r>
                <a:rPr lang="en-US" altLang="zh-CN" sz="800" dirty="0">
                  <a:latin typeface="+mn-lt"/>
                </a:rPr>
                <a:t>    - name: ubuntu-container</a:t>
              </a:r>
            </a:p>
            <a:p>
              <a:r>
                <a:rPr lang="en-US" altLang="zh-CN" sz="800" dirty="0">
                  <a:latin typeface="+mn-lt"/>
                </a:rPr>
                <a:t>      image: ubuntu:18.04</a:t>
              </a:r>
            </a:p>
            <a:p>
              <a:r>
                <a:rPr lang="en-US" altLang="zh-CN" sz="800" dirty="0">
                  <a:latin typeface="+mn-lt"/>
                </a:rPr>
                <a:t>      command: ["bash", "-c", "sleep 86400"]</a:t>
              </a:r>
            </a:p>
            <a:p>
              <a:r>
                <a:rPr lang="en-US" altLang="zh-CN" sz="800" dirty="0">
                  <a:latin typeface="+mn-lt"/>
                </a:rPr>
                <a:t>      resources:</a:t>
              </a:r>
            </a:p>
            <a:p>
              <a:r>
                <a:rPr lang="en-US" altLang="zh-CN" sz="800" dirty="0">
                  <a:latin typeface="+mn-lt"/>
                </a:rPr>
                <a:t>        limits:</a:t>
              </a:r>
            </a:p>
            <a:p>
              <a:r>
                <a:rPr lang="en-US" altLang="zh-CN" sz="800" dirty="0">
                  <a:latin typeface="+mn-lt"/>
                </a:rPr>
                <a:t>          </a:t>
              </a:r>
              <a:r>
                <a:rPr lang="en-US" altLang="zh-CN" sz="800" b="1" dirty="0">
                  <a:latin typeface="+mn-lt"/>
                </a:rPr>
                <a:t>volcano.sh/</a:t>
              </a:r>
              <a:r>
                <a:rPr lang="en-US" altLang="zh-CN" sz="800" b="1" dirty="0" err="1">
                  <a:latin typeface="+mn-lt"/>
                </a:rPr>
                <a:t>vgpu</a:t>
              </a:r>
              <a:r>
                <a:rPr lang="en-US" altLang="zh-CN" sz="800" b="1" dirty="0">
                  <a:latin typeface="+mn-lt"/>
                </a:rPr>
                <a:t>-number: 2 # requesting 2 vGPUs</a:t>
              </a:r>
            </a:p>
            <a:p>
              <a:r>
                <a:rPr lang="en-US" altLang="zh-CN" sz="800" b="1" dirty="0">
                  <a:latin typeface="+mn-lt"/>
                </a:rPr>
                <a:t>          volcano.sh/</a:t>
              </a:r>
              <a:r>
                <a:rPr lang="en-US" altLang="zh-CN" sz="800" b="1" dirty="0" err="1">
                  <a:latin typeface="+mn-lt"/>
                </a:rPr>
                <a:t>vgpu</a:t>
              </a:r>
              <a:r>
                <a:rPr lang="en-US" altLang="zh-CN" sz="800" b="1" dirty="0">
                  <a:latin typeface="+mn-lt"/>
                </a:rPr>
                <a:t>-memory: 10240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8A60710D-A8C4-202F-5BB2-06D96698F750}"/>
              </a:ext>
            </a:extLst>
          </p:cNvPr>
          <p:cNvGrpSpPr/>
          <p:nvPr/>
        </p:nvGrpSpPr>
        <p:grpSpPr>
          <a:xfrm>
            <a:off x="1009649" y="1328632"/>
            <a:ext cx="3793068" cy="3586269"/>
            <a:chOff x="100012" y="1328632"/>
            <a:chExt cx="3793068" cy="3586269"/>
          </a:xfrm>
        </p:grpSpPr>
        <p:sp>
          <p:nvSpPr>
            <p:cNvPr id="57" name="矩形 66">
              <a:extLst>
                <a:ext uri="{FF2B5EF4-FFF2-40B4-BE49-F238E27FC236}">
                  <a16:creationId xmlns:a16="http://schemas.microsoft.com/office/drawing/2014/main" id="{3AD597EE-53DB-8591-4B6D-52FBFB49CAAD}"/>
                </a:ext>
              </a:extLst>
            </p:cNvPr>
            <p:cNvSpPr/>
            <p:nvPr/>
          </p:nvSpPr>
          <p:spPr>
            <a:xfrm>
              <a:off x="194100" y="1972247"/>
              <a:ext cx="3609651" cy="25341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Volcano Scheduler</a:t>
              </a:r>
            </a:p>
          </p:txBody>
        </p:sp>
        <p:sp>
          <p:nvSpPr>
            <p:cNvPr id="58" name="矩形 67">
              <a:extLst>
                <a:ext uri="{FF2B5EF4-FFF2-40B4-BE49-F238E27FC236}">
                  <a16:creationId xmlns:a16="http://schemas.microsoft.com/office/drawing/2014/main" id="{24DB7CBF-6715-C213-CB21-B9A2132CB21D}"/>
                </a:ext>
              </a:extLst>
            </p:cNvPr>
            <p:cNvSpPr/>
            <p:nvPr/>
          </p:nvSpPr>
          <p:spPr>
            <a:xfrm>
              <a:off x="194100" y="2494212"/>
              <a:ext cx="1717636" cy="200133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East K8s cluster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sp>
          <p:nvSpPr>
            <p:cNvPr id="59" name="矩形 68">
              <a:extLst>
                <a:ext uri="{FF2B5EF4-FFF2-40B4-BE49-F238E27FC236}">
                  <a16:creationId xmlns:a16="http://schemas.microsoft.com/office/drawing/2014/main" id="{C505F5DC-4F04-DD2F-EFC4-368F4CC9B435}"/>
                </a:ext>
              </a:extLst>
            </p:cNvPr>
            <p:cNvSpPr/>
            <p:nvPr/>
          </p:nvSpPr>
          <p:spPr>
            <a:xfrm>
              <a:off x="1995051" y="2494361"/>
              <a:ext cx="1808700" cy="200150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Sharable Device API</a:t>
              </a:r>
            </a:p>
          </p:txBody>
        </p:sp>
        <p:sp>
          <p:nvSpPr>
            <p:cNvPr id="60" name="矩形 75">
              <a:extLst>
                <a:ext uri="{FF2B5EF4-FFF2-40B4-BE49-F238E27FC236}">
                  <a16:creationId xmlns:a16="http://schemas.microsoft.com/office/drawing/2014/main" id="{55BAB7A4-DE4B-3C8D-D143-7EA65805B7CD}"/>
                </a:ext>
              </a:extLst>
            </p:cNvPr>
            <p:cNvSpPr/>
            <p:nvPr/>
          </p:nvSpPr>
          <p:spPr>
            <a:xfrm>
              <a:off x="194099" y="1433279"/>
              <a:ext cx="1130131" cy="203964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Big data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sp>
          <p:nvSpPr>
            <p:cNvPr id="61" name="矩形 76">
              <a:extLst>
                <a:ext uri="{FF2B5EF4-FFF2-40B4-BE49-F238E27FC236}">
                  <a16:creationId xmlns:a16="http://schemas.microsoft.com/office/drawing/2014/main" id="{6F49C827-2492-6DE0-26FB-2AA10BA26E89}"/>
                </a:ext>
              </a:extLst>
            </p:cNvPr>
            <p:cNvSpPr/>
            <p:nvPr/>
          </p:nvSpPr>
          <p:spPr>
            <a:xfrm>
              <a:off x="1486801" y="1430840"/>
              <a:ext cx="1016500" cy="203964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AI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sp>
          <p:nvSpPr>
            <p:cNvPr id="62" name="矩形 77">
              <a:extLst>
                <a:ext uri="{FF2B5EF4-FFF2-40B4-BE49-F238E27FC236}">
                  <a16:creationId xmlns:a16="http://schemas.microsoft.com/office/drawing/2014/main" id="{774235E5-00D7-5767-CA6F-C6AE349912FA}"/>
                </a:ext>
              </a:extLst>
            </p:cNvPr>
            <p:cNvSpPr/>
            <p:nvPr/>
          </p:nvSpPr>
          <p:spPr>
            <a:xfrm>
              <a:off x="2623983" y="1430840"/>
              <a:ext cx="1179768" cy="203964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Microservice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cxnSp>
          <p:nvCxnSpPr>
            <p:cNvPr id="63" name="连接符: 肘形 21">
              <a:extLst>
                <a:ext uri="{FF2B5EF4-FFF2-40B4-BE49-F238E27FC236}">
                  <a16:creationId xmlns:a16="http://schemas.microsoft.com/office/drawing/2014/main" id="{FE350ACF-EA98-0420-3B48-BC121640AEAB}"/>
                </a:ext>
              </a:extLst>
            </p:cNvPr>
            <p:cNvCxnSpPr>
              <a:stCxn id="57" idx="2"/>
              <a:endCxn id="58" idx="0"/>
            </p:cNvCxnSpPr>
            <p:nvPr/>
          </p:nvCxnSpPr>
          <p:spPr>
            <a:xfrm rot="5400000">
              <a:off x="1391645" y="1886930"/>
              <a:ext cx="268555" cy="946008"/>
            </a:xfrm>
            <a:prstGeom prst="bentConnector3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64" name="连接符: 肘形 23">
              <a:extLst>
                <a:ext uri="{FF2B5EF4-FFF2-40B4-BE49-F238E27FC236}">
                  <a16:creationId xmlns:a16="http://schemas.microsoft.com/office/drawing/2014/main" id="{8AAD2395-5D67-2307-FC8B-7238E60E9B9F}"/>
                </a:ext>
              </a:extLst>
            </p:cNvPr>
            <p:cNvCxnSpPr>
              <a:stCxn id="57" idx="2"/>
              <a:endCxn id="59" idx="0"/>
            </p:cNvCxnSpPr>
            <p:nvPr/>
          </p:nvCxnSpPr>
          <p:spPr>
            <a:xfrm rot="16200000" flipH="1">
              <a:off x="2314811" y="1909771"/>
              <a:ext cx="268704" cy="900475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65" name="连接符: 肘形 39">
              <a:extLst>
                <a:ext uri="{FF2B5EF4-FFF2-40B4-BE49-F238E27FC236}">
                  <a16:creationId xmlns:a16="http://schemas.microsoft.com/office/drawing/2014/main" id="{E5C5DEEC-3A40-E559-F43D-292122A302F3}"/>
                </a:ext>
              </a:extLst>
            </p:cNvPr>
            <p:cNvCxnSpPr>
              <a:stCxn id="60" idx="2"/>
              <a:endCxn id="57" idx="0"/>
            </p:cNvCxnSpPr>
            <p:nvPr/>
          </p:nvCxnSpPr>
          <p:spPr>
            <a:xfrm rot="16200000" flipH="1">
              <a:off x="1211543" y="1184864"/>
              <a:ext cx="335004" cy="1239761"/>
            </a:xfrm>
            <a:prstGeom prst="bentConnector3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66" name="连接符: 肘形 41">
              <a:extLst>
                <a:ext uri="{FF2B5EF4-FFF2-40B4-BE49-F238E27FC236}">
                  <a16:creationId xmlns:a16="http://schemas.microsoft.com/office/drawing/2014/main" id="{3FD63A72-19BB-97E5-3FA3-9C7B752A297F}"/>
                </a:ext>
              </a:extLst>
            </p:cNvPr>
            <p:cNvCxnSpPr>
              <a:stCxn id="62" idx="2"/>
              <a:endCxn id="57" idx="0"/>
            </p:cNvCxnSpPr>
            <p:nvPr/>
          </p:nvCxnSpPr>
          <p:spPr>
            <a:xfrm rot="5400000">
              <a:off x="2437676" y="1196055"/>
              <a:ext cx="337443" cy="1214941"/>
            </a:xfrm>
            <a:prstGeom prst="bentConnector3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67" name="直接箭头连接符 44">
              <a:extLst>
                <a:ext uri="{FF2B5EF4-FFF2-40B4-BE49-F238E27FC236}">
                  <a16:creationId xmlns:a16="http://schemas.microsoft.com/office/drawing/2014/main" id="{54C6D54C-628F-816A-7E8F-95CCBCDC9EC2}"/>
                </a:ext>
              </a:extLst>
            </p:cNvPr>
            <p:cNvCxnSpPr>
              <a:stCxn id="61" idx="2"/>
              <a:endCxn id="57" idx="0"/>
            </p:cNvCxnSpPr>
            <p:nvPr/>
          </p:nvCxnSpPr>
          <p:spPr>
            <a:xfrm>
              <a:off x="1995051" y="1634804"/>
              <a:ext cx="3875" cy="33744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sp>
          <p:nvSpPr>
            <p:cNvPr id="68" name="矩形 6">
              <a:extLst>
                <a:ext uri="{FF2B5EF4-FFF2-40B4-BE49-F238E27FC236}">
                  <a16:creationId xmlns:a16="http://schemas.microsoft.com/office/drawing/2014/main" id="{2B144F6A-484F-BBED-6878-10C04A5DD587}"/>
                </a:ext>
              </a:extLst>
            </p:cNvPr>
            <p:cNvSpPr/>
            <p:nvPr/>
          </p:nvSpPr>
          <p:spPr>
            <a:xfrm>
              <a:off x="194099" y="3335730"/>
              <a:ext cx="3609652" cy="215830"/>
            </a:xfrm>
            <a:prstGeom prst="rect">
              <a:avLst/>
            </a:prstGeom>
            <a:solidFill>
              <a:schemeClr val="accent1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Volcano vGPU Device Plugin</a:t>
              </a:r>
            </a:p>
          </p:txBody>
        </p:sp>
        <p:sp>
          <p:nvSpPr>
            <p:cNvPr id="69" name="矩形 7">
              <a:extLst>
                <a:ext uri="{FF2B5EF4-FFF2-40B4-BE49-F238E27FC236}">
                  <a16:creationId xmlns:a16="http://schemas.microsoft.com/office/drawing/2014/main" id="{4FBBFE01-540A-D549-30B8-501FAF5D1E47}"/>
                </a:ext>
              </a:extLst>
            </p:cNvPr>
            <p:cNvSpPr/>
            <p:nvPr/>
          </p:nvSpPr>
          <p:spPr>
            <a:xfrm>
              <a:off x="194099" y="4361154"/>
              <a:ext cx="3609652" cy="424692"/>
            </a:xfrm>
            <a:prstGeom prst="rect">
              <a:avLst/>
            </a:prstGeom>
            <a:solidFill>
              <a:srgbClr val="77B9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HAMi-Core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InContainer Resource Control</a:t>
              </a:r>
            </a:p>
          </p:txBody>
        </p:sp>
        <p:sp>
          <p:nvSpPr>
            <p:cNvPr id="70" name="矩形 8">
              <a:extLst>
                <a:ext uri="{FF2B5EF4-FFF2-40B4-BE49-F238E27FC236}">
                  <a16:creationId xmlns:a16="http://schemas.microsoft.com/office/drawing/2014/main" id="{8246B39A-C27F-C0F0-A7CC-58C082E03AC6}"/>
                </a:ext>
              </a:extLst>
            </p:cNvPr>
            <p:cNvSpPr/>
            <p:nvPr/>
          </p:nvSpPr>
          <p:spPr>
            <a:xfrm>
              <a:off x="194099" y="3746802"/>
              <a:ext cx="1563550" cy="260632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Mount Nvidia Device</a:t>
              </a:r>
            </a:p>
          </p:txBody>
        </p:sp>
        <p:sp>
          <p:nvSpPr>
            <p:cNvPr id="71" name="矩形 9">
              <a:extLst>
                <a:ext uri="{FF2B5EF4-FFF2-40B4-BE49-F238E27FC236}">
                  <a16:creationId xmlns:a16="http://schemas.microsoft.com/office/drawing/2014/main" id="{CD75D2CC-1B3D-6FAD-3A9A-03A500B72DA5}"/>
                </a:ext>
              </a:extLst>
            </p:cNvPr>
            <p:cNvSpPr/>
            <p:nvPr/>
          </p:nvSpPr>
          <p:spPr>
            <a:xfrm>
              <a:off x="1995051" y="3746802"/>
              <a:ext cx="1808700" cy="260632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Mount HAMi-Core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cxnSp>
          <p:nvCxnSpPr>
            <p:cNvPr id="72" name="肘形连接符 10">
              <a:extLst>
                <a:ext uri="{FF2B5EF4-FFF2-40B4-BE49-F238E27FC236}">
                  <a16:creationId xmlns:a16="http://schemas.microsoft.com/office/drawing/2014/main" id="{61817842-5ED9-3D02-A9E0-9C0AA5528060}"/>
                </a:ext>
              </a:extLst>
            </p:cNvPr>
            <p:cNvCxnSpPr>
              <a:stCxn id="68" idx="2"/>
              <a:endCxn id="70" idx="0"/>
            </p:cNvCxnSpPr>
            <p:nvPr/>
          </p:nvCxnSpPr>
          <p:spPr>
            <a:xfrm rot="5400000">
              <a:off x="1389779" y="3137656"/>
              <a:ext cx="195242" cy="1023051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73" name="直接箭头连接符 11">
              <a:extLst>
                <a:ext uri="{FF2B5EF4-FFF2-40B4-BE49-F238E27FC236}">
                  <a16:creationId xmlns:a16="http://schemas.microsoft.com/office/drawing/2014/main" id="{D98A9071-7F11-9CC5-2F25-5464DF8AE1D9}"/>
                </a:ext>
              </a:extLst>
            </p:cNvPr>
            <p:cNvCxnSpPr>
              <a:stCxn id="70" idx="3"/>
              <a:endCxn id="71" idx="1"/>
            </p:cNvCxnSpPr>
            <p:nvPr/>
          </p:nvCxnSpPr>
          <p:spPr>
            <a:xfrm>
              <a:off x="1757649" y="3877118"/>
              <a:ext cx="237402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74" name="肘形连接符 12">
              <a:extLst>
                <a:ext uri="{FF2B5EF4-FFF2-40B4-BE49-F238E27FC236}">
                  <a16:creationId xmlns:a16="http://schemas.microsoft.com/office/drawing/2014/main" id="{025C4B2E-7A75-7D83-5B79-F2170FAEC4B3}"/>
                </a:ext>
              </a:extLst>
            </p:cNvPr>
            <p:cNvCxnSpPr>
              <a:stCxn id="71" idx="2"/>
              <a:endCxn id="69" idx="0"/>
            </p:cNvCxnSpPr>
            <p:nvPr/>
          </p:nvCxnSpPr>
          <p:spPr>
            <a:xfrm rot="5400000">
              <a:off x="2272303" y="3734056"/>
              <a:ext cx="353720" cy="900476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 w="med" len="med"/>
            </a:ln>
            <a:effectLst/>
          </p:spPr>
        </p:cxn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B4F29D33-7CB9-4099-5F49-527E983E153C}"/>
                </a:ext>
              </a:extLst>
            </p:cNvPr>
            <p:cNvSpPr/>
            <p:nvPr/>
          </p:nvSpPr>
          <p:spPr>
            <a:xfrm>
              <a:off x="194100" y="2962900"/>
              <a:ext cx="1717636" cy="170375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Other devices</a:t>
              </a:r>
            </a:p>
          </p:txBody>
        </p:sp>
        <p:sp>
          <p:nvSpPr>
            <p:cNvPr id="76" name="矩形 15">
              <a:extLst>
                <a:ext uri="{FF2B5EF4-FFF2-40B4-BE49-F238E27FC236}">
                  <a16:creationId xmlns:a16="http://schemas.microsoft.com/office/drawing/2014/main" id="{82A01CA0-0E68-1671-421A-DFAA9385B43D}"/>
                </a:ext>
              </a:extLst>
            </p:cNvPr>
            <p:cNvSpPr/>
            <p:nvPr/>
          </p:nvSpPr>
          <p:spPr>
            <a:xfrm>
              <a:off x="1995051" y="2967022"/>
              <a:ext cx="1808700" cy="166253"/>
            </a:xfrm>
            <a:prstGeom prst="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90204"/>
                <a:buNone/>
                <a:defRPr/>
              </a:pPr>
              <a:r>
                <a:rPr kumimoji="0" lang="en-US" altLang="zh-CN" sz="675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" charset="0"/>
                  <a:ea typeface="宋体" pitchFamily="2" charset="-122"/>
                  <a:cs typeface="+mn-cs"/>
                  <a:sym typeface="Arial" panose="020B0604020202090204"/>
                </a:rPr>
                <a:t>Nvidia GPU</a:t>
              </a:r>
              <a:endParaRPr kumimoji="0" lang="zh-CN" altLang="en-US" sz="67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charset="0"/>
                <a:ea typeface="宋体" pitchFamily="2" charset="-122"/>
                <a:cs typeface="+mn-cs"/>
                <a:sym typeface="Arial" panose="020B0604020202090204"/>
              </a:endParaRPr>
            </a:p>
          </p:txBody>
        </p:sp>
        <p:cxnSp>
          <p:nvCxnSpPr>
            <p:cNvPr id="77" name="肘形连接符 16">
              <a:extLst>
                <a:ext uri="{FF2B5EF4-FFF2-40B4-BE49-F238E27FC236}">
                  <a16:creationId xmlns:a16="http://schemas.microsoft.com/office/drawing/2014/main" id="{66D17A60-5E35-8E5F-0644-87B4755A01F1}"/>
                </a:ext>
              </a:extLst>
            </p:cNvPr>
            <p:cNvCxnSpPr>
              <a:cxnSpLocks/>
              <a:stCxn id="59" idx="2"/>
              <a:endCxn id="76" idx="0"/>
            </p:cNvCxnSpPr>
            <p:nvPr/>
          </p:nvCxnSpPr>
          <p:spPr>
            <a:xfrm rot="5400000">
              <a:off x="2763146" y="2830766"/>
              <a:ext cx="272511" cy="12700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 w="med" len="med"/>
            </a:ln>
            <a:effectLst/>
          </p:spPr>
        </p:cxnSp>
        <p:cxnSp>
          <p:nvCxnSpPr>
            <p:cNvPr id="78" name="肘形连接符 20">
              <a:extLst>
                <a:ext uri="{FF2B5EF4-FFF2-40B4-BE49-F238E27FC236}">
                  <a16:creationId xmlns:a16="http://schemas.microsoft.com/office/drawing/2014/main" id="{EFC07A2D-ECB5-1754-DE2C-07B2D57D107A}"/>
                </a:ext>
              </a:extLst>
            </p:cNvPr>
            <p:cNvCxnSpPr>
              <a:stCxn id="76" idx="2"/>
              <a:endCxn id="68" idx="0"/>
            </p:cNvCxnSpPr>
            <p:nvPr/>
          </p:nvCxnSpPr>
          <p:spPr>
            <a:xfrm rot="5400000">
              <a:off x="2347936" y="2784264"/>
              <a:ext cx="202455" cy="900476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tailEnd type="triangle" w="med" len="med"/>
            </a:ln>
            <a:effectLst/>
          </p:spPr>
        </p:cxnSp>
        <p:sp>
          <p:nvSpPr>
            <p:cNvPr id="79" name="矩形 31">
              <a:extLst>
                <a:ext uri="{FF2B5EF4-FFF2-40B4-BE49-F238E27FC236}">
                  <a16:creationId xmlns:a16="http://schemas.microsoft.com/office/drawing/2014/main" id="{3D3260AE-B44D-228C-E32B-CDE66E70BECB}"/>
                </a:ext>
              </a:extLst>
            </p:cNvPr>
            <p:cNvSpPr/>
            <p:nvPr/>
          </p:nvSpPr>
          <p:spPr>
            <a:xfrm>
              <a:off x="100012" y="1328632"/>
              <a:ext cx="3792764" cy="1504168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dash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endParaRPr lang="zh-CN" altLang="en-US" sz="1350" kern="0" dirty="0">
                <a:solidFill>
                  <a:prstClr val="white"/>
                </a:solidFill>
                <a:latin typeface="Montserrat" charset="0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0" name="矩形 32">
              <a:extLst>
                <a:ext uri="{FF2B5EF4-FFF2-40B4-BE49-F238E27FC236}">
                  <a16:creationId xmlns:a16="http://schemas.microsoft.com/office/drawing/2014/main" id="{6E0315D7-763B-B1A9-293A-BE897250B482}"/>
                </a:ext>
              </a:extLst>
            </p:cNvPr>
            <p:cNvSpPr/>
            <p:nvPr/>
          </p:nvSpPr>
          <p:spPr>
            <a:xfrm>
              <a:off x="100295" y="2831802"/>
              <a:ext cx="3792765" cy="130552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dash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endParaRPr lang="zh-CN" altLang="en-US" sz="1350" kern="0" dirty="0">
                <a:solidFill>
                  <a:prstClr val="white"/>
                </a:solidFill>
                <a:latin typeface="Montserrat" charset="0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81" name="矩形 33">
              <a:extLst>
                <a:ext uri="{FF2B5EF4-FFF2-40B4-BE49-F238E27FC236}">
                  <a16:creationId xmlns:a16="http://schemas.microsoft.com/office/drawing/2014/main" id="{DDDD600B-EEC1-D76E-ED5D-05D08121B196}"/>
                </a:ext>
              </a:extLst>
            </p:cNvPr>
            <p:cNvSpPr/>
            <p:nvPr/>
          </p:nvSpPr>
          <p:spPr>
            <a:xfrm>
              <a:off x="100737" y="4137329"/>
              <a:ext cx="3792343" cy="777572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dash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endParaRPr lang="zh-CN" altLang="en-US" sz="1350" kern="0" dirty="0">
                <a:solidFill>
                  <a:prstClr val="white"/>
                </a:solidFill>
                <a:latin typeface="Montserrat" charset="0"/>
                <a:cs typeface="Arial" panose="020B0604020202090204"/>
                <a:sym typeface="Arial" panose="020B0604020202090204"/>
              </a:endParaRPr>
            </a:p>
          </p:txBody>
        </p:sp>
      </p:grpSp>
      <p:pic>
        <p:nvPicPr>
          <p:cNvPr id="84" name="图片 0">
            <a:extLst>
              <a:ext uri="{FF2B5EF4-FFF2-40B4-BE49-F238E27FC236}">
                <a16:creationId xmlns:a16="http://schemas.microsoft.com/office/drawing/2014/main" id="{D0EF7FEA-CD5B-7EEE-F242-E036E5F7F6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4" y="1884168"/>
            <a:ext cx="635405" cy="433473"/>
          </a:xfrm>
          <a:prstGeom prst="rect">
            <a:avLst/>
          </a:prstGeom>
        </p:spPr>
      </p:pic>
      <p:pic>
        <p:nvPicPr>
          <p:cNvPr id="87" name="图片 0">
            <a:extLst>
              <a:ext uri="{FF2B5EF4-FFF2-40B4-BE49-F238E27FC236}">
                <a16:creationId xmlns:a16="http://schemas.microsoft.com/office/drawing/2014/main" id="{27CB5260-26FA-8FC8-838A-438EB8A475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4" y="3215708"/>
            <a:ext cx="635405" cy="433473"/>
          </a:xfrm>
          <a:prstGeom prst="rect">
            <a:avLst/>
          </a:prstGeom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30722507-9E63-107E-2402-B7B5CCD97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07" y="4222859"/>
            <a:ext cx="496398" cy="648521"/>
          </a:xfrm>
          <a:prstGeom prst="rect">
            <a:avLst/>
          </a:prstGeom>
        </p:spPr>
      </p:pic>
      <p:pic>
        <p:nvPicPr>
          <p:cNvPr id="91" name="Google Shape;134;p27">
            <a:extLst>
              <a:ext uri="{FF2B5EF4-FFF2-40B4-BE49-F238E27FC236}">
                <a16:creationId xmlns:a16="http://schemas.microsoft.com/office/drawing/2014/main" id="{A7D6B6E3-B891-B75A-1790-2DB6166E8F58}"/>
              </a:ext>
            </a:extLst>
          </p:cNvPr>
          <p:cNvPicPr preferRelativeResize="0"/>
          <p:nvPr/>
        </p:nvPicPr>
        <p:blipFill rotWithShape="1">
          <a:blip r:embed="rId4"/>
          <a:srcRect r="2266"/>
          <a:stretch>
            <a:fillRect/>
          </a:stretch>
        </p:blipFill>
        <p:spPr>
          <a:xfrm>
            <a:off x="5279682" y="3383953"/>
            <a:ext cx="3081127" cy="16006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直接连接符 1">
            <a:extLst>
              <a:ext uri="{FF2B5EF4-FFF2-40B4-BE49-F238E27FC236}">
                <a16:creationId xmlns:a16="http://schemas.microsoft.com/office/drawing/2014/main" id="{2C7CEDCA-82DE-B8C1-636F-392019D3C399}"/>
              </a:ext>
            </a:extLst>
          </p:cNvPr>
          <p:cNvCxnSpPr>
            <a:cxnSpLocks/>
          </p:cNvCxnSpPr>
          <p:nvPr/>
        </p:nvCxnSpPr>
        <p:spPr>
          <a:xfrm>
            <a:off x="784860" y="2833072"/>
            <a:ext cx="57227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94" name="直接连接符 1">
            <a:extLst>
              <a:ext uri="{FF2B5EF4-FFF2-40B4-BE49-F238E27FC236}">
                <a16:creationId xmlns:a16="http://schemas.microsoft.com/office/drawing/2014/main" id="{DFFCB839-E0CA-7B79-7F9D-A57175F993F6}"/>
              </a:ext>
            </a:extLst>
          </p:cNvPr>
          <p:cNvCxnSpPr>
            <a:cxnSpLocks/>
          </p:cNvCxnSpPr>
          <p:nvPr/>
        </p:nvCxnSpPr>
        <p:spPr>
          <a:xfrm>
            <a:off x="784860" y="4137325"/>
            <a:ext cx="57227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solid"/>
          </a:ln>
          <a:effectLst/>
        </p:spPr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8A872528-2349-2176-F382-3A061CAA4DA1}"/>
              </a:ext>
            </a:extLst>
          </p:cNvPr>
          <p:cNvCxnSpPr>
            <a:cxnSpLocks/>
            <a:stCxn id="6" idx="3"/>
            <a:endCxn id="91" idx="3"/>
          </p:cNvCxnSpPr>
          <p:nvPr/>
        </p:nvCxnSpPr>
        <p:spPr>
          <a:xfrm>
            <a:off x="8262218" y="2314911"/>
            <a:ext cx="98591" cy="1869382"/>
          </a:xfrm>
          <a:prstGeom prst="bentConnector3">
            <a:avLst>
              <a:gd name="adj1" fmla="val 33186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46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FDF8A-B541-F307-A7B4-DB585553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CaseStudy</a:t>
            </a:r>
            <a:r>
              <a:rPr lang="en-US" altLang="zh-CN" dirty="0"/>
              <a:t>: </a:t>
            </a:r>
            <a:r>
              <a:rPr lang="en-US" altLang="zh-CN" dirty="0" err="1"/>
              <a:t>IntSig</a:t>
            </a:r>
            <a:r>
              <a:rPr lang="en-US" altLang="zh-CN" dirty="0"/>
              <a:t>_</a:t>
            </a:r>
            <a:r>
              <a:rPr lang="zh-CN" altLang="en-US" dirty="0"/>
              <a:t>训推总览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D72FAD-8C42-8162-8F8C-96D3F6B7B806}"/>
              </a:ext>
            </a:extLst>
          </p:cNvPr>
          <p:cNvSpPr txBox="1"/>
          <p:nvPr/>
        </p:nvSpPr>
        <p:spPr>
          <a:xfrm>
            <a:off x="299890" y="1202374"/>
            <a:ext cx="3914194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dirty="0" err="1">
                <a:solidFill>
                  <a:schemeClr val="accent1"/>
                </a:solidFill>
                <a:latin typeface="+mn-ea"/>
                <a:cs typeface="PingFang SC" panose="020B0400000000000000" charset="-122"/>
              </a:rPr>
              <a:t>统一调度</a:t>
            </a:r>
            <a:r>
              <a:rPr sz="1250" dirty="0">
                <a:solidFill>
                  <a:schemeClr val="accent1"/>
                </a:solidFill>
                <a:latin typeface="+mn-ea"/>
                <a:cs typeface="PingFang SC" panose="020B0400000000000000" charset="-122"/>
              </a:rPr>
              <a:t> · </a:t>
            </a:r>
            <a:r>
              <a:rPr sz="1250" dirty="0" err="1">
                <a:solidFill>
                  <a:schemeClr val="accent1"/>
                </a:solidFill>
                <a:latin typeface="+mn-ea"/>
                <a:cs typeface="PingFang SC" panose="020B0400000000000000" charset="-122"/>
              </a:rPr>
              <a:t>弹性供给</a:t>
            </a:r>
            <a:r>
              <a:rPr sz="1250" dirty="0">
                <a:solidFill>
                  <a:schemeClr val="accent1"/>
                </a:solidFill>
                <a:latin typeface="+mn-ea"/>
                <a:cs typeface="PingFang SC" panose="020B0400000000000000" charset="-122"/>
              </a:rPr>
              <a:t> · </a:t>
            </a:r>
            <a:r>
              <a:rPr sz="1250" dirty="0" err="1">
                <a:solidFill>
                  <a:schemeClr val="accent1"/>
                </a:solidFill>
                <a:latin typeface="+mn-ea"/>
                <a:cs typeface="PingFang SC" panose="020B0400000000000000" charset="-122"/>
              </a:rPr>
              <a:t>高效利用</a:t>
            </a:r>
            <a:endParaRPr sz="1250" dirty="0">
              <a:solidFill>
                <a:schemeClr val="accent1"/>
              </a:solidFill>
              <a:latin typeface="+mn-ea"/>
              <a:cs typeface="PingFang SC" panose="020B0400000000000000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4308651-3E09-2CBA-E345-D9014F05B7D0}"/>
              </a:ext>
            </a:extLst>
          </p:cNvPr>
          <p:cNvGrpSpPr/>
          <p:nvPr/>
        </p:nvGrpSpPr>
        <p:grpSpPr>
          <a:xfrm>
            <a:off x="299890" y="1523388"/>
            <a:ext cx="8605985" cy="1224400"/>
            <a:chOff x="502920" y="1554480"/>
            <a:chExt cx="11183112" cy="1591056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B582438-7EB2-C4AD-8B1B-8C660648B19B}"/>
                </a:ext>
              </a:extLst>
            </p:cNvPr>
            <p:cNvGrpSpPr/>
            <p:nvPr/>
          </p:nvGrpSpPr>
          <p:grpSpPr>
            <a:xfrm>
              <a:off x="502920" y="1554480"/>
              <a:ext cx="2658618" cy="1591056"/>
              <a:chOff x="502920" y="1554480"/>
              <a:chExt cx="2658618" cy="1591056"/>
            </a:xfrm>
          </p:grpSpPr>
          <p:sp>
            <p:nvSpPr>
              <p:cNvPr id="25" name="Rounded Rectangle 5">
                <a:extLst>
                  <a:ext uri="{FF2B5EF4-FFF2-40B4-BE49-F238E27FC236}">
                    <a16:creationId xmlns:a16="http://schemas.microsoft.com/office/drawing/2014/main" id="{4ED3014C-CB82-B116-0B39-D71DAA5DFDDF}"/>
                  </a:ext>
                </a:extLst>
              </p:cNvPr>
              <p:cNvSpPr/>
              <p:nvPr/>
            </p:nvSpPr>
            <p:spPr>
              <a:xfrm>
                <a:off x="502920" y="1554480"/>
                <a:ext cx="2658618" cy="1591056"/>
              </a:xfrm>
              <a:prstGeom prst="roundRect">
                <a:avLst>
                  <a:gd name="adj" fmla="val 6896"/>
                </a:avLst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AE69DD29-4D19-16FD-7610-DD7B529E85F2}"/>
                  </a:ext>
                </a:extLst>
              </p:cNvPr>
              <p:cNvSpPr/>
              <p:nvPr/>
            </p:nvSpPr>
            <p:spPr>
              <a:xfrm>
                <a:off x="502920" y="1645920"/>
                <a:ext cx="82296" cy="140817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7" name="TextBox 7">
                <a:extLst>
                  <a:ext uri="{FF2B5EF4-FFF2-40B4-BE49-F238E27FC236}">
                    <a16:creationId xmlns:a16="http://schemas.microsoft.com/office/drawing/2014/main" id="{DE3EFBBF-AFC9-723C-6FC8-0933F2608C3F}"/>
                  </a:ext>
                </a:extLst>
              </p:cNvPr>
              <p:cNvSpPr txBox="1"/>
              <p:nvPr/>
            </p:nvSpPr>
            <p:spPr>
              <a:xfrm>
                <a:off x="777241" y="1712577"/>
                <a:ext cx="2201418" cy="57991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290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万卡</a:t>
                </a:r>
                <a:r>
                  <a:rPr lang="zh-CN" altLang="en-US" sz="29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集群</a:t>
                </a:r>
                <a:endParaRPr sz="29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28" name="TextBox 8">
                <a:extLst>
                  <a:ext uri="{FF2B5EF4-FFF2-40B4-BE49-F238E27FC236}">
                    <a16:creationId xmlns:a16="http://schemas.microsoft.com/office/drawing/2014/main" id="{57146EC9-B491-AD76-360A-790485C5382F}"/>
                  </a:ext>
                </a:extLst>
              </p:cNvPr>
              <p:cNvSpPr txBox="1"/>
              <p:nvPr/>
            </p:nvSpPr>
            <p:spPr>
              <a:xfrm>
                <a:off x="777241" y="2330610"/>
                <a:ext cx="2201418" cy="2399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GPU </a:t>
                </a:r>
                <a:r>
                  <a:rPr sz="120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总规模</a:t>
                </a:r>
                <a:endParaRPr sz="12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29" name="TextBox 9">
                <a:extLst>
                  <a:ext uri="{FF2B5EF4-FFF2-40B4-BE49-F238E27FC236}">
                    <a16:creationId xmlns:a16="http://schemas.microsoft.com/office/drawing/2014/main" id="{3298A35E-B7FC-4DE1-87E7-2346D6758F31}"/>
                  </a:ext>
                </a:extLst>
              </p:cNvPr>
              <p:cNvSpPr txBox="1"/>
              <p:nvPr/>
            </p:nvSpPr>
            <p:spPr>
              <a:xfrm>
                <a:off x="777240" y="2689840"/>
                <a:ext cx="2201418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050" b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自建 + 多云混合部署</a:t>
                </a: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7A3BB24C-4286-C308-7284-EC0B05C9B3F0}"/>
                </a:ext>
              </a:extLst>
            </p:cNvPr>
            <p:cNvGrpSpPr/>
            <p:nvPr/>
          </p:nvGrpSpPr>
          <p:grpSpPr>
            <a:xfrm>
              <a:off x="3344418" y="1554480"/>
              <a:ext cx="2658618" cy="1591056"/>
              <a:chOff x="3344418" y="1554480"/>
              <a:chExt cx="2658618" cy="1591056"/>
            </a:xfrm>
          </p:grpSpPr>
          <p:sp>
            <p:nvSpPr>
              <p:cNvPr id="20" name="Rounded Rectangle 10">
                <a:extLst>
                  <a:ext uri="{FF2B5EF4-FFF2-40B4-BE49-F238E27FC236}">
                    <a16:creationId xmlns:a16="http://schemas.microsoft.com/office/drawing/2014/main" id="{9A50E3FC-36BB-0F27-57D1-B54272D5F5E6}"/>
                  </a:ext>
                </a:extLst>
              </p:cNvPr>
              <p:cNvSpPr/>
              <p:nvPr/>
            </p:nvSpPr>
            <p:spPr>
              <a:xfrm>
                <a:off x="3344418" y="1554480"/>
                <a:ext cx="2658618" cy="1591056"/>
              </a:xfrm>
              <a:prstGeom prst="roundRect">
                <a:avLst>
                  <a:gd name="adj" fmla="val 6896"/>
                </a:avLst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1" name="Rectangle 11">
                <a:extLst>
                  <a:ext uri="{FF2B5EF4-FFF2-40B4-BE49-F238E27FC236}">
                    <a16:creationId xmlns:a16="http://schemas.microsoft.com/office/drawing/2014/main" id="{898E29AC-EDFB-95AF-D09E-A199A8F800A2}"/>
                  </a:ext>
                </a:extLst>
              </p:cNvPr>
              <p:cNvSpPr/>
              <p:nvPr/>
            </p:nvSpPr>
            <p:spPr>
              <a:xfrm>
                <a:off x="3344418" y="1645920"/>
                <a:ext cx="82296" cy="1408176"/>
              </a:xfrm>
              <a:prstGeom prst="rect">
                <a:avLst/>
              </a:prstGeom>
              <a:solidFill>
                <a:srgbClr val="FF8A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2" name="TextBox 12">
                <a:extLst>
                  <a:ext uri="{FF2B5EF4-FFF2-40B4-BE49-F238E27FC236}">
                    <a16:creationId xmlns:a16="http://schemas.microsoft.com/office/drawing/2014/main" id="{060D8E63-5834-2978-4BC9-7D6A3BBA93A2}"/>
                  </a:ext>
                </a:extLst>
              </p:cNvPr>
              <p:cNvSpPr txBox="1"/>
              <p:nvPr/>
            </p:nvSpPr>
            <p:spPr>
              <a:xfrm>
                <a:off x="3618738" y="1737360"/>
                <a:ext cx="2201418" cy="5303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400" b="1" dirty="0">
                    <a:solidFill>
                      <a:srgbClr val="FF8A3D"/>
                    </a:solidFill>
                    <a:latin typeface="+mn-ea"/>
                    <a:cs typeface="PingFang SC" panose="020B0400000000000000" charset="-122"/>
                  </a:rPr>
                  <a:t>1000+</a:t>
                </a:r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3A7BE12C-7A3C-00B3-59F9-3AC23E67CE04}"/>
                  </a:ext>
                </a:extLst>
              </p:cNvPr>
              <p:cNvSpPr txBox="1"/>
              <p:nvPr/>
            </p:nvSpPr>
            <p:spPr>
              <a:xfrm>
                <a:off x="3618739" y="2330610"/>
                <a:ext cx="2201418" cy="2399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在线推理服务</a:t>
                </a:r>
                <a:endParaRPr sz="12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24" name="TextBox 14">
                <a:extLst>
                  <a:ext uri="{FF2B5EF4-FFF2-40B4-BE49-F238E27FC236}">
                    <a16:creationId xmlns:a16="http://schemas.microsoft.com/office/drawing/2014/main" id="{E2EC0001-22A3-5F66-87DE-F46E7B11058F}"/>
                  </a:ext>
                </a:extLst>
              </p:cNvPr>
              <p:cNvSpPr txBox="1"/>
              <p:nvPr/>
            </p:nvSpPr>
            <p:spPr>
              <a:xfrm>
                <a:off x="3618738" y="2689840"/>
                <a:ext cx="2201418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050" b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服务实例在线运行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F0F4EC4-7C9D-6DA5-D54F-CC15A158973E}"/>
                </a:ext>
              </a:extLst>
            </p:cNvPr>
            <p:cNvGrpSpPr/>
            <p:nvPr/>
          </p:nvGrpSpPr>
          <p:grpSpPr>
            <a:xfrm>
              <a:off x="6185916" y="1554480"/>
              <a:ext cx="2658618" cy="1591056"/>
              <a:chOff x="6185916" y="1554480"/>
              <a:chExt cx="2658618" cy="1591056"/>
            </a:xfrm>
          </p:grpSpPr>
          <p:sp>
            <p:nvSpPr>
              <p:cNvPr id="15" name="Rounded Rectangle 15">
                <a:extLst>
                  <a:ext uri="{FF2B5EF4-FFF2-40B4-BE49-F238E27FC236}">
                    <a16:creationId xmlns:a16="http://schemas.microsoft.com/office/drawing/2014/main" id="{9E6843E0-1D12-3DC5-CDEF-3EED6E52FE0A}"/>
                  </a:ext>
                </a:extLst>
              </p:cNvPr>
              <p:cNvSpPr/>
              <p:nvPr/>
            </p:nvSpPr>
            <p:spPr>
              <a:xfrm>
                <a:off x="6185916" y="1554480"/>
                <a:ext cx="2658618" cy="1591056"/>
              </a:xfrm>
              <a:prstGeom prst="roundRect">
                <a:avLst>
                  <a:gd name="adj" fmla="val 6896"/>
                </a:avLst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" name="Rectangle 16">
                <a:extLst>
                  <a:ext uri="{FF2B5EF4-FFF2-40B4-BE49-F238E27FC236}">
                    <a16:creationId xmlns:a16="http://schemas.microsoft.com/office/drawing/2014/main" id="{84DC11A8-269F-07FE-4AC3-B6866AB1DA04}"/>
                  </a:ext>
                </a:extLst>
              </p:cNvPr>
              <p:cNvSpPr/>
              <p:nvPr/>
            </p:nvSpPr>
            <p:spPr>
              <a:xfrm>
                <a:off x="6185916" y="1645920"/>
                <a:ext cx="82296" cy="1408176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+mn-ea"/>
                </a:endParaRPr>
              </a:p>
            </p:txBody>
          </p:sp>
          <p:sp>
            <p:nvSpPr>
              <p:cNvPr id="17" name="TextBox 17">
                <a:extLst>
                  <a:ext uri="{FF2B5EF4-FFF2-40B4-BE49-F238E27FC236}">
                    <a16:creationId xmlns:a16="http://schemas.microsoft.com/office/drawing/2014/main" id="{42C4E0C0-D948-DA6F-9112-EFF4037A74D0}"/>
                  </a:ext>
                </a:extLst>
              </p:cNvPr>
              <p:cNvSpPr txBox="1"/>
              <p:nvPr/>
            </p:nvSpPr>
            <p:spPr>
              <a:xfrm>
                <a:off x="6460237" y="1662586"/>
                <a:ext cx="2201418" cy="67990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400" b="1" dirty="0">
                    <a:solidFill>
                      <a:schemeClr val="accent4">
                        <a:lumMod val="50000"/>
                      </a:schemeClr>
                    </a:solidFill>
                    <a:latin typeface="+mn-ea"/>
                    <a:cs typeface="PingFang SC" panose="020B0400000000000000" charset="-122"/>
                  </a:rPr>
                  <a:t>1000+</a:t>
                </a: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68424039-D1CE-6C41-7B0E-23A083DB9D3B}"/>
                  </a:ext>
                </a:extLst>
              </p:cNvPr>
              <p:cNvSpPr txBox="1"/>
              <p:nvPr/>
            </p:nvSpPr>
            <p:spPr>
              <a:xfrm>
                <a:off x="6460237" y="2330610"/>
                <a:ext cx="2201418" cy="2399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2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离线</a:t>
                </a:r>
                <a:r>
                  <a:rPr sz="120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训练任务</a:t>
                </a:r>
                <a:endParaRPr sz="12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E78399BB-A488-EE6D-AF33-EE0DD953D4E5}"/>
                  </a:ext>
                </a:extLst>
              </p:cNvPr>
              <p:cNvSpPr txBox="1"/>
              <p:nvPr/>
            </p:nvSpPr>
            <p:spPr>
              <a:xfrm>
                <a:off x="6460236" y="2689840"/>
                <a:ext cx="2201418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050" b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训练任务并行调度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05BB413-65CE-B188-A5A5-EF8EA7B1D8B7}"/>
                </a:ext>
              </a:extLst>
            </p:cNvPr>
            <p:cNvGrpSpPr/>
            <p:nvPr/>
          </p:nvGrpSpPr>
          <p:grpSpPr>
            <a:xfrm>
              <a:off x="9027414" y="1554480"/>
              <a:ext cx="2658618" cy="1591056"/>
              <a:chOff x="9027414" y="1554480"/>
              <a:chExt cx="2658618" cy="1591056"/>
            </a:xfrm>
          </p:grpSpPr>
          <p:sp>
            <p:nvSpPr>
              <p:cNvPr id="10" name="Rounded Rectangle 20">
                <a:extLst>
                  <a:ext uri="{FF2B5EF4-FFF2-40B4-BE49-F238E27FC236}">
                    <a16:creationId xmlns:a16="http://schemas.microsoft.com/office/drawing/2014/main" id="{F2A45CB5-3643-12CA-FE75-7F13A9D9161C}"/>
                  </a:ext>
                </a:extLst>
              </p:cNvPr>
              <p:cNvSpPr/>
              <p:nvPr/>
            </p:nvSpPr>
            <p:spPr>
              <a:xfrm>
                <a:off x="9027414" y="1554480"/>
                <a:ext cx="2658618" cy="1591056"/>
              </a:xfrm>
              <a:prstGeom prst="roundRect">
                <a:avLst>
                  <a:gd name="adj" fmla="val 6896"/>
                </a:avLst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" name="Rectangle 21">
                <a:extLst>
                  <a:ext uri="{FF2B5EF4-FFF2-40B4-BE49-F238E27FC236}">
                    <a16:creationId xmlns:a16="http://schemas.microsoft.com/office/drawing/2014/main" id="{4101997B-84D2-2C08-D97C-E0B574A4C20B}"/>
                  </a:ext>
                </a:extLst>
              </p:cNvPr>
              <p:cNvSpPr/>
              <p:nvPr/>
            </p:nvSpPr>
            <p:spPr>
              <a:xfrm>
                <a:off x="9027414" y="1645920"/>
                <a:ext cx="82296" cy="1408176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" name="TextBox 22">
                <a:extLst>
                  <a:ext uri="{FF2B5EF4-FFF2-40B4-BE49-F238E27FC236}">
                    <a16:creationId xmlns:a16="http://schemas.microsoft.com/office/drawing/2014/main" id="{BD7FA8FD-0F6B-B346-C4AF-15B81B718481}"/>
                  </a:ext>
                </a:extLst>
              </p:cNvPr>
              <p:cNvSpPr txBox="1"/>
              <p:nvPr/>
            </p:nvSpPr>
            <p:spPr>
              <a:xfrm>
                <a:off x="9301735" y="1662586"/>
                <a:ext cx="2201418" cy="67990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3400" b="1" dirty="0">
                    <a:solidFill>
                      <a:schemeClr val="accent4">
                        <a:lumMod val="50000"/>
                      </a:schemeClr>
                    </a:solidFill>
                    <a:latin typeface="+mn-ea"/>
                    <a:cs typeface="PingFang SC" panose="020B0400000000000000" charset="-122"/>
                  </a:rPr>
                  <a:t>90%+</a:t>
                </a:r>
              </a:p>
            </p:txBody>
          </p:sp>
          <p:sp>
            <p:nvSpPr>
              <p:cNvPr id="13" name="TextBox 23">
                <a:extLst>
                  <a:ext uri="{FF2B5EF4-FFF2-40B4-BE49-F238E27FC236}">
                    <a16:creationId xmlns:a16="http://schemas.microsoft.com/office/drawing/2014/main" id="{19A8EA3D-1A09-DEE5-F346-E4A73F4D542F}"/>
                  </a:ext>
                </a:extLst>
              </p:cNvPr>
              <p:cNvSpPr txBox="1"/>
              <p:nvPr/>
            </p:nvSpPr>
            <p:spPr>
              <a:xfrm>
                <a:off x="9301735" y="2330610"/>
                <a:ext cx="2201418" cy="23996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24 </a:t>
                </a:r>
                <a:r>
                  <a:rPr sz="120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小时利用率</a:t>
                </a:r>
                <a:endParaRPr sz="12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14" name="TextBox 24">
                <a:extLst>
                  <a:ext uri="{FF2B5EF4-FFF2-40B4-BE49-F238E27FC236}">
                    <a16:creationId xmlns:a16="http://schemas.microsoft.com/office/drawing/2014/main" id="{CF0D77E5-2CE9-EBA0-6C11-0B46E019D617}"/>
                  </a:ext>
                </a:extLst>
              </p:cNvPr>
              <p:cNvSpPr txBox="1"/>
              <p:nvPr/>
            </p:nvSpPr>
            <p:spPr>
              <a:xfrm>
                <a:off x="9301734" y="2689840"/>
                <a:ext cx="2201418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050" b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训练侧持续水位</a:t>
                </a:r>
              </a:p>
            </p:txBody>
          </p:sp>
        </p:grp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71122ECD-EDF5-98ED-DD9D-EAB693CCA104}"/>
              </a:ext>
            </a:extLst>
          </p:cNvPr>
          <p:cNvGrpSpPr/>
          <p:nvPr/>
        </p:nvGrpSpPr>
        <p:grpSpPr>
          <a:xfrm>
            <a:off x="328138" y="3047190"/>
            <a:ext cx="7835223" cy="1810462"/>
            <a:chOff x="-4240530" y="5287792"/>
            <a:chExt cx="11027663" cy="2548131"/>
          </a:xfrm>
        </p:grpSpPr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D4E123DE-3E3F-8D18-3FE6-7BD9DF9AF9AF}"/>
                </a:ext>
              </a:extLst>
            </p:cNvPr>
            <p:cNvSpPr/>
            <p:nvPr/>
          </p:nvSpPr>
          <p:spPr>
            <a:xfrm>
              <a:off x="-4240530" y="5311389"/>
              <a:ext cx="82296" cy="2560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E735FA5D-8E3E-9AB1-7734-DC99A84633C1}"/>
                </a:ext>
              </a:extLst>
            </p:cNvPr>
            <p:cNvSpPr txBox="1"/>
            <p:nvPr/>
          </p:nvSpPr>
          <p:spPr>
            <a:xfrm>
              <a:off x="-4030218" y="5287792"/>
              <a:ext cx="5486400" cy="30322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异构算力覆盖</a:t>
              </a:r>
              <a:endParaRPr sz="1400" b="1" dirty="0">
                <a:solidFill>
                  <a:schemeClr val="accent1"/>
                </a:solidFill>
                <a:latin typeface="+mn-ea"/>
                <a:cs typeface="PingFang SC" panose="020B0400000000000000" charset="-122"/>
              </a:endParaRPr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AA3AE8B9-6A26-8F3D-DA3E-524AAC50F91A}"/>
                </a:ext>
              </a:extLst>
            </p:cNvPr>
            <p:cNvSpPr/>
            <p:nvPr/>
          </p:nvSpPr>
          <p:spPr>
            <a:xfrm>
              <a:off x="-4240530" y="5788532"/>
              <a:ext cx="82296" cy="153619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4" name="Rounded Rectangle 29">
              <a:extLst>
                <a:ext uri="{FF2B5EF4-FFF2-40B4-BE49-F238E27FC236}">
                  <a16:creationId xmlns:a16="http://schemas.microsoft.com/office/drawing/2014/main" id="{87D01302-5570-D7A7-0AA4-48D85890423B}"/>
                </a:ext>
              </a:extLst>
            </p:cNvPr>
            <p:cNvSpPr/>
            <p:nvPr/>
          </p:nvSpPr>
          <p:spPr>
            <a:xfrm>
              <a:off x="-4085082" y="5934837"/>
              <a:ext cx="1600200" cy="530352"/>
            </a:xfrm>
            <a:prstGeom prst="roundRect">
              <a:avLst>
                <a:gd name="adj" fmla="val 12068"/>
              </a:avLst>
            </a:prstGeom>
            <a:ln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5" name="TextBox 30">
              <a:extLst>
                <a:ext uri="{FF2B5EF4-FFF2-40B4-BE49-F238E27FC236}">
                  <a16:creationId xmlns:a16="http://schemas.microsoft.com/office/drawing/2014/main" id="{ED53CAA6-5DEE-29C6-B394-FFC4AAE237DE}"/>
                </a:ext>
              </a:extLst>
            </p:cNvPr>
            <p:cNvSpPr txBox="1"/>
            <p:nvPr/>
          </p:nvSpPr>
          <p:spPr>
            <a:xfrm>
              <a:off x="-3975354" y="6051559"/>
              <a:ext cx="1380744" cy="2969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50" b="1" dirty="0" err="1">
                  <a:solidFill>
                    <a:schemeClr val="bg1"/>
                  </a:solidFill>
                  <a:latin typeface="+mn-ea"/>
                  <a:cs typeface="PingFang SC" panose="020B0400000000000000" charset="-122"/>
                </a:rPr>
                <a:t>训练</a:t>
              </a:r>
              <a:endParaRPr sz="1250" b="1" dirty="0">
                <a:solidFill>
                  <a:schemeClr val="bg1"/>
                </a:solidFill>
                <a:latin typeface="+mn-ea"/>
                <a:cs typeface="PingFang SC" panose="020B0400000000000000" charset="-122"/>
              </a:endParaRPr>
            </a:p>
          </p:txBody>
        </p:sp>
        <p:sp>
          <p:nvSpPr>
            <p:cNvPr id="36" name="Rounded Rectangle 33">
              <a:extLst>
                <a:ext uri="{FF2B5EF4-FFF2-40B4-BE49-F238E27FC236}">
                  <a16:creationId xmlns:a16="http://schemas.microsoft.com/office/drawing/2014/main" id="{276F41B3-AAA6-CB72-1CF3-6E0CB0D7E73B}"/>
                </a:ext>
              </a:extLst>
            </p:cNvPr>
            <p:cNvSpPr/>
            <p:nvPr/>
          </p:nvSpPr>
          <p:spPr>
            <a:xfrm>
              <a:off x="-465887" y="5934837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37" name="TextBox 34">
              <a:extLst>
                <a:ext uri="{FF2B5EF4-FFF2-40B4-BE49-F238E27FC236}">
                  <a16:creationId xmlns:a16="http://schemas.microsoft.com/office/drawing/2014/main" id="{D3F7B754-EF2F-4423-602B-BB723E732A68}"/>
                </a:ext>
              </a:extLst>
            </p:cNvPr>
            <p:cNvSpPr txBox="1"/>
            <p:nvPr/>
          </p:nvSpPr>
          <p:spPr>
            <a:xfrm>
              <a:off x="-465887" y="6059230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3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Hopper</a:t>
              </a:r>
              <a:endParaRPr sz="1300" b="1" dirty="0">
                <a:solidFill>
                  <a:schemeClr val="accent1"/>
                </a:solidFill>
                <a:latin typeface="+mn-ea"/>
                <a:cs typeface="PingFang SC" panose="020B0400000000000000" charset="-122"/>
              </a:endParaRPr>
            </a:p>
          </p:txBody>
        </p:sp>
        <p:sp>
          <p:nvSpPr>
            <p:cNvPr id="38" name="Rounded Rectangle 35">
              <a:extLst>
                <a:ext uri="{FF2B5EF4-FFF2-40B4-BE49-F238E27FC236}">
                  <a16:creationId xmlns:a16="http://schemas.microsoft.com/office/drawing/2014/main" id="{3DA7E98D-BA29-5DF2-A7D1-7C46AACE105D}"/>
                </a:ext>
              </a:extLst>
            </p:cNvPr>
            <p:cNvSpPr/>
            <p:nvPr/>
          </p:nvSpPr>
          <p:spPr>
            <a:xfrm>
              <a:off x="1388516" y="5934837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39" name="TextBox 36">
              <a:extLst>
                <a:ext uri="{FF2B5EF4-FFF2-40B4-BE49-F238E27FC236}">
                  <a16:creationId xmlns:a16="http://schemas.microsoft.com/office/drawing/2014/main" id="{FC90AF2A-A1FA-3CF9-A302-F14F57C124BB}"/>
                </a:ext>
              </a:extLst>
            </p:cNvPr>
            <p:cNvSpPr txBox="1"/>
            <p:nvPr/>
          </p:nvSpPr>
          <p:spPr>
            <a:xfrm>
              <a:off x="1388516" y="6059230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3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Ampere</a:t>
              </a:r>
              <a:endParaRPr sz="1300" b="1" dirty="0">
                <a:solidFill>
                  <a:schemeClr val="accent1"/>
                </a:solidFill>
                <a:latin typeface="+mn-ea"/>
                <a:cs typeface="PingFang SC" panose="020B0400000000000000" charset="-122"/>
              </a:endParaRPr>
            </a:p>
          </p:txBody>
        </p:sp>
        <p:sp>
          <p:nvSpPr>
            <p:cNvPr id="40" name="Rounded Rectangle 37">
              <a:extLst>
                <a:ext uri="{FF2B5EF4-FFF2-40B4-BE49-F238E27FC236}">
                  <a16:creationId xmlns:a16="http://schemas.microsoft.com/office/drawing/2014/main" id="{5DBA8223-CFE1-611D-4CDA-5997D99D69E4}"/>
                </a:ext>
              </a:extLst>
            </p:cNvPr>
            <p:cNvSpPr/>
            <p:nvPr/>
          </p:nvSpPr>
          <p:spPr>
            <a:xfrm>
              <a:off x="-2311146" y="5925693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41" name="TextBox 38">
              <a:extLst>
                <a:ext uri="{FF2B5EF4-FFF2-40B4-BE49-F238E27FC236}">
                  <a16:creationId xmlns:a16="http://schemas.microsoft.com/office/drawing/2014/main" id="{98435441-2A37-8F68-C540-B9FF86723682}"/>
                </a:ext>
              </a:extLst>
            </p:cNvPr>
            <p:cNvSpPr txBox="1"/>
            <p:nvPr/>
          </p:nvSpPr>
          <p:spPr>
            <a:xfrm>
              <a:off x="-2311146" y="6050086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0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Blackwell</a:t>
              </a:r>
            </a:p>
          </p:txBody>
        </p:sp>
        <p:sp>
          <p:nvSpPr>
            <p:cNvPr id="42" name="Rounded Rectangle 39">
              <a:extLst>
                <a:ext uri="{FF2B5EF4-FFF2-40B4-BE49-F238E27FC236}">
                  <a16:creationId xmlns:a16="http://schemas.microsoft.com/office/drawing/2014/main" id="{728F2341-7ECA-E825-431F-B3FDD811A165}"/>
                </a:ext>
              </a:extLst>
            </p:cNvPr>
            <p:cNvSpPr/>
            <p:nvPr/>
          </p:nvSpPr>
          <p:spPr>
            <a:xfrm>
              <a:off x="3256178" y="5934837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43" name="TextBox 40">
              <a:extLst>
                <a:ext uri="{FF2B5EF4-FFF2-40B4-BE49-F238E27FC236}">
                  <a16:creationId xmlns:a16="http://schemas.microsoft.com/office/drawing/2014/main" id="{D1E929FA-E0FC-1375-DF89-1E54C075B12C}"/>
                </a:ext>
              </a:extLst>
            </p:cNvPr>
            <p:cNvSpPr txBox="1"/>
            <p:nvPr/>
          </p:nvSpPr>
          <p:spPr>
            <a:xfrm>
              <a:off x="3256179" y="6059230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00" b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Ascend</a:t>
              </a:r>
            </a:p>
          </p:txBody>
        </p:sp>
        <p:sp>
          <p:nvSpPr>
            <p:cNvPr id="44" name="Rounded Rectangle 41">
              <a:extLst>
                <a:ext uri="{FF2B5EF4-FFF2-40B4-BE49-F238E27FC236}">
                  <a16:creationId xmlns:a16="http://schemas.microsoft.com/office/drawing/2014/main" id="{827A0EB1-FE99-E1DD-CF0C-1F5281541FB7}"/>
                </a:ext>
              </a:extLst>
            </p:cNvPr>
            <p:cNvSpPr/>
            <p:nvPr/>
          </p:nvSpPr>
          <p:spPr>
            <a:xfrm>
              <a:off x="-4085082" y="6593205"/>
              <a:ext cx="1600200" cy="530352"/>
            </a:xfrm>
            <a:prstGeom prst="roundRect">
              <a:avLst>
                <a:gd name="adj" fmla="val 12068"/>
              </a:avLst>
            </a:prstGeom>
            <a:ln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5" name="TextBox 42">
              <a:extLst>
                <a:ext uri="{FF2B5EF4-FFF2-40B4-BE49-F238E27FC236}">
                  <a16:creationId xmlns:a16="http://schemas.microsoft.com/office/drawing/2014/main" id="{B7C9C0B2-3ACF-ECDA-ED4F-CC8FE379701A}"/>
                </a:ext>
              </a:extLst>
            </p:cNvPr>
            <p:cNvSpPr txBox="1"/>
            <p:nvPr/>
          </p:nvSpPr>
          <p:spPr>
            <a:xfrm>
              <a:off x="-3975354" y="6709927"/>
              <a:ext cx="1380744" cy="29690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50" b="1" dirty="0" err="1">
                  <a:solidFill>
                    <a:schemeClr val="bg1"/>
                  </a:solidFill>
                  <a:latin typeface="+mn-ea"/>
                  <a:cs typeface="PingFang SC" panose="020B0400000000000000" charset="-122"/>
                </a:rPr>
                <a:t>推理</a:t>
              </a:r>
              <a:endParaRPr sz="1250" b="1" dirty="0">
                <a:solidFill>
                  <a:schemeClr val="bg1"/>
                </a:solidFill>
                <a:latin typeface="+mn-ea"/>
                <a:cs typeface="PingFang SC" panose="020B0400000000000000" charset="-122"/>
              </a:endParaRPr>
            </a:p>
          </p:txBody>
        </p:sp>
        <p:sp>
          <p:nvSpPr>
            <p:cNvPr id="46" name="Rounded Rectangle 43">
              <a:extLst>
                <a:ext uri="{FF2B5EF4-FFF2-40B4-BE49-F238E27FC236}">
                  <a16:creationId xmlns:a16="http://schemas.microsoft.com/office/drawing/2014/main" id="{31A073FE-A360-091C-4DCD-46D396F8D122}"/>
                </a:ext>
              </a:extLst>
            </p:cNvPr>
            <p:cNvSpPr/>
            <p:nvPr/>
          </p:nvSpPr>
          <p:spPr>
            <a:xfrm>
              <a:off x="-2320290" y="6593205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7" name="TextBox 44">
              <a:extLst>
                <a:ext uri="{FF2B5EF4-FFF2-40B4-BE49-F238E27FC236}">
                  <a16:creationId xmlns:a16="http://schemas.microsoft.com/office/drawing/2014/main" id="{7D29B0EA-B309-7774-A805-2C1D2B1C40B8}"/>
                </a:ext>
              </a:extLst>
            </p:cNvPr>
            <p:cNvSpPr txBox="1"/>
            <p:nvPr/>
          </p:nvSpPr>
          <p:spPr>
            <a:xfrm>
              <a:off x="-2320291" y="6717597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300" b="1" dirty="0">
                  <a:solidFill>
                    <a:schemeClr val="accent6">
                      <a:lumMod val="50000"/>
                    </a:schemeClr>
                  </a:solidFill>
                  <a:latin typeface="+mn-ea"/>
                  <a:cs typeface="PingFang SC" panose="020B0400000000000000" charset="-122"/>
                </a:rPr>
                <a:t>Blackwell</a:t>
              </a:r>
            </a:p>
          </p:txBody>
        </p:sp>
        <p:sp>
          <p:nvSpPr>
            <p:cNvPr id="48" name="Rounded Rectangle 45">
              <a:extLst>
                <a:ext uri="{FF2B5EF4-FFF2-40B4-BE49-F238E27FC236}">
                  <a16:creationId xmlns:a16="http://schemas.microsoft.com/office/drawing/2014/main" id="{D60378F6-E54A-93A7-FB4F-1B7C6EB83AAD}"/>
                </a:ext>
              </a:extLst>
            </p:cNvPr>
            <p:cNvSpPr/>
            <p:nvPr/>
          </p:nvSpPr>
          <p:spPr>
            <a:xfrm>
              <a:off x="-465887" y="6593205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9" name="TextBox 46">
              <a:extLst>
                <a:ext uri="{FF2B5EF4-FFF2-40B4-BE49-F238E27FC236}">
                  <a16:creationId xmlns:a16="http://schemas.microsoft.com/office/drawing/2014/main" id="{E0C334C9-8A83-1B00-299D-7A41A56792B7}"/>
                </a:ext>
              </a:extLst>
            </p:cNvPr>
            <p:cNvSpPr txBox="1"/>
            <p:nvPr/>
          </p:nvSpPr>
          <p:spPr>
            <a:xfrm>
              <a:off x="-465887" y="6717597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300" b="1" dirty="0">
                  <a:solidFill>
                    <a:schemeClr val="accent6">
                      <a:lumMod val="50000"/>
                    </a:schemeClr>
                  </a:solidFill>
                  <a:latin typeface="+mn-ea"/>
                  <a:cs typeface="PingFang SC" panose="020B0400000000000000" charset="-122"/>
                </a:rPr>
                <a:t>Hopper</a:t>
              </a:r>
            </a:p>
          </p:txBody>
        </p:sp>
        <p:sp>
          <p:nvSpPr>
            <p:cNvPr id="50" name="Rounded Rectangle 47">
              <a:extLst>
                <a:ext uri="{FF2B5EF4-FFF2-40B4-BE49-F238E27FC236}">
                  <a16:creationId xmlns:a16="http://schemas.microsoft.com/office/drawing/2014/main" id="{8B53F7A0-0836-669F-3594-0F683EAE2294}"/>
                </a:ext>
              </a:extLst>
            </p:cNvPr>
            <p:cNvSpPr/>
            <p:nvPr/>
          </p:nvSpPr>
          <p:spPr>
            <a:xfrm>
              <a:off x="1388516" y="6593205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1" name="TextBox 48">
              <a:extLst>
                <a:ext uri="{FF2B5EF4-FFF2-40B4-BE49-F238E27FC236}">
                  <a16:creationId xmlns:a16="http://schemas.microsoft.com/office/drawing/2014/main" id="{1606F085-3AE0-7EAD-04DD-4AD5AB2C3A57}"/>
                </a:ext>
              </a:extLst>
            </p:cNvPr>
            <p:cNvSpPr txBox="1"/>
            <p:nvPr/>
          </p:nvSpPr>
          <p:spPr>
            <a:xfrm>
              <a:off x="1388516" y="6717597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accent6">
                      <a:lumMod val="50000"/>
                    </a:schemeClr>
                  </a:solidFill>
                  <a:latin typeface="+mn-ea"/>
                  <a:cs typeface="PingFang SC" panose="020B0400000000000000" charset="-122"/>
                </a:rPr>
                <a:t>Ampere</a:t>
              </a:r>
            </a:p>
          </p:txBody>
        </p:sp>
        <p:sp>
          <p:nvSpPr>
            <p:cNvPr id="52" name="Rounded Rectangle 49">
              <a:extLst>
                <a:ext uri="{FF2B5EF4-FFF2-40B4-BE49-F238E27FC236}">
                  <a16:creationId xmlns:a16="http://schemas.microsoft.com/office/drawing/2014/main" id="{A9D85A09-E66E-F323-083E-DF8CCDB16A72}"/>
                </a:ext>
              </a:extLst>
            </p:cNvPr>
            <p:cNvSpPr/>
            <p:nvPr/>
          </p:nvSpPr>
          <p:spPr>
            <a:xfrm>
              <a:off x="3242919" y="6593205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3" name="TextBox 50">
              <a:extLst>
                <a:ext uri="{FF2B5EF4-FFF2-40B4-BE49-F238E27FC236}">
                  <a16:creationId xmlns:a16="http://schemas.microsoft.com/office/drawing/2014/main" id="{FF16AD15-4F45-CBB4-9B9F-D331773F97FB}"/>
                </a:ext>
              </a:extLst>
            </p:cNvPr>
            <p:cNvSpPr txBox="1"/>
            <p:nvPr/>
          </p:nvSpPr>
          <p:spPr>
            <a:xfrm>
              <a:off x="3242919" y="6717597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altLang="zh-CN" sz="1300" b="1" dirty="0">
                  <a:solidFill>
                    <a:schemeClr val="accent6">
                      <a:lumMod val="50000"/>
                    </a:schemeClr>
                  </a:solidFill>
                  <a:latin typeface="+mn-ea"/>
                  <a:cs typeface="PingFang SC" panose="020B0400000000000000" charset="-122"/>
                </a:rPr>
                <a:t>Turing</a:t>
              </a:r>
            </a:p>
          </p:txBody>
        </p:sp>
        <p:sp>
          <p:nvSpPr>
            <p:cNvPr id="54" name="Rounded Rectangle 51">
              <a:extLst>
                <a:ext uri="{FF2B5EF4-FFF2-40B4-BE49-F238E27FC236}">
                  <a16:creationId xmlns:a16="http://schemas.microsoft.com/office/drawing/2014/main" id="{C241F99B-87D1-35A9-DCCF-9FDF414543AE}"/>
                </a:ext>
              </a:extLst>
            </p:cNvPr>
            <p:cNvSpPr/>
            <p:nvPr/>
          </p:nvSpPr>
          <p:spPr>
            <a:xfrm>
              <a:off x="5097322" y="6593205"/>
              <a:ext cx="1689811" cy="530352"/>
            </a:xfrm>
            <a:prstGeom prst="roundRect">
              <a:avLst>
                <a:gd name="adj" fmla="val 12068"/>
              </a:avLst>
            </a:prstGeom>
            <a:solidFill>
              <a:schemeClr val="bg1"/>
            </a:solidFill>
            <a:ln w="127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2">
              <a:extLst>
                <a:ext uri="{FF2B5EF4-FFF2-40B4-BE49-F238E27FC236}">
                  <a16:creationId xmlns:a16="http://schemas.microsoft.com/office/drawing/2014/main" id="{42FC2700-0D28-3D74-E576-1DB7A0B1BB30}"/>
                </a:ext>
              </a:extLst>
            </p:cNvPr>
            <p:cNvSpPr txBox="1"/>
            <p:nvPr/>
          </p:nvSpPr>
          <p:spPr>
            <a:xfrm>
              <a:off x="5097322" y="6717597"/>
              <a:ext cx="1689811" cy="28156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300" b="1">
                  <a:solidFill>
                    <a:schemeClr val="accent6">
                      <a:lumMod val="50000"/>
                    </a:schemeClr>
                  </a:solidFill>
                  <a:latin typeface="+mn-ea"/>
                  <a:cs typeface="PingFang SC" panose="020B0400000000000000" charset="-122"/>
                </a:rPr>
                <a:t>Ascend</a:t>
              </a:r>
            </a:p>
          </p:txBody>
        </p:sp>
        <p:sp>
          <p:nvSpPr>
            <p:cNvPr id="57" name="Rectangle 54">
              <a:extLst>
                <a:ext uri="{FF2B5EF4-FFF2-40B4-BE49-F238E27FC236}">
                  <a16:creationId xmlns:a16="http://schemas.microsoft.com/office/drawing/2014/main" id="{1A65B263-6747-4762-BCAE-1CD66B1411EA}"/>
                </a:ext>
              </a:extLst>
            </p:cNvPr>
            <p:cNvSpPr/>
            <p:nvPr/>
          </p:nvSpPr>
          <p:spPr>
            <a:xfrm>
              <a:off x="-4240530" y="7488451"/>
              <a:ext cx="82296" cy="3474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8" name="TextBox 55">
              <a:extLst>
                <a:ext uri="{FF2B5EF4-FFF2-40B4-BE49-F238E27FC236}">
                  <a16:creationId xmlns:a16="http://schemas.microsoft.com/office/drawing/2014/main" id="{C01194DC-CC82-0344-5D0D-D25798871FFC}"/>
                </a:ext>
              </a:extLst>
            </p:cNvPr>
            <p:cNvSpPr txBox="1"/>
            <p:nvPr/>
          </p:nvSpPr>
          <p:spPr>
            <a:xfrm>
              <a:off x="-3993643" y="7526819"/>
              <a:ext cx="10698479" cy="27073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GPU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服务器部署在：自建数据中心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·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阿里云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· AWS ·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腾讯云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·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火山引擎</a:t>
              </a:r>
              <a:endParaRPr sz="1250" b="1" dirty="0">
                <a:solidFill>
                  <a:schemeClr val="accent1"/>
                </a:solidFill>
                <a:latin typeface="+mn-ea"/>
                <a:cs typeface="PingFang SC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90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B38B6-55A0-0122-880A-E811C9A7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8D4DA-5772-B22D-6A4E-BD4C5E4A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CaseStudy</a:t>
            </a:r>
            <a:r>
              <a:rPr lang="en-US" altLang="zh-CN" dirty="0"/>
              <a:t>: </a:t>
            </a:r>
            <a:r>
              <a:rPr lang="en-US" altLang="zh-CN" dirty="0" err="1"/>
              <a:t>IntSig</a:t>
            </a:r>
            <a:r>
              <a:rPr lang="en-US" altLang="zh-CN" dirty="0"/>
              <a:t>_</a:t>
            </a:r>
            <a:r>
              <a:rPr lang="zh-CN" altLang="en-US" dirty="0"/>
              <a:t>混合调度</a:t>
            </a: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3EDC4CA4-B4FA-213F-55B3-82ECDF354268}"/>
              </a:ext>
            </a:extLst>
          </p:cNvPr>
          <p:cNvGrpSpPr/>
          <p:nvPr/>
        </p:nvGrpSpPr>
        <p:grpSpPr>
          <a:xfrm>
            <a:off x="388620" y="4271426"/>
            <a:ext cx="7655243" cy="243024"/>
            <a:chOff x="502920" y="5934456"/>
            <a:chExt cx="10945369" cy="347472"/>
          </a:xfrm>
        </p:grpSpPr>
        <p:sp>
          <p:nvSpPr>
            <p:cNvPr id="189" name="Rectangle 147">
              <a:extLst>
                <a:ext uri="{FF2B5EF4-FFF2-40B4-BE49-F238E27FC236}">
                  <a16:creationId xmlns:a16="http://schemas.microsoft.com/office/drawing/2014/main" id="{45ECB976-36FD-E090-0783-8E3EA35F0AAD}"/>
                </a:ext>
              </a:extLst>
            </p:cNvPr>
            <p:cNvSpPr/>
            <p:nvPr/>
          </p:nvSpPr>
          <p:spPr>
            <a:xfrm>
              <a:off x="502920" y="5934456"/>
              <a:ext cx="82296" cy="3474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90" name="TextBox 148">
              <a:extLst>
                <a:ext uri="{FF2B5EF4-FFF2-40B4-BE49-F238E27FC236}">
                  <a16:creationId xmlns:a16="http://schemas.microsoft.com/office/drawing/2014/main" id="{A4BF6F87-FB04-E1F0-5405-555892D79F00}"/>
                </a:ext>
              </a:extLst>
            </p:cNvPr>
            <p:cNvSpPr txBox="1"/>
            <p:nvPr/>
          </p:nvSpPr>
          <p:spPr>
            <a:xfrm>
              <a:off x="749809" y="5970673"/>
              <a:ext cx="10698480" cy="27503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计算任务与分布式存储在同一批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GPU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服务器上，按计算网络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/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数据</a:t>
              </a:r>
              <a:r>
                <a: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 RDMA / </a:t>
              </a:r>
              <a:r>
                <a:rPr sz="1250" b="1" dirty="0" err="1">
                  <a:solidFill>
                    <a:schemeClr val="accent1"/>
                  </a:solidFill>
                  <a:latin typeface="+mn-ea"/>
                  <a:cs typeface="PingFang SC" panose="020B0400000000000000" charset="-122"/>
                </a:rPr>
                <a:t>数据以太网分层承载流量</a:t>
              </a:r>
              <a:endParaRPr sz="1250" b="1" dirty="0">
                <a:solidFill>
                  <a:schemeClr val="accent1"/>
                </a:solidFill>
                <a:latin typeface="+mn-ea"/>
                <a:cs typeface="PingFang SC" panose="020B0400000000000000" charset="-122"/>
              </a:endParaRPr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2D4C958D-2FA4-D321-8198-8AD10E0A7008}"/>
              </a:ext>
            </a:extLst>
          </p:cNvPr>
          <p:cNvGrpSpPr/>
          <p:nvPr/>
        </p:nvGrpSpPr>
        <p:grpSpPr>
          <a:xfrm>
            <a:off x="388620" y="1480727"/>
            <a:ext cx="7613608" cy="2545386"/>
            <a:chOff x="497341" y="1501276"/>
            <a:chExt cx="7613608" cy="254538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D5E863E-9EC3-6530-0B8C-9E5998720D0E}"/>
                </a:ext>
              </a:extLst>
            </p:cNvPr>
            <p:cNvGrpSpPr/>
            <p:nvPr/>
          </p:nvGrpSpPr>
          <p:grpSpPr>
            <a:xfrm>
              <a:off x="506866" y="1501276"/>
              <a:ext cx="7604077" cy="358140"/>
              <a:chOff x="658368" y="1709928"/>
              <a:chExt cx="10872215" cy="512064"/>
            </a:xfrm>
          </p:grpSpPr>
          <p:sp>
            <p:nvSpPr>
              <p:cNvPr id="59" name="Rounded Rectangle 8">
                <a:extLst>
                  <a:ext uri="{FF2B5EF4-FFF2-40B4-BE49-F238E27FC236}">
                    <a16:creationId xmlns:a16="http://schemas.microsoft.com/office/drawing/2014/main" id="{3BFC3F70-230D-8677-4ADF-CB8362776FB5}"/>
                  </a:ext>
                </a:extLst>
              </p:cNvPr>
              <p:cNvSpPr/>
              <p:nvPr/>
            </p:nvSpPr>
            <p:spPr>
              <a:xfrm>
                <a:off x="658368" y="1709928"/>
                <a:ext cx="1600200" cy="512064"/>
              </a:xfrm>
              <a:prstGeom prst="roundRect">
                <a:avLst>
                  <a:gd name="adj" fmla="val 12500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7348FE85-A031-7800-9BD1-30C3F20ED1E9}"/>
                  </a:ext>
                </a:extLst>
              </p:cNvPr>
              <p:cNvSpPr txBox="1"/>
              <p:nvPr/>
            </p:nvSpPr>
            <p:spPr>
              <a:xfrm>
                <a:off x="768096" y="1815149"/>
                <a:ext cx="1380744" cy="3016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sz="1250" b="1" dirty="0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计算网络</a:t>
                </a:r>
              </a:p>
            </p:txBody>
          </p:sp>
          <p:sp>
            <p:nvSpPr>
              <p:cNvPr id="61" name="Rounded Rectangle 10">
                <a:extLst>
                  <a:ext uri="{FF2B5EF4-FFF2-40B4-BE49-F238E27FC236}">
                    <a16:creationId xmlns:a16="http://schemas.microsoft.com/office/drawing/2014/main" id="{12E6AA21-EDC3-5E39-AA55-B3236CBC98F4}"/>
                  </a:ext>
                </a:extLst>
              </p:cNvPr>
              <p:cNvSpPr/>
              <p:nvPr/>
            </p:nvSpPr>
            <p:spPr>
              <a:xfrm>
                <a:off x="2423160" y="1709928"/>
                <a:ext cx="2153411" cy="512064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rgbClr val="FF8A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+mn-ea"/>
                </a:endParaRPr>
              </a:p>
            </p:txBody>
          </p:sp>
          <p:sp>
            <p:nvSpPr>
              <p:cNvPr id="62" name="Rectangle 11">
                <a:extLst>
                  <a:ext uri="{FF2B5EF4-FFF2-40B4-BE49-F238E27FC236}">
                    <a16:creationId xmlns:a16="http://schemas.microsoft.com/office/drawing/2014/main" id="{BFE7B94A-DD76-1D2D-2D05-FBC026C6E8B8}"/>
                  </a:ext>
                </a:extLst>
              </p:cNvPr>
              <p:cNvSpPr/>
              <p:nvPr/>
            </p:nvSpPr>
            <p:spPr>
              <a:xfrm>
                <a:off x="2514600" y="1792224"/>
                <a:ext cx="64008" cy="347472"/>
              </a:xfrm>
              <a:prstGeom prst="rect">
                <a:avLst/>
              </a:prstGeom>
              <a:solidFill>
                <a:srgbClr val="FF8A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3" name="TextBox 12">
                <a:extLst>
                  <a:ext uri="{FF2B5EF4-FFF2-40B4-BE49-F238E27FC236}">
                    <a16:creationId xmlns:a16="http://schemas.microsoft.com/office/drawing/2014/main" id="{40DF2971-6679-6FF1-65AC-74BDAC0A8305}"/>
                  </a:ext>
                </a:extLst>
              </p:cNvPr>
              <p:cNvSpPr txBox="1"/>
              <p:nvPr/>
            </p:nvSpPr>
            <p:spPr>
              <a:xfrm>
                <a:off x="2697480" y="1828443"/>
                <a:ext cx="1751075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25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数据处理</a:t>
                </a:r>
                <a:endPara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64" name="Rounded Rectangle 13">
                <a:extLst>
                  <a:ext uri="{FF2B5EF4-FFF2-40B4-BE49-F238E27FC236}">
                    <a16:creationId xmlns:a16="http://schemas.microsoft.com/office/drawing/2014/main" id="{9FC97EAC-FB45-2833-64F3-FF02B9F4F3D6}"/>
                  </a:ext>
                </a:extLst>
              </p:cNvPr>
              <p:cNvSpPr/>
              <p:nvPr/>
            </p:nvSpPr>
            <p:spPr>
              <a:xfrm>
                <a:off x="4741164" y="1709928"/>
                <a:ext cx="4471416" cy="512064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rgbClr val="FF8A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5" name="Rectangle 14">
                <a:extLst>
                  <a:ext uri="{FF2B5EF4-FFF2-40B4-BE49-F238E27FC236}">
                    <a16:creationId xmlns:a16="http://schemas.microsoft.com/office/drawing/2014/main" id="{3BB8A6DB-D2B6-6A2F-8057-7700C47B4A82}"/>
                  </a:ext>
                </a:extLst>
              </p:cNvPr>
              <p:cNvSpPr/>
              <p:nvPr/>
            </p:nvSpPr>
            <p:spPr>
              <a:xfrm>
                <a:off x="4832604" y="1792224"/>
                <a:ext cx="64008" cy="347472"/>
              </a:xfrm>
              <a:prstGeom prst="rect">
                <a:avLst/>
              </a:prstGeom>
              <a:solidFill>
                <a:srgbClr val="FF8A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6" name="TextBox 15">
                <a:extLst>
                  <a:ext uri="{FF2B5EF4-FFF2-40B4-BE49-F238E27FC236}">
                    <a16:creationId xmlns:a16="http://schemas.microsoft.com/office/drawing/2014/main" id="{B037CE47-375D-202D-42FF-9E005BB6A660}"/>
                  </a:ext>
                </a:extLst>
              </p:cNvPr>
              <p:cNvSpPr txBox="1"/>
              <p:nvPr/>
            </p:nvSpPr>
            <p:spPr>
              <a:xfrm>
                <a:off x="5015484" y="1828443"/>
                <a:ext cx="4069078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25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在线推理</a:t>
                </a:r>
                <a:endParaRPr sz="1250" b="1" dirty="0">
                  <a:solidFill>
                    <a:schemeClr val="accent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67" name="Rounded Rectangle 16">
                <a:extLst>
                  <a:ext uri="{FF2B5EF4-FFF2-40B4-BE49-F238E27FC236}">
                    <a16:creationId xmlns:a16="http://schemas.microsoft.com/office/drawing/2014/main" id="{93C22848-3FA8-BC1F-7FA2-CA0ED82691EA}"/>
                  </a:ext>
                </a:extLst>
              </p:cNvPr>
              <p:cNvSpPr/>
              <p:nvPr/>
            </p:nvSpPr>
            <p:spPr>
              <a:xfrm>
                <a:off x="9377172" y="1709928"/>
                <a:ext cx="2153411" cy="512064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rgbClr val="FF8A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8" name="Rectangle 17">
                <a:extLst>
                  <a:ext uri="{FF2B5EF4-FFF2-40B4-BE49-F238E27FC236}">
                    <a16:creationId xmlns:a16="http://schemas.microsoft.com/office/drawing/2014/main" id="{7DC696DE-5D36-A1C2-7FF4-A336E1E25665}"/>
                  </a:ext>
                </a:extLst>
              </p:cNvPr>
              <p:cNvSpPr/>
              <p:nvPr/>
            </p:nvSpPr>
            <p:spPr>
              <a:xfrm>
                <a:off x="9468611" y="1792224"/>
                <a:ext cx="64008" cy="347472"/>
              </a:xfrm>
              <a:prstGeom prst="rect">
                <a:avLst/>
              </a:prstGeom>
              <a:solidFill>
                <a:srgbClr val="FF8A3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69" name="TextBox 18">
                <a:extLst>
                  <a:ext uri="{FF2B5EF4-FFF2-40B4-BE49-F238E27FC236}">
                    <a16:creationId xmlns:a16="http://schemas.microsoft.com/office/drawing/2014/main" id="{020B0B90-F9A8-14C0-5A9E-E3D627749660}"/>
                  </a:ext>
                </a:extLst>
              </p:cNvPr>
              <p:cNvSpPr txBox="1"/>
              <p:nvPr/>
            </p:nvSpPr>
            <p:spPr>
              <a:xfrm>
                <a:off x="9651492" y="1828443"/>
                <a:ext cx="1751075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250" b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离线训练</a:t>
                </a: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51070C66-9882-E86E-F5A1-BF267D73ED3C}"/>
                </a:ext>
              </a:extLst>
            </p:cNvPr>
            <p:cNvGrpSpPr/>
            <p:nvPr/>
          </p:nvGrpSpPr>
          <p:grpSpPr>
            <a:xfrm>
              <a:off x="497341" y="2134691"/>
              <a:ext cx="7604082" cy="844187"/>
              <a:chOff x="658368" y="2688335"/>
              <a:chExt cx="10872215" cy="1207008"/>
            </a:xfrm>
          </p:grpSpPr>
          <p:sp>
            <p:nvSpPr>
              <p:cNvPr id="72" name="Rounded Rectangle 19">
                <a:extLst>
                  <a:ext uri="{FF2B5EF4-FFF2-40B4-BE49-F238E27FC236}">
                    <a16:creationId xmlns:a16="http://schemas.microsoft.com/office/drawing/2014/main" id="{BF9C02D3-44F5-5BCE-6783-12E3FEB2E7FD}"/>
                  </a:ext>
                </a:extLst>
              </p:cNvPr>
              <p:cNvSpPr/>
              <p:nvPr/>
            </p:nvSpPr>
            <p:spPr>
              <a:xfrm>
                <a:off x="658368" y="3026663"/>
                <a:ext cx="1600200" cy="530352"/>
              </a:xfrm>
              <a:prstGeom prst="roundRect">
                <a:avLst>
                  <a:gd name="adj" fmla="val 12068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3" name="TextBox 20">
                <a:extLst>
                  <a:ext uri="{FF2B5EF4-FFF2-40B4-BE49-F238E27FC236}">
                    <a16:creationId xmlns:a16="http://schemas.microsoft.com/office/drawing/2014/main" id="{61166E1B-E816-29FB-3AEC-61B148EA0207}"/>
                  </a:ext>
                </a:extLst>
              </p:cNvPr>
              <p:cNvSpPr txBox="1"/>
              <p:nvPr/>
            </p:nvSpPr>
            <p:spPr>
              <a:xfrm>
                <a:off x="768096" y="3141029"/>
                <a:ext cx="1380744" cy="3016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sz="1250" b="1" dirty="0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GPU </a:t>
                </a:r>
                <a:r>
                  <a:rPr sz="1250" b="1" dirty="0" err="1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服务器</a:t>
                </a:r>
                <a:endParaRPr sz="1250" b="1" dirty="0">
                  <a:solidFill>
                    <a:schemeClr val="bg1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74" name="Rounded Rectangle 21">
                <a:extLst>
                  <a:ext uri="{FF2B5EF4-FFF2-40B4-BE49-F238E27FC236}">
                    <a16:creationId xmlns:a16="http://schemas.microsoft.com/office/drawing/2014/main" id="{D78414C3-58CF-CED6-C154-90B7A979A72C}"/>
                  </a:ext>
                </a:extLst>
              </p:cNvPr>
              <p:cNvSpPr/>
              <p:nvPr/>
            </p:nvSpPr>
            <p:spPr>
              <a:xfrm>
                <a:off x="2423160" y="2688335"/>
                <a:ext cx="2153411" cy="1207008"/>
              </a:xfrm>
              <a:prstGeom prst="roundRect">
                <a:avLst>
                  <a:gd name="adj" fmla="val 6060"/>
                </a:avLst>
              </a:prstGeom>
              <a:solidFill>
                <a:schemeClr val="bg1"/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5" name="Rounded Rectangle 22">
                <a:extLst>
                  <a:ext uri="{FF2B5EF4-FFF2-40B4-BE49-F238E27FC236}">
                    <a16:creationId xmlns:a16="http://schemas.microsoft.com/office/drawing/2014/main" id="{7EB30D41-84AE-88A7-DC49-6BD66926B8FF}"/>
                  </a:ext>
                </a:extLst>
              </p:cNvPr>
              <p:cNvSpPr/>
              <p:nvPr/>
            </p:nvSpPr>
            <p:spPr>
              <a:xfrm>
                <a:off x="2505456" y="2770631"/>
                <a:ext cx="1988819" cy="274320"/>
              </a:xfrm>
              <a:prstGeom prst="roundRect">
                <a:avLst>
                  <a:gd name="adj" fmla="val 16666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6" name="Rectangle 23">
                <a:extLst>
                  <a:ext uri="{FF2B5EF4-FFF2-40B4-BE49-F238E27FC236}">
                    <a16:creationId xmlns:a16="http://schemas.microsoft.com/office/drawing/2014/main" id="{7386F437-E996-1C5E-D436-BD140707F0CA}"/>
                  </a:ext>
                </a:extLst>
              </p:cNvPr>
              <p:cNvSpPr/>
              <p:nvPr/>
            </p:nvSpPr>
            <p:spPr>
              <a:xfrm>
                <a:off x="2596896" y="2848355"/>
                <a:ext cx="100584" cy="100584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7" name="TextBox 24">
                <a:extLst>
                  <a:ext uri="{FF2B5EF4-FFF2-40B4-BE49-F238E27FC236}">
                    <a16:creationId xmlns:a16="http://schemas.microsoft.com/office/drawing/2014/main" id="{3087734E-779B-4785-FBC4-55FEA085275D}"/>
                  </a:ext>
                </a:extLst>
              </p:cNvPr>
              <p:cNvSpPr txBox="1"/>
              <p:nvPr/>
            </p:nvSpPr>
            <p:spPr>
              <a:xfrm>
                <a:off x="2770632" y="2775775"/>
                <a:ext cx="1677923" cy="2640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Turing</a:t>
                </a:r>
              </a:p>
            </p:txBody>
          </p:sp>
          <p:sp>
            <p:nvSpPr>
              <p:cNvPr id="78" name="Rounded Rectangle 25">
                <a:extLst>
                  <a:ext uri="{FF2B5EF4-FFF2-40B4-BE49-F238E27FC236}">
                    <a16:creationId xmlns:a16="http://schemas.microsoft.com/office/drawing/2014/main" id="{629884B3-BBF1-C183-319D-6DCB781B1B30}"/>
                  </a:ext>
                </a:extLst>
              </p:cNvPr>
              <p:cNvSpPr/>
              <p:nvPr/>
            </p:nvSpPr>
            <p:spPr>
              <a:xfrm>
                <a:off x="2505456" y="3118103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9" name="Rectangle 26">
                <a:extLst>
                  <a:ext uri="{FF2B5EF4-FFF2-40B4-BE49-F238E27FC236}">
                    <a16:creationId xmlns:a16="http://schemas.microsoft.com/office/drawing/2014/main" id="{DE8B6392-F1EF-16E3-0F2E-5B50F627862C}"/>
                  </a:ext>
                </a:extLst>
              </p:cNvPr>
              <p:cNvSpPr/>
              <p:nvPr/>
            </p:nvSpPr>
            <p:spPr>
              <a:xfrm>
                <a:off x="2606040" y="3168395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0" name="Rectangle 27">
                <a:extLst>
                  <a:ext uri="{FF2B5EF4-FFF2-40B4-BE49-F238E27FC236}">
                    <a16:creationId xmlns:a16="http://schemas.microsoft.com/office/drawing/2014/main" id="{25C78FC7-4C63-8F46-50F9-446A0F3DA0E6}"/>
                  </a:ext>
                </a:extLst>
              </p:cNvPr>
              <p:cNvSpPr/>
              <p:nvPr/>
            </p:nvSpPr>
            <p:spPr>
              <a:xfrm>
                <a:off x="2743200" y="3168395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1" name="Rectangle 28">
                <a:extLst>
                  <a:ext uri="{FF2B5EF4-FFF2-40B4-BE49-F238E27FC236}">
                    <a16:creationId xmlns:a16="http://schemas.microsoft.com/office/drawing/2014/main" id="{45E8E188-4541-DE0E-81A2-801FB716D913}"/>
                  </a:ext>
                </a:extLst>
              </p:cNvPr>
              <p:cNvSpPr/>
              <p:nvPr/>
            </p:nvSpPr>
            <p:spPr>
              <a:xfrm>
                <a:off x="2935224" y="3177539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2" name="Rectangle 29">
                <a:extLst>
                  <a:ext uri="{FF2B5EF4-FFF2-40B4-BE49-F238E27FC236}">
                    <a16:creationId xmlns:a16="http://schemas.microsoft.com/office/drawing/2014/main" id="{355F9101-9F7E-BFD8-D631-D91C9834935F}"/>
                  </a:ext>
                </a:extLst>
              </p:cNvPr>
              <p:cNvSpPr/>
              <p:nvPr/>
            </p:nvSpPr>
            <p:spPr>
              <a:xfrm>
                <a:off x="3936491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3" name="Rectangle 30">
                <a:extLst>
                  <a:ext uri="{FF2B5EF4-FFF2-40B4-BE49-F238E27FC236}">
                    <a16:creationId xmlns:a16="http://schemas.microsoft.com/office/drawing/2014/main" id="{5E4B8238-7866-5E15-33F6-E60B2240799A}"/>
                  </a:ext>
                </a:extLst>
              </p:cNvPr>
              <p:cNvSpPr/>
              <p:nvPr/>
            </p:nvSpPr>
            <p:spPr>
              <a:xfrm>
                <a:off x="4069079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4" name="Rectangle 31">
                <a:extLst>
                  <a:ext uri="{FF2B5EF4-FFF2-40B4-BE49-F238E27FC236}">
                    <a16:creationId xmlns:a16="http://schemas.microsoft.com/office/drawing/2014/main" id="{D9007F19-05CB-060D-3AB5-FB4BB47976E0}"/>
                  </a:ext>
                </a:extLst>
              </p:cNvPr>
              <p:cNvSpPr/>
              <p:nvPr/>
            </p:nvSpPr>
            <p:spPr>
              <a:xfrm>
                <a:off x="4201668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5" name="Rectangle 32">
                <a:extLst>
                  <a:ext uri="{FF2B5EF4-FFF2-40B4-BE49-F238E27FC236}">
                    <a16:creationId xmlns:a16="http://schemas.microsoft.com/office/drawing/2014/main" id="{699BBBFC-CF17-4F5A-46EB-F76570263ED4}"/>
                  </a:ext>
                </a:extLst>
              </p:cNvPr>
              <p:cNvSpPr/>
              <p:nvPr/>
            </p:nvSpPr>
            <p:spPr>
              <a:xfrm>
                <a:off x="4334255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6" name="Rounded Rectangle 33">
                <a:extLst>
                  <a:ext uri="{FF2B5EF4-FFF2-40B4-BE49-F238E27FC236}">
                    <a16:creationId xmlns:a16="http://schemas.microsoft.com/office/drawing/2014/main" id="{745C90B1-4E9C-9F3A-B549-08A54CACF937}"/>
                  </a:ext>
                </a:extLst>
              </p:cNvPr>
              <p:cNvSpPr/>
              <p:nvPr/>
            </p:nvSpPr>
            <p:spPr>
              <a:xfrm>
                <a:off x="2505456" y="3374135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7" name="Rectangle 34">
                <a:extLst>
                  <a:ext uri="{FF2B5EF4-FFF2-40B4-BE49-F238E27FC236}">
                    <a16:creationId xmlns:a16="http://schemas.microsoft.com/office/drawing/2014/main" id="{7E9D0DF3-48BF-3707-EF68-00B30C00E64E}"/>
                  </a:ext>
                </a:extLst>
              </p:cNvPr>
              <p:cNvSpPr/>
              <p:nvPr/>
            </p:nvSpPr>
            <p:spPr>
              <a:xfrm>
                <a:off x="2606040" y="3424427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8" name="Rectangle 35">
                <a:extLst>
                  <a:ext uri="{FF2B5EF4-FFF2-40B4-BE49-F238E27FC236}">
                    <a16:creationId xmlns:a16="http://schemas.microsoft.com/office/drawing/2014/main" id="{3588DE0A-103F-875B-D0A3-45BCAEBD65FF}"/>
                  </a:ext>
                </a:extLst>
              </p:cNvPr>
              <p:cNvSpPr/>
              <p:nvPr/>
            </p:nvSpPr>
            <p:spPr>
              <a:xfrm>
                <a:off x="2743200" y="3424427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89" name="Rectangle 36">
                <a:extLst>
                  <a:ext uri="{FF2B5EF4-FFF2-40B4-BE49-F238E27FC236}">
                    <a16:creationId xmlns:a16="http://schemas.microsoft.com/office/drawing/2014/main" id="{DFE17145-6016-E420-7CAE-328E085D9744}"/>
                  </a:ext>
                </a:extLst>
              </p:cNvPr>
              <p:cNvSpPr/>
              <p:nvPr/>
            </p:nvSpPr>
            <p:spPr>
              <a:xfrm>
                <a:off x="2935224" y="3433571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0" name="Rectangle 37">
                <a:extLst>
                  <a:ext uri="{FF2B5EF4-FFF2-40B4-BE49-F238E27FC236}">
                    <a16:creationId xmlns:a16="http://schemas.microsoft.com/office/drawing/2014/main" id="{53872D7F-47B1-0141-8DA2-9B8BD91DE48F}"/>
                  </a:ext>
                </a:extLst>
              </p:cNvPr>
              <p:cNvSpPr/>
              <p:nvPr/>
            </p:nvSpPr>
            <p:spPr>
              <a:xfrm>
                <a:off x="3936491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1" name="Rectangle 38">
                <a:extLst>
                  <a:ext uri="{FF2B5EF4-FFF2-40B4-BE49-F238E27FC236}">
                    <a16:creationId xmlns:a16="http://schemas.microsoft.com/office/drawing/2014/main" id="{DD9C2D88-98F8-AE2B-7D69-B6FF0ADF7B73}"/>
                  </a:ext>
                </a:extLst>
              </p:cNvPr>
              <p:cNvSpPr/>
              <p:nvPr/>
            </p:nvSpPr>
            <p:spPr>
              <a:xfrm>
                <a:off x="4069079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2" name="Rectangle 39">
                <a:extLst>
                  <a:ext uri="{FF2B5EF4-FFF2-40B4-BE49-F238E27FC236}">
                    <a16:creationId xmlns:a16="http://schemas.microsoft.com/office/drawing/2014/main" id="{DEB3E764-F77A-93D2-3F81-7AA280CA1AD9}"/>
                  </a:ext>
                </a:extLst>
              </p:cNvPr>
              <p:cNvSpPr/>
              <p:nvPr/>
            </p:nvSpPr>
            <p:spPr>
              <a:xfrm>
                <a:off x="4201668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3" name="Rectangle 40">
                <a:extLst>
                  <a:ext uri="{FF2B5EF4-FFF2-40B4-BE49-F238E27FC236}">
                    <a16:creationId xmlns:a16="http://schemas.microsoft.com/office/drawing/2014/main" id="{145CD010-2DFA-832E-4F8C-4FF97DD8E6BF}"/>
                  </a:ext>
                </a:extLst>
              </p:cNvPr>
              <p:cNvSpPr/>
              <p:nvPr/>
            </p:nvSpPr>
            <p:spPr>
              <a:xfrm>
                <a:off x="4334255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4" name="Rounded Rectangle 41">
                <a:extLst>
                  <a:ext uri="{FF2B5EF4-FFF2-40B4-BE49-F238E27FC236}">
                    <a16:creationId xmlns:a16="http://schemas.microsoft.com/office/drawing/2014/main" id="{112C03AA-2F2C-9912-070B-92F1F9E28F0A}"/>
                  </a:ext>
                </a:extLst>
              </p:cNvPr>
              <p:cNvSpPr/>
              <p:nvPr/>
            </p:nvSpPr>
            <p:spPr>
              <a:xfrm>
                <a:off x="2505456" y="3630167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5" name="Rectangle 42">
                <a:extLst>
                  <a:ext uri="{FF2B5EF4-FFF2-40B4-BE49-F238E27FC236}">
                    <a16:creationId xmlns:a16="http://schemas.microsoft.com/office/drawing/2014/main" id="{3369EE03-A6FB-B7F4-FA5F-FEF7C6D59F44}"/>
                  </a:ext>
                </a:extLst>
              </p:cNvPr>
              <p:cNvSpPr/>
              <p:nvPr/>
            </p:nvSpPr>
            <p:spPr>
              <a:xfrm>
                <a:off x="2606040" y="3680459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6" name="Rectangle 43">
                <a:extLst>
                  <a:ext uri="{FF2B5EF4-FFF2-40B4-BE49-F238E27FC236}">
                    <a16:creationId xmlns:a16="http://schemas.microsoft.com/office/drawing/2014/main" id="{2330DF05-F4E8-94EB-3BCB-0D6D8727F34E}"/>
                  </a:ext>
                </a:extLst>
              </p:cNvPr>
              <p:cNvSpPr/>
              <p:nvPr/>
            </p:nvSpPr>
            <p:spPr>
              <a:xfrm>
                <a:off x="2743200" y="3680459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7" name="Rectangle 44">
                <a:extLst>
                  <a:ext uri="{FF2B5EF4-FFF2-40B4-BE49-F238E27FC236}">
                    <a16:creationId xmlns:a16="http://schemas.microsoft.com/office/drawing/2014/main" id="{072F43F5-9CAF-332B-71AB-FE8EC6E22A6A}"/>
                  </a:ext>
                </a:extLst>
              </p:cNvPr>
              <p:cNvSpPr/>
              <p:nvPr/>
            </p:nvSpPr>
            <p:spPr>
              <a:xfrm>
                <a:off x="2935224" y="3689603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8" name="Rectangle 45">
                <a:extLst>
                  <a:ext uri="{FF2B5EF4-FFF2-40B4-BE49-F238E27FC236}">
                    <a16:creationId xmlns:a16="http://schemas.microsoft.com/office/drawing/2014/main" id="{7203C72D-3566-99F2-A1E8-61183CED904D}"/>
                  </a:ext>
                </a:extLst>
              </p:cNvPr>
              <p:cNvSpPr/>
              <p:nvPr/>
            </p:nvSpPr>
            <p:spPr>
              <a:xfrm>
                <a:off x="3936491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99" name="Rectangle 46">
                <a:extLst>
                  <a:ext uri="{FF2B5EF4-FFF2-40B4-BE49-F238E27FC236}">
                    <a16:creationId xmlns:a16="http://schemas.microsoft.com/office/drawing/2014/main" id="{5AAC9C23-E28C-FCF8-E706-BB89AE3FD70C}"/>
                  </a:ext>
                </a:extLst>
              </p:cNvPr>
              <p:cNvSpPr/>
              <p:nvPr/>
            </p:nvSpPr>
            <p:spPr>
              <a:xfrm>
                <a:off x="4069079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0" name="Rectangle 47">
                <a:extLst>
                  <a:ext uri="{FF2B5EF4-FFF2-40B4-BE49-F238E27FC236}">
                    <a16:creationId xmlns:a16="http://schemas.microsoft.com/office/drawing/2014/main" id="{AF070A4D-57D5-3F2A-4302-BEDC9A9999CD}"/>
                  </a:ext>
                </a:extLst>
              </p:cNvPr>
              <p:cNvSpPr/>
              <p:nvPr/>
            </p:nvSpPr>
            <p:spPr>
              <a:xfrm>
                <a:off x="4201668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1" name="Rectangle 48">
                <a:extLst>
                  <a:ext uri="{FF2B5EF4-FFF2-40B4-BE49-F238E27FC236}">
                    <a16:creationId xmlns:a16="http://schemas.microsoft.com/office/drawing/2014/main" id="{DA31D410-C631-D0D0-E9CA-978508523C70}"/>
                  </a:ext>
                </a:extLst>
              </p:cNvPr>
              <p:cNvSpPr/>
              <p:nvPr/>
            </p:nvSpPr>
            <p:spPr>
              <a:xfrm>
                <a:off x="4334255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2" name="Rounded Rectangle 49">
                <a:extLst>
                  <a:ext uri="{FF2B5EF4-FFF2-40B4-BE49-F238E27FC236}">
                    <a16:creationId xmlns:a16="http://schemas.microsoft.com/office/drawing/2014/main" id="{EB311F63-B43D-A160-7AEF-BF99A44DE6A6}"/>
                  </a:ext>
                </a:extLst>
              </p:cNvPr>
              <p:cNvSpPr/>
              <p:nvPr/>
            </p:nvSpPr>
            <p:spPr>
              <a:xfrm>
                <a:off x="4741164" y="2688335"/>
                <a:ext cx="2153411" cy="1207008"/>
              </a:xfrm>
              <a:prstGeom prst="roundRect">
                <a:avLst>
                  <a:gd name="adj" fmla="val 6060"/>
                </a:avLst>
              </a:prstGeom>
              <a:solidFill>
                <a:schemeClr val="bg1"/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3" name="Rounded Rectangle 50">
                <a:extLst>
                  <a:ext uri="{FF2B5EF4-FFF2-40B4-BE49-F238E27FC236}">
                    <a16:creationId xmlns:a16="http://schemas.microsoft.com/office/drawing/2014/main" id="{8C907F2B-D558-AB26-48DD-130E2B69B9B8}"/>
                  </a:ext>
                </a:extLst>
              </p:cNvPr>
              <p:cNvSpPr/>
              <p:nvPr/>
            </p:nvSpPr>
            <p:spPr>
              <a:xfrm>
                <a:off x="4823460" y="2770631"/>
                <a:ext cx="1988819" cy="274320"/>
              </a:xfrm>
              <a:prstGeom prst="roundRect">
                <a:avLst>
                  <a:gd name="adj" fmla="val 16666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4" name="Rectangle 51">
                <a:extLst>
                  <a:ext uri="{FF2B5EF4-FFF2-40B4-BE49-F238E27FC236}">
                    <a16:creationId xmlns:a16="http://schemas.microsoft.com/office/drawing/2014/main" id="{43F542C8-9D27-FA5B-3C2C-708B2B989D59}"/>
                  </a:ext>
                </a:extLst>
              </p:cNvPr>
              <p:cNvSpPr/>
              <p:nvPr/>
            </p:nvSpPr>
            <p:spPr>
              <a:xfrm>
                <a:off x="4914900" y="2848355"/>
                <a:ext cx="100584" cy="100584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5" name="TextBox 52">
                <a:extLst>
                  <a:ext uri="{FF2B5EF4-FFF2-40B4-BE49-F238E27FC236}">
                    <a16:creationId xmlns:a16="http://schemas.microsoft.com/office/drawing/2014/main" id="{D1484C87-A283-D95B-7B25-81FDD1C4DD1C}"/>
                  </a:ext>
                </a:extLst>
              </p:cNvPr>
              <p:cNvSpPr txBox="1"/>
              <p:nvPr/>
            </p:nvSpPr>
            <p:spPr>
              <a:xfrm>
                <a:off x="5088636" y="2775775"/>
                <a:ext cx="1677923" cy="2640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Ampere</a:t>
                </a:r>
              </a:p>
            </p:txBody>
          </p:sp>
          <p:sp>
            <p:nvSpPr>
              <p:cNvPr id="106" name="Rounded Rectangle 53">
                <a:extLst>
                  <a:ext uri="{FF2B5EF4-FFF2-40B4-BE49-F238E27FC236}">
                    <a16:creationId xmlns:a16="http://schemas.microsoft.com/office/drawing/2014/main" id="{4E61EB9C-1E56-7C8F-CCBA-E11D78E2CED7}"/>
                  </a:ext>
                </a:extLst>
              </p:cNvPr>
              <p:cNvSpPr/>
              <p:nvPr/>
            </p:nvSpPr>
            <p:spPr>
              <a:xfrm>
                <a:off x="4823460" y="3118103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7" name="Rectangle 54">
                <a:extLst>
                  <a:ext uri="{FF2B5EF4-FFF2-40B4-BE49-F238E27FC236}">
                    <a16:creationId xmlns:a16="http://schemas.microsoft.com/office/drawing/2014/main" id="{F9BCB788-4E19-1FF2-875D-BDE6C3CE3C3B}"/>
                  </a:ext>
                </a:extLst>
              </p:cNvPr>
              <p:cNvSpPr/>
              <p:nvPr/>
            </p:nvSpPr>
            <p:spPr>
              <a:xfrm>
                <a:off x="4924044" y="3168395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8" name="Rectangle 55">
                <a:extLst>
                  <a:ext uri="{FF2B5EF4-FFF2-40B4-BE49-F238E27FC236}">
                    <a16:creationId xmlns:a16="http://schemas.microsoft.com/office/drawing/2014/main" id="{46A2494C-D14F-AA40-9200-1B76BB7E13F4}"/>
                  </a:ext>
                </a:extLst>
              </p:cNvPr>
              <p:cNvSpPr/>
              <p:nvPr/>
            </p:nvSpPr>
            <p:spPr>
              <a:xfrm>
                <a:off x="5061204" y="3168395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09" name="Rectangle 56">
                <a:extLst>
                  <a:ext uri="{FF2B5EF4-FFF2-40B4-BE49-F238E27FC236}">
                    <a16:creationId xmlns:a16="http://schemas.microsoft.com/office/drawing/2014/main" id="{50D3B9EF-28D4-6579-EEDD-AE76AB2D80DA}"/>
                  </a:ext>
                </a:extLst>
              </p:cNvPr>
              <p:cNvSpPr/>
              <p:nvPr/>
            </p:nvSpPr>
            <p:spPr>
              <a:xfrm>
                <a:off x="5253228" y="3177539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0" name="Rectangle 57">
                <a:extLst>
                  <a:ext uri="{FF2B5EF4-FFF2-40B4-BE49-F238E27FC236}">
                    <a16:creationId xmlns:a16="http://schemas.microsoft.com/office/drawing/2014/main" id="{4FE3F891-4BA2-68A1-7CE9-EDA1BBB0304E}"/>
                  </a:ext>
                </a:extLst>
              </p:cNvPr>
              <p:cNvSpPr/>
              <p:nvPr/>
            </p:nvSpPr>
            <p:spPr>
              <a:xfrm>
                <a:off x="6254496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1" name="Rectangle 58">
                <a:extLst>
                  <a:ext uri="{FF2B5EF4-FFF2-40B4-BE49-F238E27FC236}">
                    <a16:creationId xmlns:a16="http://schemas.microsoft.com/office/drawing/2014/main" id="{B9C08487-7922-BC17-44C5-F02D7D248634}"/>
                  </a:ext>
                </a:extLst>
              </p:cNvPr>
              <p:cNvSpPr/>
              <p:nvPr/>
            </p:nvSpPr>
            <p:spPr>
              <a:xfrm>
                <a:off x="6387083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2" name="Rectangle 59">
                <a:extLst>
                  <a:ext uri="{FF2B5EF4-FFF2-40B4-BE49-F238E27FC236}">
                    <a16:creationId xmlns:a16="http://schemas.microsoft.com/office/drawing/2014/main" id="{3656C740-5D6C-62E4-E64F-D405F0C2C98B}"/>
                  </a:ext>
                </a:extLst>
              </p:cNvPr>
              <p:cNvSpPr/>
              <p:nvPr/>
            </p:nvSpPr>
            <p:spPr>
              <a:xfrm>
                <a:off x="6519672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3" name="Rectangle 60">
                <a:extLst>
                  <a:ext uri="{FF2B5EF4-FFF2-40B4-BE49-F238E27FC236}">
                    <a16:creationId xmlns:a16="http://schemas.microsoft.com/office/drawing/2014/main" id="{62CB084D-D051-04D3-938D-0F575E3B6624}"/>
                  </a:ext>
                </a:extLst>
              </p:cNvPr>
              <p:cNvSpPr/>
              <p:nvPr/>
            </p:nvSpPr>
            <p:spPr>
              <a:xfrm>
                <a:off x="6652259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5" name="Rounded Rectangle 61">
                <a:extLst>
                  <a:ext uri="{FF2B5EF4-FFF2-40B4-BE49-F238E27FC236}">
                    <a16:creationId xmlns:a16="http://schemas.microsoft.com/office/drawing/2014/main" id="{527608C8-F9A6-1DE0-11F5-5E245339895F}"/>
                  </a:ext>
                </a:extLst>
              </p:cNvPr>
              <p:cNvSpPr/>
              <p:nvPr/>
            </p:nvSpPr>
            <p:spPr>
              <a:xfrm>
                <a:off x="4823460" y="3374135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6" name="Rectangle 62">
                <a:extLst>
                  <a:ext uri="{FF2B5EF4-FFF2-40B4-BE49-F238E27FC236}">
                    <a16:creationId xmlns:a16="http://schemas.microsoft.com/office/drawing/2014/main" id="{E5340A15-67F0-7F17-82BF-35C25420D688}"/>
                  </a:ext>
                </a:extLst>
              </p:cNvPr>
              <p:cNvSpPr/>
              <p:nvPr/>
            </p:nvSpPr>
            <p:spPr>
              <a:xfrm>
                <a:off x="4924044" y="3424427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7" name="Rectangle 63">
                <a:extLst>
                  <a:ext uri="{FF2B5EF4-FFF2-40B4-BE49-F238E27FC236}">
                    <a16:creationId xmlns:a16="http://schemas.microsoft.com/office/drawing/2014/main" id="{F8C7F7FB-A136-EAE4-5FE4-D238E8E06165}"/>
                  </a:ext>
                </a:extLst>
              </p:cNvPr>
              <p:cNvSpPr/>
              <p:nvPr/>
            </p:nvSpPr>
            <p:spPr>
              <a:xfrm>
                <a:off x="5061204" y="3424427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8" name="Rectangle 64">
                <a:extLst>
                  <a:ext uri="{FF2B5EF4-FFF2-40B4-BE49-F238E27FC236}">
                    <a16:creationId xmlns:a16="http://schemas.microsoft.com/office/drawing/2014/main" id="{3AF7BFFF-F312-4463-27E5-E1AB55D000C1}"/>
                  </a:ext>
                </a:extLst>
              </p:cNvPr>
              <p:cNvSpPr/>
              <p:nvPr/>
            </p:nvSpPr>
            <p:spPr>
              <a:xfrm>
                <a:off x="5253228" y="3433571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19" name="Rectangle 65">
                <a:extLst>
                  <a:ext uri="{FF2B5EF4-FFF2-40B4-BE49-F238E27FC236}">
                    <a16:creationId xmlns:a16="http://schemas.microsoft.com/office/drawing/2014/main" id="{29EB3216-E1B2-261C-5B90-ADD13E4412F2}"/>
                  </a:ext>
                </a:extLst>
              </p:cNvPr>
              <p:cNvSpPr/>
              <p:nvPr/>
            </p:nvSpPr>
            <p:spPr>
              <a:xfrm>
                <a:off x="6254496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0" name="Rectangle 66">
                <a:extLst>
                  <a:ext uri="{FF2B5EF4-FFF2-40B4-BE49-F238E27FC236}">
                    <a16:creationId xmlns:a16="http://schemas.microsoft.com/office/drawing/2014/main" id="{B286C4C0-072C-5466-E8CF-3340FF8BD306}"/>
                  </a:ext>
                </a:extLst>
              </p:cNvPr>
              <p:cNvSpPr/>
              <p:nvPr/>
            </p:nvSpPr>
            <p:spPr>
              <a:xfrm>
                <a:off x="6387083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1" name="Rectangle 67">
                <a:extLst>
                  <a:ext uri="{FF2B5EF4-FFF2-40B4-BE49-F238E27FC236}">
                    <a16:creationId xmlns:a16="http://schemas.microsoft.com/office/drawing/2014/main" id="{FCE9D7E1-F254-A8C7-A80E-13D1189BDC79}"/>
                  </a:ext>
                </a:extLst>
              </p:cNvPr>
              <p:cNvSpPr/>
              <p:nvPr/>
            </p:nvSpPr>
            <p:spPr>
              <a:xfrm>
                <a:off x="6519672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2" name="Rectangle 68">
                <a:extLst>
                  <a:ext uri="{FF2B5EF4-FFF2-40B4-BE49-F238E27FC236}">
                    <a16:creationId xmlns:a16="http://schemas.microsoft.com/office/drawing/2014/main" id="{C41004F2-157F-CD45-C01C-10FE9478DB05}"/>
                  </a:ext>
                </a:extLst>
              </p:cNvPr>
              <p:cNvSpPr/>
              <p:nvPr/>
            </p:nvSpPr>
            <p:spPr>
              <a:xfrm>
                <a:off x="6652259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3" name="Rounded Rectangle 69">
                <a:extLst>
                  <a:ext uri="{FF2B5EF4-FFF2-40B4-BE49-F238E27FC236}">
                    <a16:creationId xmlns:a16="http://schemas.microsoft.com/office/drawing/2014/main" id="{65757681-7248-158E-6813-EA3E5444B595}"/>
                  </a:ext>
                </a:extLst>
              </p:cNvPr>
              <p:cNvSpPr/>
              <p:nvPr/>
            </p:nvSpPr>
            <p:spPr>
              <a:xfrm>
                <a:off x="4823460" y="3630167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4" name="Rectangle 70">
                <a:extLst>
                  <a:ext uri="{FF2B5EF4-FFF2-40B4-BE49-F238E27FC236}">
                    <a16:creationId xmlns:a16="http://schemas.microsoft.com/office/drawing/2014/main" id="{3994C0BB-4FE9-9781-5980-D97D53999315}"/>
                  </a:ext>
                </a:extLst>
              </p:cNvPr>
              <p:cNvSpPr/>
              <p:nvPr/>
            </p:nvSpPr>
            <p:spPr>
              <a:xfrm>
                <a:off x="4924044" y="3680459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5" name="Rectangle 71">
                <a:extLst>
                  <a:ext uri="{FF2B5EF4-FFF2-40B4-BE49-F238E27FC236}">
                    <a16:creationId xmlns:a16="http://schemas.microsoft.com/office/drawing/2014/main" id="{2DE13CDB-DD45-54A7-ED5C-CF7A9437BF1D}"/>
                  </a:ext>
                </a:extLst>
              </p:cNvPr>
              <p:cNvSpPr/>
              <p:nvPr/>
            </p:nvSpPr>
            <p:spPr>
              <a:xfrm>
                <a:off x="5061204" y="3680459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6" name="Rectangle 72">
                <a:extLst>
                  <a:ext uri="{FF2B5EF4-FFF2-40B4-BE49-F238E27FC236}">
                    <a16:creationId xmlns:a16="http://schemas.microsoft.com/office/drawing/2014/main" id="{FC564947-059C-A7B4-407C-9D238F60FA51}"/>
                  </a:ext>
                </a:extLst>
              </p:cNvPr>
              <p:cNvSpPr/>
              <p:nvPr/>
            </p:nvSpPr>
            <p:spPr>
              <a:xfrm>
                <a:off x="5253228" y="3689603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7" name="Rectangle 73">
                <a:extLst>
                  <a:ext uri="{FF2B5EF4-FFF2-40B4-BE49-F238E27FC236}">
                    <a16:creationId xmlns:a16="http://schemas.microsoft.com/office/drawing/2014/main" id="{54070C27-5C40-74CE-51E0-D17922013270}"/>
                  </a:ext>
                </a:extLst>
              </p:cNvPr>
              <p:cNvSpPr/>
              <p:nvPr/>
            </p:nvSpPr>
            <p:spPr>
              <a:xfrm>
                <a:off x="6254496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8" name="Rectangle 74">
                <a:extLst>
                  <a:ext uri="{FF2B5EF4-FFF2-40B4-BE49-F238E27FC236}">
                    <a16:creationId xmlns:a16="http://schemas.microsoft.com/office/drawing/2014/main" id="{1E65E4AA-102F-2FF8-1F59-58E4EE17495B}"/>
                  </a:ext>
                </a:extLst>
              </p:cNvPr>
              <p:cNvSpPr/>
              <p:nvPr/>
            </p:nvSpPr>
            <p:spPr>
              <a:xfrm>
                <a:off x="6387083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29" name="Rectangle 75">
                <a:extLst>
                  <a:ext uri="{FF2B5EF4-FFF2-40B4-BE49-F238E27FC236}">
                    <a16:creationId xmlns:a16="http://schemas.microsoft.com/office/drawing/2014/main" id="{CDF70BC8-14BD-F683-5696-2202004C038A}"/>
                  </a:ext>
                </a:extLst>
              </p:cNvPr>
              <p:cNvSpPr/>
              <p:nvPr/>
            </p:nvSpPr>
            <p:spPr>
              <a:xfrm>
                <a:off x="6519672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0" name="Rectangle 76">
                <a:extLst>
                  <a:ext uri="{FF2B5EF4-FFF2-40B4-BE49-F238E27FC236}">
                    <a16:creationId xmlns:a16="http://schemas.microsoft.com/office/drawing/2014/main" id="{04EDFB1D-6FB3-EF41-A70C-9A85FA66232D}"/>
                  </a:ext>
                </a:extLst>
              </p:cNvPr>
              <p:cNvSpPr/>
              <p:nvPr/>
            </p:nvSpPr>
            <p:spPr>
              <a:xfrm>
                <a:off x="6652259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1" name="Rounded Rectangle 77">
                <a:extLst>
                  <a:ext uri="{FF2B5EF4-FFF2-40B4-BE49-F238E27FC236}">
                    <a16:creationId xmlns:a16="http://schemas.microsoft.com/office/drawing/2014/main" id="{3DCABCDA-8FB9-2EA9-864C-FFAAA603E63F}"/>
                  </a:ext>
                </a:extLst>
              </p:cNvPr>
              <p:cNvSpPr/>
              <p:nvPr/>
            </p:nvSpPr>
            <p:spPr>
              <a:xfrm>
                <a:off x="7059168" y="2688335"/>
                <a:ext cx="2153411" cy="1207008"/>
              </a:xfrm>
              <a:prstGeom prst="roundRect">
                <a:avLst>
                  <a:gd name="adj" fmla="val 6060"/>
                </a:avLst>
              </a:prstGeom>
              <a:solidFill>
                <a:schemeClr val="bg1"/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2" name="Rounded Rectangle 78">
                <a:extLst>
                  <a:ext uri="{FF2B5EF4-FFF2-40B4-BE49-F238E27FC236}">
                    <a16:creationId xmlns:a16="http://schemas.microsoft.com/office/drawing/2014/main" id="{29CFF1A9-1393-D505-2D0E-A00FFD5A23DD}"/>
                  </a:ext>
                </a:extLst>
              </p:cNvPr>
              <p:cNvSpPr/>
              <p:nvPr/>
            </p:nvSpPr>
            <p:spPr>
              <a:xfrm>
                <a:off x="7141464" y="2770631"/>
                <a:ext cx="1988819" cy="274320"/>
              </a:xfrm>
              <a:prstGeom prst="roundRect">
                <a:avLst>
                  <a:gd name="adj" fmla="val 16666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3" name="Rectangle 79">
                <a:extLst>
                  <a:ext uri="{FF2B5EF4-FFF2-40B4-BE49-F238E27FC236}">
                    <a16:creationId xmlns:a16="http://schemas.microsoft.com/office/drawing/2014/main" id="{6433E38F-E62F-C790-AF19-FAA75E835D33}"/>
                  </a:ext>
                </a:extLst>
              </p:cNvPr>
              <p:cNvSpPr/>
              <p:nvPr/>
            </p:nvSpPr>
            <p:spPr>
              <a:xfrm>
                <a:off x="7232904" y="2848355"/>
                <a:ext cx="100584" cy="100584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4" name="TextBox 80">
                <a:extLst>
                  <a:ext uri="{FF2B5EF4-FFF2-40B4-BE49-F238E27FC236}">
                    <a16:creationId xmlns:a16="http://schemas.microsoft.com/office/drawing/2014/main" id="{7F26C6CD-CFF0-CE90-2E4B-9FB54543D818}"/>
                  </a:ext>
                </a:extLst>
              </p:cNvPr>
              <p:cNvSpPr txBox="1"/>
              <p:nvPr/>
            </p:nvSpPr>
            <p:spPr>
              <a:xfrm>
                <a:off x="7406639" y="2775775"/>
                <a:ext cx="1677923" cy="2640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Hopper</a:t>
                </a:r>
              </a:p>
            </p:txBody>
          </p:sp>
          <p:sp>
            <p:nvSpPr>
              <p:cNvPr id="135" name="Rounded Rectangle 81">
                <a:extLst>
                  <a:ext uri="{FF2B5EF4-FFF2-40B4-BE49-F238E27FC236}">
                    <a16:creationId xmlns:a16="http://schemas.microsoft.com/office/drawing/2014/main" id="{D0B4D09C-7A55-3120-1758-EC2FEEEC3EC9}"/>
                  </a:ext>
                </a:extLst>
              </p:cNvPr>
              <p:cNvSpPr/>
              <p:nvPr/>
            </p:nvSpPr>
            <p:spPr>
              <a:xfrm>
                <a:off x="7141464" y="3118103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6" name="Rectangle 82">
                <a:extLst>
                  <a:ext uri="{FF2B5EF4-FFF2-40B4-BE49-F238E27FC236}">
                    <a16:creationId xmlns:a16="http://schemas.microsoft.com/office/drawing/2014/main" id="{7B8587C5-AD1F-1D6C-3A27-46384F5CE177}"/>
                  </a:ext>
                </a:extLst>
              </p:cNvPr>
              <p:cNvSpPr/>
              <p:nvPr/>
            </p:nvSpPr>
            <p:spPr>
              <a:xfrm>
                <a:off x="7242048" y="3168395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7" name="Rectangle 83">
                <a:extLst>
                  <a:ext uri="{FF2B5EF4-FFF2-40B4-BE49-F238E27FC236}">
                    <a16:creationId xmlns:a16="http://schemas.microsoft.com/office/drawing/2014/main" id="{1A84F6EA-4967-1F1E-892C-D61926B3D13B}"/>
                  </a:ext>
                </a:extLst>
              </p:cNvPr>
              <p:cNvSpPr/>
              <p:nvPr/>
            </p:nvSpPr>
            <p:spPr>
              <a:xfrm>
                <a:off x="7379208" y="3168395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8" name="Rectangle 84">
                <a:extLst>
                  <a:ext uri="{FF2B5EF4-FFF2-40B4-BE49-F238E27FC236}">
                    <a16:creationId xmlns:a16="http://schemas.microsoft.com/office/drawing/2014/main" id="{61EE76E6-68AA-C9AB-D15F-5F65BD98F804}"/>
                  </a:ext>
                </a:extLst>
              </p:cNvPr>
              <p:cNvSpPr/>
              <p:nvPr/>
            </p:nvSpPr>
            <p:spPr>
              <a:xfrm>
                <a:off x="7571231" y="3177539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39" name="Rectangle 85">
                <a:extLst>
                  <a:ext uri="{FF2B5EF4-FFF2-40B4-BE49-F238E27FC236}">
                    <a16:creationId xmlns:a16="http://schemas.microsoft.com/office/drawing/2014/main" id="{D90D787D-BA08-9D95-4C7C-3E028FA7F3EE}"/>
                  </a:ext>
                </a:extLst>
              </p:cNvPr>
              <p:cNvSpPr/>
              <p:nvPr/>
            </p:nvSpPr>
            <p:spPr>
              <a:xfrm>
                <a:off x="8572500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0" name="Rectangle 86">
                <a:extLst>
                  <a:ext uri="{FF2B5EF4-FFF2-40B4-BE49-F238E27FC236}">
                    <a16:creationId xmlns:a16="http://schemas.microsoft.com/office/drawing/2014/main" id="{5DB313F5-2104-DBC5-DD47-C72A6122F748}"/>
                  </a:ext>
                </a:extLst>
              </p:cNvPr>
              <p:cNvSpPr/>
              <p:nvPr/>
            </p:nvSpPr>
            <p:spPr>
              <a:xfrm>
                <a:off x="8705088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1" name="Rectangle 87">
                <a:extLst>
                  <a:ext uri="{FF2B5EF4-FFF2-40B4-BE49-F238E27FC236}">
                    <a16:creationId xmlns:a16="http://schemas.microsoft.com/office/drawing/2014/main" id="{B7C7A0C9-BFAD-DA38-C915-D8B94B5BE122}"/>
                  </a:ext>
                </a:extLst>
              </p:cNvPr>
              <p:cNvSpPr/>
              <p:nvPr/>
            </p:nvSpPr>
            <p:spPr>
              <a:xfrm>
                <a:off x="8837676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2" name="Rectangle 88">
                <a:extLst>
                  <a:ext uri="{FF2B5EF4-FFF2-40B4-BE49-F238E27FC236}">
                    <a16:creationId xmlns:a16="http://schemas.microsoft.com/office/drawing/2014/main" id="{F93B8AA2-A439-C844-C367-10EE62923A42}"/>
                  </a:ext>
                </a:extLst>
              </p:cNvPr>
              <p:cNvSpPr/>
              <p:nvPr/>
            </p:nvSpPr>
            <p:spPr>
              <a:xfrm>
                <a:off x="8970264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3" name="Rounded Rectangle 89">
                <a:extLst>
                  <a:ext uri="{FF2B5EF4-FFF2-40B4-BE49-F238E27FC236}">
                    <a16:creationId xmlns:a16="http://schemas.microsoft.com/office/drawing/2014/main" id="{57EF0035-2A99-BE18-AF1A-9E785D82DD36}"/>
                  </a:ext>
                </a:extLst>
              </p:cNvPr>
              <p:cNvSpPr/>
              <p:nvPr/>
            </p:nvSpPr>
            <p:spPr>
              <a:xfrm>
                <a:off x="7141464" y="3374135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4" name="Rectangle 90">
                <a:extLst>
                  <a:ext uri="{FF2B5EF4-FFF2-40B4-BE49-F238E27FC236}">
                    <a16:creationId xmlns:a16="http://schemas.microsoft.com/office/drawing/2014/main" id="{51DFABF3-FE1A-725B-1EE6-AA81D7600AE3}"/>
                  </a:ext>
                </a:extLst>
              </p:cNvPr>
              <p:cNvSpPr/>
              <p:nvPr/>
            </p:nvSpPr>
            <p:spPr>
              <a:xfrm>
                <a:off x="7242048" y="3424427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5" name="Rectangle 91">
                <a:extLst>
                  <a:ext uri="{FF2B5EF4-FFF2-40B4-BE49-F238E27FC236}">
                    <a16:creationId xmlns:a16="http://schemas.microsoft.com/office/drawing/2014/main" id="{2ED4F667-CE23-8AC1-440D-458592DAC310}"/>
                  </a:ext>
                </a:extLst>
              </p:cNvPr>
              <p:cNvSpPr/>
              <p:nvPr/>
            </p:nvSpPr>
            <p:spPr>
              <a:xfrm>
                <a:off x="7379208" y="3424427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6" name="Rectangle 92">
                <a:extLst>
                  <a:ext uri="{FF2B5EF4-FFF2-40B4-BE49-F238E27FC236}">
                    <a16:creationId xmlns:a16="http://schemas.microsoft.com/office/drawing/2014/main" id="{A5E22812-7246-C43A-DB69-5E920B055CBC}"/>
                  </a:ext>
                </a:extLst>
              </p:cNvPr>
              <p:cNvSpPr/>
              <p:nvPr/>
            </p:nvSpPr>
            <p:spPr>
              <a:xfrm>
                <a:off x="7571231" y="3433571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7" name="Rectangle 93">
                <a:extLst>
                  <a:ext uri="{FF2B5EF4-FFF2-40B4-BE49-F238E27FC236}">
                    <a16:creationId xmlns:a16="http://schemas.microsoft.com/office/drawing/2014/main" id="{1B1F9A77-C62D-4492-7A29-0CF14137EE70}"/>
                  </a:ext>
                </a:extLst>
              </p:cNvPr>
              <p:cNvSpPr/>
              <p:nvPr/>
            </p:nvSpPr>
            <p:spPr>
              <a:xfrm>
                <a:off x="8572500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8" name="Rectangle 94">
                <a:extLst>
                  <a:ext uri="{FF2B5EF4-FFF2-40B4-BE49-F238E27FC236}">
                    <a16:creationId xmlns:a16="http://schemas.microsoft.com/office/drawing/2014/main" id="{FF486EFB-5EAA-6852-8729-05A817E337B0}"/>
                  </a:ext>
                </a:extLst>
              </p:cNvPr>
              <p:cNvSpPr/>
              <p:nvPr/>
            </p:nvSpPr>
            <p:spPr>
              <a:xfrm>
                <a:off x="8705088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49" name="Rectangle 95">
                <a:extLst>
                  <a:ext uri="{FF2B5EF4-FFF2-40B4-BE49-F238E27FC236}">
                    <a16:creationId xmlns:a16="http://schemas.microsoft.com/office/drawing/2014/main" id="{7FB0B12C-8A3E-2F6E-7D2C-6A46F7738D64}"/>
                  </a:ext>
                </a:extLst>
              </p:cNvPr>
              <p:cNvSpPr/>
              <p:nvPr/>
            </p:nvSpPr>
            <p:spPr>
              <a:xfrm>
                <a:off x="8837676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0" name="Rectangle 96">
                <a:extLst>
                  <a:ext uri="{FF2B5EF4-FFF2-40B4-BE49-F238E27FC236}">
                    <a16:creationId xmlns:a16="http://schemas.microsoft.com/office/drawing/2014/main" id="{E566D804-5388-FC88-0204-5A8BF7395A1D}"/>
                  </a:ext>
                </a:extLst>
              </p:cNvPr>
              <p:cNvSpPr/>
              <p:nvPr/>
            </p:nvSpPr>
            <p:spPr>
              <a:xfrm>
                <a:off x="8970264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1" name="Rounded Rectangle 97">
                <a:extLst>
                  <a:ext uri="{FF2B5EF4-FFF2-40B4-BE49-F238E27FC236}">
                    <a16:creationId xmlns:a16="http://schemas.microsoft.com/office/drawing/2014/main" id="{7B3E82AF-0E58-B400-0C37-44E7A1B77C83}"/>
                  </a:ext>
                </a:extLst>
              </p:cNvPr>
              <p:cNvSpPr/>
              <p:nvPr/>
            </p:nvSpPr>
            <p:spPr>
              <a:xfrm>
                <a:off x="7141464" y="3630167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2" name="Rectangle 98">
                <a:extLst>
                  <a:ext uri="{FF2B5EF4-FFF2-40B4-BE49-F238E27FC236}">
                    <a16:creationId xmlns:a16="http://schemas.microsoft.com/office/drawing/2014/main" id="{5073C1AE-A9CB-52EF-12FC-AA3E0EE4427F}"/>
                  </a:ext>
                </a:extLst>
              </p:cNvPr>
              <p:cNvSpPr/>
              <p:nvPr/>
            </p:nvSpPr>
            <p:spPr>
              <a:xfrm>
                <a:off x="7242048" y="3680459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3" name="Rectangle 99">
                <a:extLst>
                  <a:ext uri="{FF2B5EF4-FFF2-40B4-BE49-F238E27FC236}">
                    <a16:creationId xmlns:a16="http://schemas.microsoft.com/office/drawing/2014/main" id="{B179EDDA-8973-50B3-3257-CB157A9E9E8E}"/>
                  </a:ext>
                </a:extLst>
              </p:cNvPr>
              <p:cNvSpPr/>
              <p:nvPr/>
            </p:nvSpPr>
            <p:spPr>
              <a:xfrm>
                <a:off x="7379208" y="3680459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4" name="Rectangle 100">
                <a:extLst>
                  <a:ext uri="{FF2B5EF4-FFF2-40B4-BE49-F238E27FC236}">
                    <a16:creationId xmlns:a16="http://schemas.microsoft.com/office/drawing/2014/main" id="{BB6262CA-8E6D-3922-17D2-3AD538D7A03E}"/>
                  </a:ext>
                </a:extLst>
              </p:cNvPr>
              <p:cNvSpPr/>
              <p:nvPr/>
            </p:nvSpPr>
            <p:spPr>
              <a:xfrm>
                <a:off x="7571231" y="3689603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5" name="Rectangle 101">
                <a:extLst>
                  <a:ext uri="{FF2B5EF4-FFF2-40B4-BE49-F238E27FC236}">
                    <a16:creationId xmlns:a16="http://schemas.microsoft.com/office/drawing/2014/main" id="{2DE98A60-1471-0813-A7CE-95D4EDAA37BD}"/>
                  </a:ext>
                </a:extLst>
              </p:cNvPr>
              <p:cNvSpPr/>
              <p:nvPr/>
            </p:nvSpPr>
            <p:spPr>
              <a:xfrm>
                <a:off x="8572500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6" name="Rectangle 102">
                <a:extLst>
                  <a:ext uri="{FF2B5EF4-FFF2-40B4-BE49-F238E27FC236}">
                    <a16:creationId xmlns:a16="http://schemas.microsoft.com/office/drawing/2014/main" id="{1487EF21-B4BD-B46A-CFCA-213BA63C66F4}"/>
                  </a:ext>
                </a:extLst>
              </p:cNvPr>
              <p:cNvSpPr/>
              <p:nvPr/>
            </p:nvSpPr>
            <p:spPr>
              <a:xfrm>
                <a:off x="8705088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7" name="Rectangle 103">
                <a:extLst>
                  <a:ext uri="{FF2B5EF4-FFF2-40B4-BE49-F238E27FC236}">
                    <a16:creationId xmlns:a16="http://schemas.microsoft.com/office/drawing/2014/main" id="{682D8B68-F680-CCF4-4C74-A66C7DA4072B}"/>
                  </a:ext>
                </a:extLst>
              </p:cNvPr>
              <p:cNvSpPr/>
              <p:nvPr/>
            </p:nvSpPr>
            <p:spPr>
              <a:xfrm>
                <a:off x="8837676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8" name="Rectangle 104">
                <a:extLst>
                  <a:ext uri="{FF2B5EF4-FFF2-40B4-BE49-F238E27FC236}">
                    <a16:creationId xmlns:a16="http://schemas.microsoft.com/office/drawing/2014/main" id="{F394A313-E87A-D413-2B04-075FA2FB81B1}"/>
                  </a:ext>
                </a:extLst>
              </p:cNvPr>
              <p:cNvSpPr/>
              <p:nvPr/>
            </p:nvSpPr>
            <p:spPr>
              <a:xfrm>
                <a:off x="8970264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59" name="Rounded Rectangle 105">
                <a:extLst>
                  <a:ext uri="{FF2B5EF4-FFF2-40B4-BE49-F238E27FC236}">
                    <a16:creationId xmlns:a16="http://schemas.microsoft.com/office/drawing/2014/main" id="{2EAB93CF-F6A8-F7DD-1FC0-C92CEC51431A}"/>
                  </a:ext>
                </a:extLst>
              </p:cNvPr>
              <p:cNvSpPr/>
              <p:nvPr/>
            </p:nvSpPr>
            <p:spPr>
              <a:xfrm>
                <a:off x="9377172" y="2688335"/>
                <a:ext cx="2153411" cy="1207008"/>
              </a:xfrm>
              <a:prstGeom prst="roundRect">
                <a:avLst>
                  <a:gd name="adj" fmla="val 6060"/>
                </a:avLst>
              </a:prstGeom>
              <a:solidFill>
                <a:schemeClr val="bg1"/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0" name="Rounded Rectangle 106">
                <a:extLst>
                  <a:ext uri="{FF2B5EF4-FFF2-40B4-BE49-F238E27FC236}">
                    <a16:creationId xmlns:a16="http://schemas.microsoft.com/office/drawing/2014/main" id="{EDE293BD-5F6E-EEEB-775C-681512C3DB01}"/>
                  </a:ext>
                </a:extLst>
              </p:cNvPr>
              <p:cNvSpPr/>
              <p:nvPr/>
            </p:nvSpPr>
            <p:spPr>
              <a:xfrm>
                <a:off x="9459467" y="2770631"/>
                <a:ext cx="1988819" cy="274320"/>
              </a:xfrm>
              <a:prstGeom prst="roundRect">
                <a:avLst>
                  <a:gd name="adj" fmla="val 16666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1" name="Rectangle 107">
                <a:extLst>
                  <a:ext uri="{FF2B5EF4-FFF2-40B4-BE49-F238E27FC236}">
                    <a16:creationId xmlns:a16="http://schemas.microsoft.com/office/drawing/2014/main" id="{B81C720A-F5DB-A8E5-FDF8-0C7BC53F7063}"/>
                  </a:ext>
                </a:extLst>
              </p:cNvPr>
              <p:cNvSpPr/>
              <p:nvPr/>
            </p:nvSpPr>
            <p:spPr>
              <a:xfrm>
                <a:off x="9550907" y="2848355"/>
                <a:ext cx="100584" cy="100584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2" name="TextBox 108">
                <a:extLst>
                  <a:ext uri="{FF2B5EF4-FFF2-40B4-BE49-F238E27FC236}">
                    <a16:creationId xmlns:a16="http://schemas.microsoft.com/office/drawing/2014/main" id="{B6157255-7E3D-B33B-EBDE-41826AE65378}"/>
                  </a:ext>
                </a:extLst>
              </p:cNvPr>
              <p:cNvSpPr txBox="1"/>
              <p:nvPr/>
            </p:nvSpPr>
            <p:spPr>
              <a:xfrm>
                <a:off x="9724644" y="2775775"/>
                <a:ext cx="1677923" cy="2640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20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Blackwell</a:t>
                </a:r>
              </a:p>
            </p:txBody>
          </p:sp>
          <p:sp>
            <p:nvSpPr>
              <p:cNvPr id="163" name="Rounded Rectangle 109">
                <a:extLst>
                  <a:ext uri="{FF2B5EF4-FFF2-40B4-BE49-F238E27FC236}">
                    <a16:creationId xmlns:a16="http://schemas.microsoft.com/office/drawing/2014/main" id="{C47CE017-09F4-BB7A-D6EA-804DA8F71508}"/>
                  </a:ext>
                </a:extLst>
              </p:cNvPr>
              <p:cNvSpPr/>
              <p:nvPr/>
            </p:nvSpPr>
            <p:spPr>
              <a:xfrm>
                <a:off x="9459467" y="3118103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4" name="Rectangle 110">
                <a:extLst>
                  <a:ext uri="{FF2B5EF4-FFF2-40B4-BE49-F238E27FC236}">
                    <a16:creationId xmlns:a16="http://schemas.microsoft.com/office/drawing/2014/main" id="{D80156F3-E390-45F5-604E-62D1AC64C0D2}"/>
                  </a:ext>
                </a:extLst>
              </p:cNvPr>
              <p:cNvSpPr/>
              <p:nvPr/>
            </p:nvSpPr>
            <p:spPr>
              <a:xfrm>
                <a:off x="9560051" y="3168395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5" name="Rectangle 111">
                <a:extLst>
                  <a:ext uri="{FF2B5EF4-FFF2-40B4-BE49-F238E27FC236}">
                    <a16:creationId xmlns:a16="http://schemas.microsoft.com/office/drawing/2014/main" id="{13C3121A-6046-EDFA-F068-ABB8186CA2BD}"/>
                  </a:ext>
                </a:extLst>
              </p:cNvPr>
              <p:cNvSpPr/>
              <p:nvPr/>
            </p:nvSpPr>
            <p:spPr>
              <a:xfrm>
                <a:off x="9697211" y="3168395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6" name="Rectangle 112">
                <a:extLst>
                  <a:ext uri="{FF2B5EF4-FFF2-40B4-BE49-F238E27FC236}">
                    <a16:creationId xmlns:a16="http://schemas.microsoft.com/office/drawing/2014/main" id="{E5737402-6930-AD5E-E402-9DAECA10D0A8}"/>
                  </a:ext>
                </a:extLst>
              </p:cNvPr>
              <p:cNvSpPr/>
              <p:nvPr/>
            </p:nvSpPr>
            <p:spPr>
              <a:xfrm>
                <a:off x="9889236" y="3177539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7" name="Rectangle 113">
                <a:extLst>
                  <a:ext uri="{FF2B5EF4-FFF2-40B4-BE49-F238E27FC236}">
                    <a16:creationId xmlns:a16="http://schemas.microsoft.com/office/drawing/2014/main" id="{1B9AB2C0-E9ED-8944-39B6-7E7D57113686}"/>
                  </a:ext>
                </a:extLst>
              </p:cNvPr>
              <p:cNvSpPr/>
              <p:nvPr/>
            </p:nvSpPr>
            <p:spPr>
              <a:xfrm>
                <a:off x="10890504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8" name="Rectangle 114">
                <a:extLst>
                  <a:ext uri="{FF2B5EF4-FFF2-40B4-BE49-F238E27FC236}">
                    <a16:creationId xmlns:a16="http://schemas.microsoft.com/office/drawing/2014/main" id="{F7861106-3ABB-9E40-3487-15E0E8EED68C}"/>
                  </a:ext>
                </a:extLst>
              </p:cNvPr>
              <p:cNvSpPr/>
              <p:nvPr/>
            </p:nvSpPr>
            <p:spPr>
              <a:xfrm>
                <a:off x="11023092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69" name="Rectangle 115">
                <a:extLst>
                  <a:ext uri="{FF2B5EF4-FFF2-40B4-BE49-F238E27FC236}">
                    <a16:creationId xmlns:a16="http://schemas.microsoft.com/office/drawing/2014/main" id="{9379F151-4087-1C9B-3B1B-45BA43936D28}"/>
                  </a:ext>
                </a:extLst>
              </p:cNvPr>
              <p:cNvSpPr/>
              <p:nvPr/>
            </p:nvSpPr>
            <p:spPr>
              <a:xfrm>
                <a:off x="11155680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0" name="Rectangle 116">
                <a:extLst>
                  <a:ext uri="{FF2B5EF4-FFF2-40B4-BE49-F238E27FC236}">
                    <a16:creationId xmlns:a16="http://schemas.microsoft.com/office/drawing/2014/main" id="{3EDF687D-CDC9-8D9F-3370-AE0B330C3039}"/>
                  </a:ext>
                </a:extLst>
              </p:cNvPr>
              <p:cNvSpPr/>
              <p:nvPr/>
            </p:nvSpPr>
            <p:spPr>
              <a:xfrm>
                <a:off x="11288268" y="3163823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1" name="Rounded Rectangle 117">
                <a:extLst>
                  <a:ext uri="{FF2B5EF4-FFF2-40B4-BE49-F238E27FC236}">
                    <a16:creationId xmlns:a16="http://schemas.microsoft.com/office/drawing/2014/main" id="{37CC0889-F2D9-A3B8-55CC-1CCB9C0D630A}"/>
                  </a:ext>
                </a:extLst>
              </p:cNvPr>
              <p:cNvSpPr/>
              <p:nvPr/>
            </p:nvSpPr>
            <p:spPr>
              <a:xfrm>
                <a:off x="9459467" y="3374135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2" name="Rectangle 118">
                <a:extLst>
                  <a:ext uri="{FF2B5EF4-FFF2-40B4-BE49-F238E27FC236}">
                    <a16:creationId xmlns:a16="http://schemas.microsoft.com/office/drawing/2014/main" id="{9FF40005-4913-F675-2091-5CE45B26CE0D}"/>
                  </a:ext>
                </a:extLst>
              </p:cNvPr>
              <p:cNvSpPr/>
              <p:nvPr/>
            </p:nvSpPr>
            <p:spPr>
              <a:xfrm>
                <a:off x="9560051" y="3424427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3" name="Rectangle 119">
                <a:extLst>
                  <a:ext uri="{FF2B5EF4-FFF2-40B4-BE49-F238E27FC236}">
                    <a16:creationId xmlns:a16="http://schemas.microsoft.com/office/drawing/2014/main" id="{07AF5E44-69DB-678F-F383-43486D62E306}"/>
                  </a:ext>
                </a:extLst>
              </p:cNvPr>
              <p:cNvSpPr/>
              <p:nvPr/>
            </p:nvSpPr>
            <p:spPr>
              <a:xfrm>
                <a:off x="9697211" y="3424427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4" name="Rectangle 120">
                <a:extLst>
                  <a:ext uri="{FF2B5EF4-FFF2-40B4-BE49-F238E27FC236}">
                    <a16:creationId xmlns:a16="http://schemas.microsoft.com/office/drawing/2014/main" id="{EA3C41F4-F497-49B9-9834-5464CABAB2F2}"/>
                  </a:ext>
                </a:extLst>
              </p:cNvPr>
              <p:cNvSpPr/>
              <p:nvPr/>
            </p:nvSpPr>
            <p:spPr>
              <a:xfrm>
                <a:off x="9889236" y="3433571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5" name="Rectangle 121">
                <a:extLst>
                  <a:ext uri="{FF2B5EF4-FFF2-40B4-BE49-F238E27FC236}">
                    <a16:creationId xmlns:a16="http://schemas.microsoft.com/office/drawing/2014/main" id="{C48D5E7A-B700-B6DD-A5BD-7F9FCC267B5E}"/>
                  </a:ext>
                </a:extLst>
              </p:cNvPr>
              <p:cNvSpPr/>
              <p:nvPr/>
            </p:nvSpPr>
            <p:spPr>
              <a:xfrm>
                <a:off x="10890504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6" name="Rectangle 122">
                <a:extLst>
                  <a:ext uri="{FF2B5EF4-FFF2-40B4-BE49-F238E27FC236}">
                    <a16:creationId xmlns:a16="http://schemas.microsoft.com/office/drawing/2014/main" id="{1121BBAC-BAAB-819C-AE41-DFE5FABA463D}"/>
                  </a:ext>
                </a:extLst>
              </p:cNvPr>
              <p:cNvSpPr/>
              <p:nvPr/>
            </p:nvSpPr>
            <p:spPr>
              <a:xfrm>
                <a:off x="11023092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7" name="Rectangle 123">
                <a:extLst>
                  <a:ext uri="{FF2B5EF4-FFF2-40B4-BE49-F238E27FC236}">
                    <a16:creationId xmlns:a16="http://schemas.microsoft.com/office/drawing/2014/main" id="{BB411385-40BE-FB5A-B784-836432A9594D}"/>
                  </a:ext>
                </a:extLst>
              </p:cNvPr>
              <p:cNvSpPr/>
              <p:nvPr/>
            </p:nvSpPr>
            <p:spPr>
              <a:xfrm>
                <a:off x="11155680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8" name="Rectangle 124">
                <a:extLst>
                  <a:ext uri="{FF2B5EF4-FFF2-40B4-BE49-F238E27FC236}">
                    <a16:creationId xmlns:a16="http://schemas.microsoft.com/office/drawing/2014/main" id="{E373119B-C13D-3DFD-310A-5115791F588D}"/>
                  </a:ext>
                </a:extLst>
              </p:cNvPr>
              <p:cNvSpPr/>
              <p:nvPr/>
            </p:nvSpPr>
            <p:spPr>
              <a:xfrm>
                <a:off x="11288268" y="3419855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79" name="Rounded Rectangle 125">
                <a:extLst>
                  <a:ext uri="{FF2B5EF4-FFF2-40B4-BE49-F238E27FC236}">
                    <a16:creationId xmlns:a16="http://schemas.microsoft.com/office/drawing/2014/main" id="{358EDCDD-8BD6-3EBC-5658-9698667654E7}"/>
                  </a:ext>
                </a:extLst>
              </p:cNvPr>
              <p:cNvSpPr/>
              <p:nvPr/>
            </p:nvSpPr>
            <p:spPr>
              <a:xfrm>
                <a:off x="9459467" y="3630167"/>
                <a:ext cx="1988819" cy="192024"/>
              </a:xfrm>
              <a:prstGeom prst="roundRect">
                <a:avLst>
                  <a:gd name="adj" fmla="val 19047"/>
                </a:avLst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0" name="Rectangle 126">
                <a:extLst>
                  <a:ext uri="{FF2B5EF4-FFF2-40B4-BE49-F238E27FC236}">
                    <a16:creationId xmlns:a16="http://schemas.microsoft.com/office/drawing/2014/main" id="{4611A7AC-68FD-8ADB-26DB-173C8756AA7F}"/>
                  </a:ext>
                </a:extLst>
              </p:cNvPr>
              <p:cNvSpPr/>
              <p:nvPr/>
            </p:nvSpPr>
            <p:spPr>
              <a:xfrm>
                <a:off x="9560051" y="3680459"/>
                <a:ext cx="91440" cy="91440"/>
              </a:xfrm>
              <a:prstGeom prst="rect">
                <a:avLst/>
              </a:prstGeom>
              <a:solidFill>
                <a:srgbClr val="3DDC9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1" name="Rectangle 127">
                <a:extLst>
                  <a:ext uri="{FF2B5EF4-FFF2-40B4-BE49-F238E27FC236}">
                    <a16:creationId xmlns:a16="http://schemas.microsoft.com/office/drawing/2014/main" id="{73D85859-0F14-92CE-74AD-11A91B561024}"/>
                  </a:ext>
                </a:extLst>
              </p:cNvPr>
              <p:cNvSpPr/>
              <p:nvPr/>
            </p:nvSpPr>
            <p:spPr>
              <a:xfrm>
                <a:off x="9697211" y="3680459"/>
                <a:ext cx="91440" cy="91440"/>
              </a:xfrm>
              <a:prstGeom prst="rect">
                <a:avLst/>
              </a:prstGeom>
              <a:solidFill>
                <a:srgbClr val="22D3E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2" name="Rectangle 128">
                <a:extLst>
                  <a:ext uri="{FF2B5EF4-FFF2-40B4-BE49-F238E27FC236}">
                    <a16:creationId xmlns:a16="http://schemas.microsoft.com/office/drawing/2014/main" id="{C452F355-ABCC-1F81-B18F-7908F4C1B0C5}"/>
                  </a:ext>
                </a:extLst>
              </p:cNvPr>
              <p:cNvSpPr/>
              <p:nvPr/>
            </p:nvSpPr>
            <p:spPr>
              <a:xfrm>
                <a:off x="9889236" y="3689603"/>
                <a:ext cx="928115" cy="73152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3" name="Rectangle 129">
                <a:extLst>
                  <a:ext uri="{FF2B5EF4-FFF2-40B4-BE49-F238E27FC236}">
                    <a16:creationId xmlns:a16="http://schemas.microsoft.com/office/drawing/2014/main" id="{1803C6DE-FB97-68F9-4C7A-D10F54390B81}"/>
                  </a:ext>
                </a:extLst>
              </p:cNvPr>
              <p:cNvSpPr/>
              <p:nvPr/>
            </p:nvSpPr>
            <p:spPr>
              <a:xfrm>
                <a:off x="10890504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4" name="Rectangle 130">
                <a:extLst>
                  <a:ext uri="{FF2B5EF4-FFF2-40B4-BE49-F238E27FC236}">
                    <a16:creationId xmlns:a16="http://schemas.microsoft.com/office/drawing/2014/main" id="{3D87FDFA-F7C9-0921-4C94-CB2A6363E2E7}"/>
                  </a:ext>
                </a:extLst>
              </p:cNvPr>
              <p:cNvSpPr/>
              <p:nvPr/>
            </p:nvSpPr>
            <p:spPr>
              <a:xfrm>
                <a:off x="11023092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5" name="Rectangle 131">
                <a:extLst>
                  <a:ext uri="{FF2B5EF4-FFF2-40B4-BE49-F238E27FC236}">
                    <a16:creationId xmlns:a16="http://schemas.microsoft.com/office/drawing/2014/main" id="{251CF620-2CB2-DB1E-8B68-CAFFA63F51D6}"/>
                  </a:ext>
                </a:extLst>
              </p:cNvPr>
              <p:cNvSpPr/>
              <p:nvPr/>
            </p:nvSpPr>
            <p:spPr>
              <a:xfrm>
                <a:off x="11155680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86" name="Rectangle 132">
                <a:extLst>
                  <a:ext uri="{FF2B5EF4-FFF2-40B4-BE49-F238E27FC236}">
                    <a16:creationId xmlns:a16="http://schemas.microsoft.com/office/drawing/2014/main" id="{CB076606-11A1-430D-67A1-F745EF560247}"/>
                  </a:ext>
                </a:extLst>
              </p:cNvPr>
              <p:cNvSpPr/>
              <p:nvPr/>
            </p:nvSpPr>
            <p:spPr>
              <a:xfrm>
                <a:off x="11288268" y="3675887"/>
                <a:ext cx="77724" cy="100583"/>
              </a:xfrm>
              <a:prstGeom prst="rect">
                <a:avLst/>
              </a:prstGeom>
              <a:solidFill>
                <a:srgbClr val="7189D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</p:grp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239E058F-D899-8EE1-D147-43FDD07998C0}"/>
                </a:ext>
              </a:extLst>
            </p:cNvPr>
            <p:cNvGrpSpPr/>
            <p:nvPr/>
          </p:nvGrpSpPr>
          <p:grpSpPr>
            <a:xfrm>
              <a:off x="506867" y="3233021"/>
              <a:ext cx="7604082" cy="813641"/>
              <a:chOff x="658368" y="4285558"/>
              <a:chExt cx="10872216" cy="1163332"/>
            </a:xfrm>
          </p:grpSpPr>
          <p:sp>
            <p:nvSpPr>
              <p:cNvPr id="193" name="Rounded Rectangle 133">
                <a:extLst>
                  <a:ext uri="{FF2B5EF4-FFF2-40B4-BE49-F238E27FC236}">
                    <a16:creationId xmlns:a16="http://schemas.microsoft.com/office/drawing/2014/main" id="{19270F3C-B167-604D-18F1-459775367BBA}"/>
                  </a:ext>
                </a:extLst>
              </p:cNvPr>
              <p:cNvSpPr/>
              <p:nvPr/>
            </p:nvSpPr>
            <p:spPr>
              <a:xfrm>
                <a:off x="658368" y="4285558"/>
                <a:ext cx="1600200" cy="512063"/>
              </a:xfrm>
              <a:prstGeom prst="roundRect">
                <a:avLst>
                  <a:gd name="adj" fmla="val 12500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4" name="TextBox 134">
                <a:extLst>
                  <a:ext uri="{FF2B5EF4-FFF2-40B4-BE49-F238E27FC236}">
                    <a16:creationId xmlns:a16="http://schemas.microsoft.com/office/drawing/2014/main" id="{AF318B85-B1C4-B4D4-77F8-178F6BE687D0}"/>
                  </a:ext>
                </a:extLst>
              </p:cNvPr>
              <p:cNvSpPr txBox="1"/>
              <p:nvPr/>
            </p:nvSpPr>
            <p:spPr>
              <a:xfrm>
                <a:off x="768096" y="4421190"/>
                <a:ext cx="1380744" cy="3016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sz="1250" b="1" dirty="0" err="1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数据</a:t>
                </a:r>
                <a:r>
                  <a:rPr sz="1250" b="1" dirty="0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 RDMA</a:t>
                </a:r>
              </a:p>
            </p:txBody>
          </p:sp>
          <p:sp>
            <p:nvSpPr>
              <p:cNvPr id="195" name="Rounded Rectangle 135">
                <a:extLst>
                  <a:ext uri="{FF2B5EF4-FFF2-40B4-BE49-F238E27FC236}">
                    <a16:creationId xmlns:a16="http://schemas.microsoft.com/office/drawing/2014/main" id="{C099F20E-F953-3DB7-C8A4-743FC0BAB4AF}"/>
                  </a:ext>
                </a:extLst>
              </p:cNvPr>
              <p:cNvSpPr/>
              <p:nvPr/>
            </p:nvSpPr>
            <p:spPr>
              <a:xfrm>
                <a:off x="2423160" y="4315968"/>
                <a:ext cx="4471416" cy="512064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chemeClr val="accent3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6" name="Rectangle 136">
                <a:extLst>
                  <a:ext uri="{FF2B5EF4-FFF2-40B4-BE49-F238E27FC236}">
                    <a16:creationId xmlns:a16="http://schemas.microsoft.com/office/drawing/2014/main" id="{AC36DFB5-6081-A8C8-92B1-C0C2F44C1C8F}"/>
                  </a:ext>
                </a:extLst>
              </p:cNvPr>
              <p:cNvSpPr/>
              <p:nvPr/>
            </p:nvSpPr>
            <p:spPr>
              <a:xfrm>
                <a:off x="2514600" y="4398264"/>
                <a:ext cx="64008" cy="34747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7" name="TextBox 137">
                <a:extLst>
                  <a:ext uri="{FF2B5EF4-FFF2-40B4-BE49-F238E27FC236}">
                    <a16:creationId xmlns:a16="http://schemas.microsoft.com/office/drawing/2014/main" id="{AB67B08B-561A-1B62-E8CD-5FC63CDEEF5F}"/>
                  </a:ext>
                </a:extLst>
              </p:cNvPr>
              <p:cNvSpPr txBox="1"/>
              <p:nvPr/>
            </p:nvSpPr>
            <p:spPr>
              <a:xfrm>
                <a:off x="2697479" y="4434484"/>
                <a:ext cx="4069078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250" b="1" dirty="0" err="1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JuiceFS</a:t>
                </a:r>
                <a:r>
                  <a:rPr sz="1000" b="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   </a:t>
                </a:r>
                <a:r>
                  <a:rPr lang="zh-CN" altLang="en-US" sz="100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研发</a:t>
                </a:r>
                <a:r>
                  <a:rPr sz="1000" b="0" dirty="0" err="1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数据集</a:t>
                </a:r>
                <a:endParaRPr sz="1000" b="0" dirty="0">
                  <a:solidFill>
                    <a:srgbClr val="9FB0D8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198" name="Rounded Rectangle 138">
                <a:extLst>
                  <a:ext uri="{FF2B5EF4-FFF2-40B4-BE49-F238E27FC236}">
                    <a16:creationId xmlns:a16="http://schemas.microsoft.com/office/drawing/2014/main" id="{D7540661-29D9-BA25-FF1E-E37DE753A3A2}"/>
                  </a:ext>
                </a:extLst>
              </p:cNvPr>
              <p:cNvSpPr/>
              <p:nvPr/>
            </p:nvSpPr>
            <p:spPr>
              <a:xfrm>
                <a:off x="7059168" y="4315968"/>
                <a:ext cx="4471416" cy="512064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chemeClr val="accent3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199" name="Rectangle 139">
                <a:extLst>
                  <a:ext uri="{FF2B5EF4-FFF2-40B4-BE49-F238E27FC236}">
                    <a16:creationId xmlns:a16="http://schemas.microsoft.com/office/drawing/2014/main" id="{C6A67D4D-3F13-559A-7DC2-CF22EAF31FDE}"/>
                  </a:ext>
                </a:extLst>
              </p:cNvPr>
              <p:cNvSpPr/>
              <p:nvPr/>
            </p:nvSpPr>
            <p:spPr>
              <a:xfrm>
                <a:off x="7150607" y="4398264"/>
                <a:ext cx="64008" cy="34747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0" name="TextBox 140">
                <a:extLst>
                  <a:ext uri="{FF2B5EF4-FFF2-40B4-BE49-F238E27FC236}">
                    <a16:creationId xmlns:a16="http://schemas.microsoft.com/office/drawing/2014/main" id="{CFB3DC8F-889C-AC60-7903-FA59B4AC63A6}"/>
                  </a:ext>
                </a:extLst>
              </p:cNvPr>
              <p:cNvSpPr txBox="1"/>
              <p:nvPr/>
            </p:nvSpPr>
            <p:spPr>
              <a:xfrm>
                <a:off x="7333488" y="4434484"/>
                <a:ext cx="4069078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125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BeeGFS</a:t>
                </a:r>
                <a:r>
                  <a:rPr sz="1000" b="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   </a:t>
                </a:r>
                <a:r>
                  <a:rPr sz="1000" b="0" dirty="0" err="1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训练数据集</a:t>
                </a:r>
                <a:endParaRPr sz="1000" b="0" dirty="0">
                  <a:solidFill>
                    <a:srgbClr val="9FB0D8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201" name="Rounded Rectangle 141">
                <a:extLst>
                  <a:ext uri="{FF2B5EF4-FFF2-40B4-BE49-F238E27FC236}">
                    <a16:creationId xmlns:a16="http://schemas.microsoft.com/office/drawing/2014/main" id="{BC043B20-2B30-66AD-5371-2BB47B110069}"/>
                  </a:ext>
                </a:extLst>
              </p:cNvPr>
              <p:cNvSpPr/>
              <p:nvPr/>
            </p:nvSpPr>
            <p:spPr>
              <a:xfrm>
                <a:off x="658368" y="4925646"/>
                <a:ext cx="1600200" cy="512063"/>
              </a:xfrm>
              <a:prstGeom prst="roundRect">
                <a:avLst>
                  <a:gd name="adj" fmla="val 12500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2" name="TextBox 142">
                <a:extLst>
                  <a:ext uri="{FF2B5EF4-FFF2-40B4-BE49-F238E27FC236}">
                    <a16:creationId xmlns:a16="http://schemas.microsoft.com/office/drawing/2014/main" id="{F85A9EBE-B3FE-28CE-B967-5B004343C32E}"/>
                  </a:ext>
                </a:extLst>
              </p:cNvPr>
              <p:cNvSpPr txBox="1"/>
              <p:nvPr/>
            </p:nvSpPr>
            <p:spPr>
              <a:xfrm>
                <a:off x="768096" y="5061269"/>
                <a:ext cx="1380744" cy="30162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sz="1250" b="1">
                    <a:solidFill>
                      <a:schemeClr val="bg1"/>
                    </a:solidFill>
                    <a:latin typeface="+mn-ea"/>
                    <a:cs typeface="PingFang SC" panose="020B0400000000000000" charset="-122"/>
                  </a:rPr>
                  <a:t>数据以太网</a:t>
                </a:r>
              </a:p>
            </p:txBody>
          </p:sp>
          <p:sp>
            <p:nvSpPr>
              <p:cNvPr id="203" name="Rounded Rectangle 143">
                <a:extLst>
                  <a:ext uri="{FF2B5EF4-FFF2-40B4-BE49-F238E27FC236}">
                    <a16:creationId xmlns:a16="http://schemas.microsoft.com/office/drawing/2014/main" id="{0A22FC09-6392-9D3E-B418-182778E9EC3B}"/>
                  </a:ext>
                </a:extLst>
              </p:cNvPr>
              <p:cNvSpPr/>
              <p:nvPr/>
            </p:nvSpPr>
            <p:spPr>
              <a:xfrm>
                <a:off x="2423161" y="4956049"/>
                <a:ext cx="6281928" cy="483848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chemeClr val="accent3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4" name="Rectangle 144">
                <a:extLst>
                  <a:ext uri="{FF2B5EF4-FFF2-40B4-BE49-F238E27FC236}">
                    <a16:creationId xmlns:a16="http://schemas.microsoft.com/office/drawing/2014/main" id="{88EE860D-A6E5-EE5F-64AC-27AE2D49CB4C}"/>
                  </a:ext>
                </a:extLst>
              </p:cNvPr>
              <p:cNvSpPr/>
              <p:nvPr/>
            </p:nvSpPr>
            <p:spPr>
              <a:xfrm>
                <a:off x="2514600" y="5038344"/>
                <a:ext cx="64008" cy="34747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5" name="TextBox 145">
                <a:extLst>
                  <a:ext uri="{FF2B5EF4-FFF2-40B4-BE49-F238E27FC236}">
                    <a16:creationId xmlns:a16="http://schemas.microsoft.com/office/drawing/2014/main" id="{FA8B64B1-D754-D02E-AC01-74485F04325D}"/>
                  </a:ext>
                </a:extLst>
              </p:cNvPr>
              <p:cNvSpPr txBox="1"/>
              <p:nvPr/>
            </p:nvSpPr>
            <p:spPr>
              <a:xfrm>
                <a:off x="2697481" y="5071008"/>
                <a:ext cx="6679691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125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iSeaFS</a:t>
                </a:r>
                <a:r>
                  <a:rPr sz="1000" b="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   </a:t>
                </a:r>
                <a:r>
                  <a:rPr sz="1000" b="0" dirty="0" err="1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全量数据集</a:t>
                </a:r>
                <a:endParaRPr sz="1000" b="0" dirty="0">
                  <a:solidFill>
                    <a:srgbClr val="9FB0D8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  <p:sp>
            <p:nvSpPr>
              <p:cNvPr id="206" name="Rounded Rectangle 138">
                <a:extLst>
                  <a:ext uri="{FF2B5EF4-FFF2-40B4-BE49-F238E27FC236}">
                    <a16:creationId xmlns:a16="http://schemas.microsoft.com/office/drawing/2014/main" id="{1BF1F421-F893-0FB5-2BC0-6862F3ED6C94}"/>
                  </a:ext>
                </a:extLst>
              </p:cNvPr>
              <p:cNvSpPr/>
              <p:nvPr/>
            </p:nvSpPr>
            <p:spPr>
              <a:xfrm>
                <a:off x="8837676" y="4952999"/>
                <a:ext cx="2653537" cy="495891"/>
              </a:xfrm>
              <a:prstGeom prst="roundRect">
                <a:avLst>
                  <a:gd name="adj" fmla="val 12500"/>
                </a:avLst>
              </a:prstGeom>
              <a:solidFill>
                <a:schemeClr val="bg1"/>
              </a:solidFill>
              <a:ln w="12700">
                <a:solidFill>
                  <a:schemeClr val="accent3">
                    <a:lumMod val="60000"/>
                    <a:lumOff val="4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7" name="Rectangle 139">
                <a:extLst>
                  <a:ext uri="{FF2B5EF4-FFF2-40B4-BE49-F238E27FC236}">
                    <a16:creationId xmlns:a16="http://schemas.microsoft.com/office/drawing/2014/main" id="{BADFB2BF-C4D9-B051-C902-1C8C3A780FAA}"/>
                  </a:ext>
                </a:extLst>
              </p:cNvPr>
              <p:cNvSpPr/>
              <p:nvPr/>
            </p:nvSpPr>
            <p:spPr>
              <a:xfrm>
                <a:off x="8893472" y="5043062"/>
                <a:ext cx="57514" cy="31162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208" name="TextBox 140">
                <a:extLst>
                  <a:ext uri="{FF2B5EF4-FFF2-40B4-BE49-F238E27FC236}">
                    <a16:creationId xmlns:a16="http://schemas.microsoft.com/office/drawing/2014/main" id="{68F7A7E6-D246-35F6-C4CE-15D2F945883D}"/>
                  </a:ext>
                </a:extLst>
              </p:cNvPr>
              <p:cNvSpPr txBox="1"/>
              <p:nvPr/>
            </p:nvSpPr>
            <p:spPr>
              <a:xfrm>
                <a:off x="9161445" y="5069824"/>
                <a:ext cx="2200260" cy="27503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1250" b="1" dirty="0">
                    <a:solidFill>
                      <a:schemeClr val="accent1"/>
                    </a:solidFill>
                    <a:latin typeface="+mn-ea"/>
                    <a:cs typeface="PingFang SC" panose="020B0400000000000000" charset="-122"/>
                  </a:rPr>
                  <a:t>Glacier</a:t>
                </a:r>
                <a:r>
                  <a:rPr sz="1000" b="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   </a:t>
                </a:r>
                <a:r>
                  <a:rPr lang="zh-CN" altLang="en-US" sz="1000" b="0" dirty="0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冷冻</a:t>
                </a:r>
                <a:r>
                  <a:rPr sz="1000" b="0" dirty="0" err="1">
                    <a:solidFill>
                      <a:srgbClr val="9FB0D8"/>
                    </a:solidFill>
                    <a:latin typeface="+mn-ea"/>
                    <a:cs typeface="PingFang SC" panose="020B0400000000000000" charset="-122"/>
                  </a:rPr>
                  <a:t>数据集</a:t>
                </a:r>
                <a:endParaRPr sz="1000" b="0" dirty="0">
                  <a:solidFill>
                    <a:srgbClr val="9FB0D8"/>
                  </a:solidFill>
                  <a:latin typeface="+mn-ea"/>
                  <a:cs typeface="PingFang SC" panose="020B0400000000000000" charset="-122"/>
                </a:endParaRPr>
              </a:p>
            </p:txBody>
          </p:sp>
        </p:grpSp>
      </p:grpSp>
      <p:sp>
        <p:nvSpPr>
          <p:cNvPr id="213" name="文本框 212">
            <a:extLst>
              <a:ext uri="{FF2B5EF4-FFF2-40B4-BE49-F238E27FC236}">
                <a16:creationId xmlns:a16="http://schemas.microsoft.com/office/drawing/2014/main" id="{1CA641E0-3DC6-6EB7-AEB5-01D1BA730189}"/>
              </a:ext>
            </a:extLst>
          </p:cNvPr>
          <p:cNvSpPr txBox="1"/>
          <p:nvPr/>
        </p:nvSpPr>
        <p:spPr>
          <a:xfrm>
            <a:off x="244620" y="1064374"/>
            <a:ext cx="4251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异构 </a:t>
            </a:r>
            <a:r>
              <a:rPr lang="en-US" altLang="zh-CN" sz="1200" dirty="0">
                <a:solidFill>
                  <a:schemeClr val="accent1"/>
                </a:solidFill>
              </a:rPr>
              <a:t>GPU </a:t>
            </a:r>
            <a:r>
              <a:rPr lang="zh-CN" altLang="en-US" sz="1200" dirty="0">
                <a:solidFill>
                  <a:schemeClr val="accent1"/>
                </a:solidFill>
              </a:rPr>
              <a:t>服务器共池 </a:t>
            </a:r>
            <a:r>
              <a:rPr lang="en-US" altLang="zh-CN" sz="1200" dirty="0">
                <a:solidFill>
                  <a:schemeClr val="accent1"/>
                </a:solidFill>
              </a:rPr>
              <a:t>· </a:t>
            </a:r>
            <a:r>
              <a:rPr lang="zh-CN" altLang="en-US" sz="1200" dirty="0">
                <a:solidFill>
                  <a:schemeClr val="accent1"/>
                </a:solidFill>
              </a:rPr>
              <a:t>计算与存储同机部署</a:t>
            </a:r>
          </a:p>
        </p:txBody>
      </p:sp>
    </p:spTree>
    <p:extLst>
      <p:ext uri="{BB962C8B-B14F-4D97-AF65-F5344CB8AC3E}">
        <p14:creationId xmlns:p14="http://schemas.microsoft.com/office/powerpoint/2010/main" val="2876884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1810-9E66-D3FD-09C4-DCAE1B6B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E6F1F-12C6-C7E6-AA60-CF34B8F5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CaseStudy</a:t>
            </a:r>
            <a:r>
              <a:rPr lang="en-US" altLang="zh-CN" dirty="0"/>
              <a:t>: </a:t>
            </a:r>
            <a:r>
              <a:rPr lang="en-US" altLang="zh-CN" dirty="0" err="1"/>
              <a:t>IntSig_GPU</a:t>
            </a:r>
            <a:r>
              <a:rPr lang="zh-CN" altLang="en-US" dirty="0"/>
              <a:t>服务器与</a:t>
            </a:r>
            <a:r>
              <a:rPr lang="en-US" altLang="zh-CN" dirty="0"/>
              <a:t>K8S </a:t>
            </a:r>
            <a:r>
              <a:rPr lang="zh-CN" altLang="en-US" dirty="0"/>
              <a:t>资源管理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886173-628F-E55D-099D-478FE807FC33}"/>
              </a:ext>
            </a:extLst>
          </p:cNvPr>
          <p:cNvSpPr txBox="1"/>
          <p:nvPr/>
        </p:nvSpPr>
        <p:spPr>
          <a:xfrm>
            <a:off x="244620" y="1064374"/>
            <a:ext cx="4251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从资源切分到监控闭环的完整落地路径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33C7F203-4CCA-B26C-67A9-C0B0A0730FAD}"/>
              </a:ext>
            </a:extLst>
          </p:cNvPr>
          <p:cNvSpPr txBox="1"/>
          <p:nvPr/>
        </p:nvSpPr>
        <p:spPr>
          <a:xfrm>
            <a:off x="352848" y="4180678"/>
            <a:ext cx="8972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+mn-lt"/>
              </a:rPr>
              <a:t>https://github.com/chaterm/Chaterm</a:t>
            </a:r>
            <a:r>
              <a:rPr lang="zh-CN" altLang="en-US" dirty="0">
                <a:solidFill>
                  <a:schemeClr val="accent1"/>
                </a:solidFill>
                <a:latin typeface="+mn-lt"/>
              </a:rPr>
              <a:t>，</a:t>
            </a:r>
            <a:r>
              <a:rPr lang="en-US" altLang="zh-CN" dirty="0">
                <a:solidFill>
                  <a:schemeClr val="accent1"/>
                </a:solidFill>
                <a:latin typeface="+mn-lt"/>
              </a:rPr>
              <a:t>https://github.com/chaterm/Akasha</a:t>
            </a:r>
          </a:p>
        </p:txBody>
      </p:sp>
      <p:sp>
        <p:nvSpPr>
          <p:cNvPr id="160" name="Rectangle 147">
            <a:extLst>
              <a:ext uri="{FF2B5EF4-FFF2-40B4-BE49-F238E27FC236}">
                <a16:creationId xmlns:a16="http://schemas.microsoft.com/office/drawing/2014/main" id="{8031C5CA-B6AC-D1B4-D436-59AA482CFAF4}"/>
              </a:ext>
            </a:extLst>
          </p:cNvPr>
          <p:cNvSpPr/>
          <p:nvPr/>
        </p:nvSpPr>
        <p:spPr>
          <a:xfrm>
            <a:off x="311700" y="4166389"/>
            <a:ext cx="82296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81940E-6ADD-3A9C-E4D1-017C8F1FC33B}"/>
              </a:ext>
            </a:extLst>
          </p:cNvPr>
          <p:cNvGrpSpPr/>
          <p:nvPr/>
        </p:nvGrpSpPr>
        <p:grpSpPr>
          <a:xfrm>
            <a:off x="311700" y="1500110"/>
            <a:ext cx="8029542" cy="2527448"/>
            <a:chOff x="502920" y="1645920"/>
            <a:chExt cx="12200953" cy="3840479"/>
          </a:xfrm>
        </p:grpSpPr>
        <p:sp>
          <p:nvSpPr>
            <p:cNvPr id="5" name="Rectangle 18">
              <a:extLst>
                <a:ext uri="{FF2B5EF4-FFF2-40B4-BE49-F238E27FC236}">
                  <a16:creationId xmlns:a16="http://schemas.microsoft.com/office/drawing/2014/main" id="{1A853355-9504-531A-1F3C-3CF309C6DDA0}"/>
                </a:ext>
              </a:extLst>
            </p:cNvPr>
            <p:cNvSpPr/>
            <p:nvPr/>
          </p:nvSpPr>
          <p:spPr>
            <a:xfrm>
              <a:off x="502920" y="1645920"/>
              <a:ext cx="82296" cy="3840479"/>
            </a:xfrm>
            <a:prstGeom prst="rect">
              <a:avLst/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C3A6009A-BEFD-D507-5704-A5645DC5617D}"/>
                </a:ext>
              </a:extLst>
            </p:cNvPr>
            <p:cNvSpPr/>
            <p:nvPr/>
          </p:nvSpPr>
          <p:spPr>
            <a:xfrm>
              <a:off x="6231635" y="1645920"/>
              <a:ext cx="82296" cy="3840479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C9EFDD32-D9E2-A565-16FA-808641B37D9D}"/>
                </a:ext>
              </a:extLst>
            </p:cNvPr>
            <p:cNvSpPr/>
            <p:nvPr/>
          </p:nvSpPr>
          <p:spPr>
            <a:xfrm>
              <a:off x="658368" y="2743200"/>
              <a:ext cx="82296" cy="256032"/>
            </a:xfrm>
            <a:prstGeom prst="rect">
              <a:avLst/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32">
              <a:extLst>
                <a:ext uri="{FF2B5EF4-FFF2-40B4-BE49-F238E27FC236}">
                  <a16:creationId xmlns:a16="http://schemas.microsoft.com/office/drawing/2014/main" id="{9991F4FB-A183-20CE-7D6D-52232D121290}"/>
                </a:ext>
              </a:extLst>
            </p:cNvPr>
            <p:cNvSpPr/>
            <p:nvPr/>
          </p:nvSpPr>
          <p:spPr>
            <a:xfrm>
              <a:off x="6387083" y="2743200"/>
              <a:ext cx="82296" cy="256032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35">
              <a:extLst>
                <a:ext uri="{FF2B5EF4-FFF2-40B4-BE49-F238E27FC236}">
                  <a16:creationId xmlns:a16="http://schemas.microsoft.com/office/drawing/2014/main" id="{3BDA88C5-437B-5E47-C58B-C6FDF0C03AC1}"/>
                </a:ext>
              </a:extLst>
            </p:cNvPr>
            <p:cNvSpPr/>
            <p:nvPr/>
          </p:nvSpPr>
          <p:spPr>
            <a:xfrm>
              <a:off x="6533387" y="3291840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dirty="0"/>
            </a:p>
          </p:txBody>
        </p:sp>
        <p:sp>
          <p:nvSpPr>
            <p:cNvPr id="21" name="Rounded Rectangle 40">
              <a:extLst>
                <a:ext uri="{FF2B5EF4-FFF2-40B4-BE49-F238E27FC236}">
                  <a16:creationId xmlns:a16="http://schemas.microsoft.com/office/drawing/2014/main" id="{B4EFBD17-0F2F-BAA1-7B85-E440A21F111C}"/>
                </a:ext>
              </a:extLst>
            </p:cNvPr>
            <p:cNvSpPr/>
            <p:nvPr/>
          </p:nvSpPr>
          <p:spPr>
            <a:xfrm>
              <a:off x="6533387" y="4114800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dirty="0"/>
            </a:p>
          </p:txBody>
        </p:sp>
        <p:sp>
          <p:nvSpPr>
            <p:cNvPr id="23" name="Rounded Rectangle 45">
              <a:extLst>
                <a:ext uri="{FF2B5EF4-FFF2-40B4-BE49-F238E27FC236}">
                  <a16:creationId xmlns:a16="http://schemas.microsoft.com/office/drawing/2014/main" id="{D540719D-A5EF-A5E1-2288-9C80ECA794D3}"/>
                </a:ext>
              </a:extLst>
            </p:cNvPr>
            <p:cNvSpPr/>
            <p:nvPr/>
          </p:nvSpPr>
          <p:spPr>
            <a:xfrm>
              <a:off x="6533387" y="4937760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C4B6598-334A-1BF5-D4FD-38363117A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9691" y="1883664"/>
              <a:ext cx="512064" cy="512064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2CE0C27-A20C-26D5-0E99-A528EAEB8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0976" y="1883664"/>
              <a:ext cx="512064" cy="512064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88E4B25F-9B66-6FEE-CAAD-281DDB35A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476" y="4069080"/>
              <a:ext cx="3356385" cy="365760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8215857F-F40E-09AD-A865-4FE10804B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70194" y="3273552"/>
              <a:ext cx="1871830" cy="36576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724FAF7-CB09-47F2-2A02-C114BC36E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28476" y="3273552"/>
              <a:ext cx="2405149" cy="365760"/>
            </a:xfrm>
            <a:prstGeom prst="rect">
              <a:avLst/>
            </a:prstGeom>
          </p:spPr>
        </p:pic>
        <p:sp>
          <p:nvSpPr>
            <p:cNvPr id="29" name="TextBox 23">
              <a:extLst>
                <a:ext uri="{FF2B5EF4-FFF2-40B4-BE49-F238E27FC236}">
                  <a16:creationId xmlns:a16="http://schemas.microsoft.com/office/drawing/2014/main" id="{5996EBDC-289E-92D0-37A5-A68ECC759F3C}"/>
                </a:ext>
              </a:extLst>
            </p:cNvPr>
            <p:cNvSpPr txBox="1"/>
            <p:nvPr/>
          </p:nvSpPr>
          <p:spPr>
            <a:xfrm>
              <a:off x="1627633" y="1815591"/>
              <a:ext cx="4027930" cy="64821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4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Chaterm</a:t>
              </a:r>
              <a:r>
                <a:rPr sz="140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AI</a:t>
              </a:r>
            </a:p>
            <a:p>
              <a:pPr algn="l">
                <a:lnSpc>
                  <a:spcPct val="125000"/>
                </a:lnSpc>
              </a:pP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通过自然语言管理EC2，RDS，K8S的</a:t>
              </a:r>
              <a:r>
                <a:rPr lang="zh-CN" altLang="en-US"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开源</a:t>
              </a: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Harness</a:t>
              </a:r>
            </a:p>
          </p:txBody>
        </p:sp>
        <p:sp>
          <p:nvSpPr>
            <p:cNvPr id="30" name="TextBox 25">
              <a:extLst>
                <a:ext uri="{FF2B5EF4-FFF2-40B4-BE49-F238E27FC236}">
                  <a16:creationId xmlns:a16="http://schemas.microsoft.com/office/drawing/2014/main" id="{C6F5B3B1-2A15-ECFA-347B-1B9825795654}"/>
                </a:ext>
              </a:extLst>
            </p:cNvPr>
            <p:cNvSpPr txBox="1"/>
            <p:nvPr/>
          </p:nvSpPr>
          <p:spPr>
            <a:xfrm>
              <a:off x="868679" y="2719222"/>
              <a:ext cx="4905754" cy="30398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荣誉与认证</a:t>
              </a:r>
              <a:endParaRPr sz="13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39E8029C-4A1D-8780-A3BB-05FFEF604B79}"/>
                </a:ext>
              </a:extLst>
            </p:cNvPr>
            <p:cNvSpPr txBox="1"/>
            <p:nvPr/>
          </p:nvSpPr>
          <p:spPr>
            <a:xfrm>
              <a:off x="7356347" y="1815591"/>
              <a:ext cx="4027930" cy="64821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40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Akasha AI</a:t>
              </a:r>
            </a:p>
            <a:p>
              <a:pPr algn="l">
                <a:lnSpc>
                  <a:spcPct val="125000"/>
                </a:lnSpc>
              </a:pP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本地优先的</a:t>
              </a:r>
              <a:r>
                <a:rPr lang="zh-CN" altLang="en-US"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企业级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开源自进化记忆系统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2" name="TextBox 33">
              <a:extLst>
                <a:ext uri="{FF2B5EF4-FFF2-40B4-BE49-F238E27FC236}">
                  <a16:creationId xmlns:a16="http://schemas.microsoft.com/office/drawing/2014/main" id="{6769380A-0921-EAF3-427E-F1B46FAB27CB}"/>
                </a:ext>
              </a:extLst>
            </p:cNvPr>
            <p:cNvSpPr txBox="1"/>
            <p:nvPr/>
          </p:nvSpPr>
          <p:spPr>
            <a:xfrm>
              <a:off x="6597394" y="2719222"/>
              <a:ext cx="4905754" cy="30398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3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核心能力</a:t>
              </a:r>
              <a:endParaRPr sz="13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4" name="TextBox 37">
              <a:extLst>
                <a:ext uri="{FF2B5EF4-FFF2-40B4-BE49-F238E27FC236}">
                  <a16:creationId xmlns:a16="http://schemas.microsoft.com/office/drawing/2014/main" id="{8D560A83-5C32-4E79-F6FA-C9AAE4D73693}"/>
                </a:ext>
              </a:extLst>
            </p:cNvPr>
            <p:cNvSpPr txBox="1"/>
            <p:nvPr/>
          </p:nvSpPr>
          <p:spPr>
            <a:xfrm>
              <a:off x="6972300" y="3178972"/>
              <a:ext cx="4375403" cy="2806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让碎片信息变成知识</a:t>
              </a:r>
              <a:endParaRPr sz="12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5" name="TextBox 38">
              <a:extLst>
                <a:ext uri="{FF2B5EF4-FFF2-40B4-BE49-F238E27FC236}">
                  <a16:creationId xmlns:a16="http://schemas.microsoft.com/office/drawing/2014/main" id="{6B980C6B-E7CD-24B4-F09E-2F30D76BEB6B}"/>
                </a:ext>
              </a:extLst>
            </p:cNvPr>
            <p:cNvSpPr txBox="1"/>
            <p:nvPr/>
          </p:nvSpPr>
          <p:spPr>
            <a:xfrm>
              <a:off x="6972298" y="3460936"/>
              <a:ext cx="5626559" cy="210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将文档、会议、对话、邮件等多渠道信息统一沉淀，减少知识流失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。</a:t>
              </a:r>
            </a:p>
          </p:txBody>
        </p:sp>
        <p:sp>
          <p:nvSpPr>
            <p:cNvPr id="37" name="TextBox 42">
              <a:extLst>
                <a:ext uri="{FF2B5EF4-FFF2-40B4-BE49-F238E27FC236}">
                  <a16:creationId xmlns:a16="http://schemas.microsoft.com/office/drawing/2014/main" id="{6F633235-D39B-C607-9E13-593901631720}"/>
                </a:ext>
              </a:extLst>
            </p:cNvPr>
            <p:cNvSpPr txBox="1"/>
            <p:nvPr/>
          </p:nvSpPr>
          <p:spPr>
            <a:xfrm>
              <a:off x="6972300" y="4001932"/>
              <a:ext cx="4375403" cy="2806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让知识持续保持准确</a:t>
              </a:r>
            </a:p>
          </p:txBody>
        </p:sp>
        <p:sp>
          <p:nvSpPr>
            <p:cNvPr id="38" name="TextBox 43">
              <a:extLst>
                <a:ext uri="{FF2B5EF4-FFF2-40B4-BE49-F238E27FC236}">
                  <a16:creationId xmlns:a16="http://schemas.microsoft.com/office/drawing/2014/main" id="{F65F7083-01BB-3C6E-583A-3592B0FD2295}"/>
                </a:ext>
              </a:extLst>
            </p:cNvPr>
            <p:cNvSpPr txBox="1"/>
            <p:nvPr/>
          </p:nvSpPr>
          <p:spPr>
            <a:xfrm>
              <a:off x="6972298" y="4304216"/>
              <a:ext cx="5731575" cy="210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Dream Cycle </a:t>
              </a: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自动整理、验证和更新知识，并逐步构建知识图谱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。</a:t>
              </a:r>
            </a:p>
          </p:txBody>
        </p:sp>
        <p:sp>
          <p:nvSpPr>
            <p:cNvPr id="40" name="TextBox 47">
              <a:extLst>
                <a:ext uri="{FF2B5EF4-FFF2-40B4-BE49-F238E27FC236}">
                  <a16:creationId xmlns:a16="http://schemas.microsoft.com/office/drawing/2014/main" id="{793ED050-75C6-AC51-3A8D-CCAE0B50BF37}"/>
                </a:ext>
              </a:extLst>
            </p:cNvPr>
            <p:cNvSpPr txBox="1"/>
            <p:nvPr/>
          </p:nvSpPr>
          <p:spPr>
            <a:xfrm>
              <a:off x="6972300" y="4824892"/>
              <a:ext cx="4375403" cy="2806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</a:t>
              </a:r>
              <a:r>
                <a:rPr sz="120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Agent </a:t>
              </a:r>
              <a:r>
                <a:rPr sz="12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掌握领域经验</a:t>
              </a:r>
              <a:endParaRPr sz="12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1" name="TextBox 48">
              <a:extLst>
                <a:ext uri="{FF2B5EF4-FFF2-40B4-BE49-F238E27FC236}">
                  <a16:creationId xmlns:a16="http://schemas.microsoft.com/office/drawing/2014/main" id="{4B1C9399-F7CB-67A3-4354-F56A2988811A}"/>
                </a:ext>
              </a:extLst>
            </p:cNvPr>
            <p:cNvSpPr txBox="1"/>
            <p:nvPr/>
          </p:nvSpPr>
          <p:spPr>
            <a:xfrm>
              <a:off x="6972298" y="5161717"/>
              <a:ext cx="5626559" cy="21045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Skills </a:t>
              </a: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和渐进式披露，为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Agent </a:t>
              </a:r>
              <a:r>
                <a:rPr sz="900" b="0" dirty="0" err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提供领域知识和操作经验</a:t>
              </a:r>
              <a:r>
                <a:rPr sz="900" b="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。</a:t>
              </a:r>
            </a:p>
          </p:txBody>
        </p:sp>
        <p:sp>
          <p:nvSpPr>
            <p:cNvPr id="42" name="TextBox 47">
              <a:extLst>
                <a:ext uri="{FF2B5EF4-FFF2-40B4-BE49-F238E27FC236}">
                  <a16:creationId xmlns:a16="http://schemas.microsoft.com/office/drawing/2014/main" id="{5E233007-DE6E-F539-2CA4-D8B17EA32800}"/>
                </a:ext>
              </a:extLst>
            </p:cNvPr>
            <p:cNvSpPr txBox="1"/>
            <p:nvPr/>
          </p:nvSpPr>
          <p:spPr>
            <a:xfrm>
              <a:off x="1083564" y="4997878"/>
              <a:ext cx="4375402" cy="24552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沙利文 </a:t>
              </a:r>
              <a:r>
                <a:rPr lang="en-US" altLang="zh-CN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《2025</a:t>
              </a:r>
              <a:r>
                <a:rPr lang="zh-CN" altLang="en-US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年 中国 生成式</a:t>
              </a:r>
              <a:r>
                <a:rPr lang="en-US" altLang="zh-CN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AI</a:t>
              </a:r>
              <a:r>
                <a:rPr lang="zh-CN" altLang="en-US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最佳应用实践</a:t>
              </a:r>
              <a:r>
                <a:rPr lang="en-US" altLang="zh-CN" sz="10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》</a:t>
              </a:r>
              <a:endParaRPr sz="105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0029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2E70-278A-329E-0EBC-56A6AF40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09837-B831-79CC-B6B4-BD268926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CaseStudy</a:t>
            </a:r>
            <a:r>
              <a:rPr lang="en-US" altLang="zh-CN" dirty="0"/>
              <a:t>: </a:t>
            </a:r>
            <a:r>
              <a:rPr lang="en-US" altLang="zh-CN" dirty="0" err="1"/>
              <a:t>IntSig_HAMi</a:t>
            </a:r>
            <a:r>
              <a:rPr lang="en-US" altLang="zh-CN" dirty="0"/>
              <a:t> </a:t>
            </a:r>
            <a:r>
              <a:rPr lang="zh-CN" altLang="en-US" dirty="0"/>
              <a:t>部署方式与收益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13EA51-188D-A457-4A3B-16258AB6E4FA}"/>
              </a:ext>
            </a:extLst>
          </p:cNvPr>
          <p:cNvSpPr txBox="1"/>
          <p:nvPr/>
        </p:nvSpPr>
        <p:spPr>
          <a:xfrm>
            <a:off x="244620" y="1064374"/>
            <a:ext cx="42511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从资源切分到监控闭环的完整落地路径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14BCDD1-11BD-2F69-CB41-D705516BE675}"/>
              </a:ext>
            </a:extLst>
          </p:cNvPr>
          <p:cNvSpPr txBox="1"/>
          <p:nvPr/>
        </p:nvSpPr>
        <p:spPr>
          <a:xfrm>
            <a:off x="352848" y="4180678"/>
            <a:ext cx="847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+mn-lt"/>
              </a:rPr>
              <a:t>通过 </a:t>
            </a:r>
            <a:r>
              <a:rPr lang="en-US" altLang="zh-CN" b="1" dirty="0" err="1">
                <a:solidFill>
                  <a:schemeClr val="accent1"/>
                </a:solidFill>
                <a:latin typeface="+mn-lt"/>
              </a:rPr>
              <a:t>HAMi</a:t>
            </a:r>
            <a:r>
              <a:rPr lang="en-US" altLang="zh-CN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zh-CN" altLang="en-US" b="1" dirty="0">
                <a:solidFill>
                  <a:schemeClr val="accent1"/>
                </a:solidFill>
                <a:latin typeface="+mn-lt"/>
              </a:rPr>
              <a:t>解决原有</a:t>
            </a:r>
            <a:r>
              <a:rPr lang="en-US" altLang="zh-CN" b="1" dirty="0">
                <a:solidFill>
                  <a:schemeClr val="accent1"/>
                </a:solidFill>
                <a:latin typeface="+mn-lt"/>
              </a:rPr>
              <a:t>GPU</a:t>
            </a:r>
            <a:r>
              <a:rPr lang="zh-CN" altLang="en-US" b="1" dirty="0">
                <a:solidFill>
                  <a:schemeClr val="accent1"/>
                </a:solidFill>
                <a:latin typeface="+mn-lt"/>
              </a:rPr>
              <a:t>分片方案对操作系统和内核的限制要求，实现多云</a:t>
            </a:r>
            <a:r>
              <a:rPr lang="en-US" altLang="zh-CN" b="1" dirty="0">
                <a:solidFill>
                  <a:schemeClr val="accent1"/>
                </a:solidFill>
                <a:latin typeface="+mn-lt"/>
              </a:rPr>
              <a:t>GPU</a:t>
            </a:r>
            <a:r>
              <a:rPr lang="zh-CN" altLang="en-US" b="1" dirty="0">
                <a:solidFill>
                  <a:schemeClr val="accent1"/>
                </a:solidFill>
                <a:latin typeface="+mn-lt"/>
              </a:rPr>
              <a:t>统一管理</a:t>
            </a:r>
          </a:p>
        </p:txBody>
      </p:sp>
      <p:sp>
        <p:nvSpPr>
          <p:cNvPr id="160" name="Rectangle 147">
            <a:extLst>
              <a:ext uri="{FF2B5EF4-FFF2-40B4-BE49-F238E27FC236}">
                <a16:creationId xmlns:a16="http://schemas.microsoft.com/office/drawing/2014/main" id="{D24C1532-FD26-67CE-312F-298E0AEF8991}"/>
              </a:ext>
            </a:extLst>
          </p:cNvPr>
          <p:cNvSpPr/>
          <p:nvPr/>
        </p:nvSpPr>
        <p:spPr>
          <a:xfrm>
            <a:off x="311700" y="4166389"/>
            <a:ext cx="82296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1CA51D8-13F6-6907-7B18-C981716F18D9}"/>
              </a:ext>
            </a:extLst>
          </p:cNvPr>
          <p:cNvGrpSpPr/>
          <p:nvPr/>
        </p:nvGrpSpPr>
        <p:grpSpPr>
          <a:xfrm>
            <a:off x="311700" y="1504061"/>
            <a:ext cx="8269583" cy="2485352"/>
            <a:chOff x="502920" y="1629905"/>
            <a:chExt cx="12831820" cy="3856494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2046FDF3-C6A1-3651-C3D1-EC3B608AA4BE}"/>
                </a:ext>
              </a:extLst>
            </p:cNvPr>
            <p:cNvSpPr/>
            <p:nvPr/>
          </p:nvSpPr>
          <p:spPr>
            <a:xfrm>
              <a:off x="502920" y="1645920"/>
              <a:ext cx="82296" cy="3840479"/>
            </a:xfrm>
            <a:prstGeom prst="rect">
              <a:avLst/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5B70EBFD-4540-16A6-74D5-BCB8CAB425BE}"/>
                </a:ext>
              </a:extLst>
            </p:cNvPr>
            <p:cNvSpPr txBox="1"/>
            <p:nvPr/>
          </p:nvSpPr>
          <p:spPr>
            <a:xfrm>
              <a:off x="768096" y="1762233"/>
              <a:ext cx="5486400" cy="3343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部署方式</a:t>
              </a:r>
              <a:endParaRPr sz="14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6B43FEFE-7683-1E3B-9ABC-176AA2955DBA}"/>
                </a:ext>
              </a:extLst>
            </p:cNvPr>
            <p:cNvSpPr/>
            <p:nvPr/>
          </p:nvSpPr>
          <p:spPr>
            <a:xfrm>
              <a:off x="768096" y="2322576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dirty="0"/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46B3E955-B898-145B-05CB-926E3DE01912}"/>
                </a:ext>
              </a:extLst>
            </p:cNvPr>
            <p:cNvSpPr txBox="1"/>
            <p:nvPr/>
          </p:nvSpPr>
          <p:spPr>
            <a:xfrm>
              <a:off x="1207008" y="2340722"/>
              <a:ext cx="6144767" cy="2746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zh-CN" altLang="en-US" sz="11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切片</a:t>
              </a: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优先</a:t>
              </a:r>
              <a:r>
                <a:rPr sz="11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· </a:t>
              </a: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整卡兼容</a:t>
              </a:r>
              <a:r>
                <a:rPr sz="10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　</a:t>
              </a:r>
              <a:r>
                <a:rPr lang="zh-CN" altLang="en-US"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小模型推理切片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使用，高负载与大模型保留整卡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8" name="Rounded Rectangle 13">
              <a:extLst>
                <a:ext uri="{FF2B5EF4-FFF2-40B4-BE49-F238E27FC236}">
                  <a16:creationId xmlns:a16="http://schemas.microsoft.com/office/drawing/2014/main" id="{F2A892FF-D23A-C388-8CA3-86D33116F5FA}"/>
                </a:ext>
              </a:extLst>
            </p:cNvPr>
            <p:cNvSpPr/>
            <p:nvPr/>
          </p:nvSpPr>
          <p:spPr>
            <a:xfrm>
              <a:off x="768096" y="2962656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dirty="0"/>
            </a:p>
          </p:txBody>
        </p:sp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BE4C3A46-CDFE-04FF-DF5F-38CFBC8BCE7E}"/>
                </a:ext>
              </a:extLst>
            </p:cNvPr>
            <p:cNvSpPr txBox="1"/>
            <p:nvPr/>
          </p:nvSpPr>
          <p:spPr>
            <a:xfrm>
              <a:off x="1207008" y="2980802"/>
              <a:ext cx="6144767" cy="2746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Binpack</a:t>
              </a:r>
              <a:r>
                <a:rPr sz="11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优先装箱</a:t>
              </a:r>
              <a:r>
                <a:rPr sz="10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　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优先填满已有</a:t>
              </a: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GPU，减少半卡碎片与节点分散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6" name="Rounded Rectangle 17">
              <a:extLst>
                <a:ext uri="{FF2B5EF4-FFF2-40B4-BE49-F238E27FC236}">
                  <a16:creationId xmlns:a16="http://schemas.microsoft.com/office/drawing/2014/main" id="{E29FEE82-30F4-C9C3-F801-1082507293FE}"/>
                </a:ext>
              </a:extLst>
            </p:cNvPr>
            <p:cNvSpPr/>
            <p:nvPr/>
          </p:nvSpPr>
          <p:spPr>
            <a:xfrm>
              <a:off x="768096" y="3602736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sp>
          <p:nvSpPr>
            <p:cNvPr id="43" name="TextBox 19">
              <a:extLst>
                <a:ext uri="{FF2B5EF4-FFF2-40B4-BE49-F238E27FC236}">
                  <a16:creationId xmlns:a16="http://schemas.microsoft.com/office/drawing/2014/main" id="{4034850A-F438-7359-583E-B76EE46E5BFE}"/>
                </a:ext>
              </a:extLst>
            </p:cNvPr>
            <p:cNvSpPr txBox="1"/>
            <p:nvPr/>
          </p:nvSpPr>
          <p:spPr>
            <a:xfrm>
              <a:off x="1207008" y="3620881"/>
              <a:ext cx="6144767" cy="2746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亲和性搭配</a:t>
              </a:r>
              <a:r>
                <a:rPr sz="10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　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高负载与低负载混布，避免两个高负载竞争同一物理卡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5" name="Rounded Rectangle 21">
              <a:extLst>
                <a:ext uri="{FF2B5EF4-FFF2-40B4-BE49-F238E27FC236}">
                  <a16:creationId xmlns:a16="http://schemas.microsoft.com/office/drawing/2014/main" id="{635575AE-7F21-6068-25EC-F883BC22CCAB}"/>
                </a:ext>
              </a:extLst>
            </p:cNvPr>
            <p:cNvSpPr/>
            <p:nvPr/>
          </p:nvSpPr>
          <p:spPr>
            <a:xfrm>
              <a:off x="768096" y="4242816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dirty="0"/>
            </a:p>
          </p:txBody>
        </p:sp>
        <p:sp>
          <p:nvSpPr>
            <p:cNvPr id="47" name="TextBox 23">
              <a:extLst>
                <a:ext uri="{FF2B5EF4-FFF2-40B4-BE49-F238E27FC236}">
                  <a16:creationId xmlns:a16="http://schemas.microsoft.com/office/drawing/2014/main" id="{269C5A6D-0714-0841-0EE5-63986AE30777}"/>
                </a:ext>
              </a:extLst>
            </p:cNvPr>
            <p:cNvSpPr txBox="1"/>
            <p:nvPr/>
          </p:nvSpPr>
          <p:spPr>
            <a:xfrm>
              <a:off x="1207008" y="4260961"/>
              <a:ext cx="6144767" cy="2746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监控闭环</a:t>
              </a:r>
              <a:r>
                <a:rPr sz="10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　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H</a:t>
              </a:r>
              <a:r>
                <a:rPr lang="en-US"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AM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i</a:t>
              </a: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分配指标接入原有</a:t>
              </a: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GPU 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监控，统一面板看分配到使用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9" name="Rounded Rectangle 25">
              <a:extLst>
                <a:ext uri="{FF2B5EF4-FFF2-40B4-BE49-F238E27FC236}">
                  <a16:creationId xmlns:a16="http://schemas.microsoft.com/office/drawing/2014/main" id="{DD811F5F-91AB-9296-B4B6-29FF5B0E101B}"/>
                </a:ext>
              </a:extLst>
            </p:cNvPr>
            <p:cNvSpPr/>
            <p:nvPr/>
          </p:nvSpPr>
          <p:spPr>
            <a:xfrm>
              <a:off x="768096" y="4882896"/>
              <a:ext cx="310896" cy="310896"/>
            </a:xfrm>
            <a:prstGeom prst="roundRect">
              <a:avLst>
                <a:gd name="adj" fmla="val 50000"/>
              </a:avLst>
            </a:prstGeom>
            <a:solidFill>
              <a:srgbClr val="FF8A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dirty="0"/>
            </a:p>
          </p:txBody>
        </p:sp>
        <p:sp>
          <p:nvSpPr>
            <p:cNvPr id="51" name="TextBox 27">
              <a:extLst>
                <a:ext uri="{FF2B5EF4-FFF2-40B4-BE49-F238E27FC236}">
                  <a16:creationId xmlns:a16="http://schemas.microsoft.com/office/drawing/2014/main" id="{12E1C3A0-2F72-E64E-2067-2277CE53ABD8}"/>
                </a:ext>
              </a:extLst>
            </p:cNvPr>
            <p:cNvSpPr txBox="1"/>
            <p:nvPr/>
          </p:nvSpPr>
          <p:spPr>
            <a:xfrm>
              <a:off x="1207008" y="4901040"/>
              <a:ext cx="6702551" cy="27460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Karpenter</a:t>
              </a:r>
              <a:r>
                <a:rPr sz="115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</a:t>
              </a:r>
              <a:r>
                <a:rPr sz="115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弹性扩容</a:t>
              </a:r>
              <a:r>
                <a:rPr sz="115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　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改造插件兼容资源识别，海外集群</a:t>
              </a:r>
              <a:r>
                <a:rPr sz="900" b="0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 GPU </a:t>
              </a:r>
              <a:r>
                <a:rPr sz="900" b="0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节点无感扩容</a:t>
              </a:r>
              <a:endParaRPr sz="900" b="0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3" name="Rectangle 29">
              <a:extLst>
                <a:ext uri="{FF2B5EF4-FFF2-40B4-BE49-F238E27FC236}">
                  <a16:creationId xmlns:a16="http://schemas.microsoft.com/office/drawing/2014/main" id="{960BD696-2178-77EB-2760-86B51024BBE9}"/>
                </a:ext>
              </a:extLst>
            </p:cNvPr>
            <p:cNvSpPr/>
            <p:nvPr/>
          </p:nvSpPr>
          <p:spPr>
            <a:xfrm>
              <a:off x="8501313" y="1629905"/>
              <a:ext cx="82295" cy="3840479"/>
            </a:xfrm>
            <a:prstGeom prst="rect">
              <a:avLst/>
            </a:prstGeom>
            <a:solidFill>
              <a:srgbClr val="77B9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30">
              <a:extLst>
                <a:ext uri="{FF2B5EF4-FFF2-40B4-BE49-F238E27FC236}">
                  <a16:creationId xmlns:a16="http://schemas.microsoft.com/office/drawing/2014/main" id="{809C0976-59C9-82C3-0B79-15F0E53BA76A}"/>
                </a:ext>
              </a:extLst>
            </p:cNvPr>
            <p:cNvSpPr txBox="1"/>
            <p:nvPr/>
          </p:nvSpPr>
          <p:spPr>
            <a:xfrm>
              <a:off x="8824873" y="1762233"/>
              <a:ext cx="3465576" cy="3343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使用收益</a:t>
              </a:r>
              <a:endParaRPr sz="14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6" name="TextBox 32">
              <a:extLst>
                <a:ext uri="{FF2B5EF4-FFF2-40B4-BE49-F238E27FC236}">
                  <a16:creationId xmlns:a16="http://schemas.microsoft.com/office/drawing/2014/main" id="{161D2745-AD5A-7E88-6354-9BBB9B700A7A}"/>
                </a:ext>
              </a:extLst>
            </p:cNvPr>
            <p:cNvSpPr txBox="1"/>
            <p:nvPr/>
          </p:nvSpPr>
          <p:spPr>
            <a:xfrm>
              <a:off x="10087797" y="2221994"/>
              <a:ext cx="3172968" cy="71636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+</a:t>
              </a:r>
              <a:r>
                <a:rPr lang="en-US" altLang="zh-CN"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5</a:t>
              </a:r>
              <a:r>
                <a:rPr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0%</a:t>
              </a:r>
            </a:p>
          </p:txBody>
        </p:sp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15E26E91-DAF5-52BD-9656-99F5ED9087C6}"/>
                </a:ext>
              </a:extLst>
            </p:cNvPr>
            <p:cNvSpPr txBox="1"/>
            <p:nvPr/>
          </p:nvSpPr>
          <p:spPr>
            <a:xfrm>
              <a:off x="8049925" y="2507783"/>
              <a:ext cx="3172968" cy="262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100" b="1" dirty="0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GPU </a:t>
              </a:r>
              <a:r>
                <a:rPr sz="11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利用率提升</a:t>
              </a:r>
              <a:endParaRPr sz="11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9" name="TextBox 35">
              <a:extLst>
                <a:ext uri="{FF2B5EF4-FFF2-40B4-BE49-F238E27FC236}">
                  <a16:creationId xmlns:a16="http://schemas.microsoft.com/office/drawing/2014/main" id="{339E3485-4025-7358-FC33-F59FFC2C8AAD}"/>
                </a:ext>
              </a:extLst>
            </p:cNvPr>
            <p:cNvSpPr txBox="1"/>
            <p:nvPr/>
          </p:nvSpPr>
          <p:spPr>
            <a:xfrm>
              <a:off x="10161772" y="3310127"/>
              <a:ext cx="3172968" cy="71636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-30%</a:t>
              </a:r>
            </a:p>
          </p:txBody>
        </p:sp>
        <p:sp>
          <p:nvSpPr>
            <p:cNvPr id="60" name="TextBox 36">
              <a:extLst>
                <a:ext uri="{FF2B5EF4-FFF2-40B4-BE49-F238E27FC236}">
                  <a16:creationId xmlns:a16="http://schemas.microsoft.com/office/drawing/2014/main" id="{03959FBE-0318-5296-2CF4-33C7B805EF35}"/>
                </a:ext>
              </a:extLst>
            </p:cNvPr>
            <p:cNvSpPr txBox="1"/>
            <p:nvPr/>
          </p:nvSpPr>
          <p:spPr>
            <a:xfrm>
              <a:off x="7909559" y="3570643"/>
              <a:ext cx="3172968" cy="262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1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综合成本降低</a:t>
              </a:r>
              <a:endParaRPr sz="11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2" name="TextBox 38">
              <a:extLst>
                <a:ext uri="{FF2B5EF4-FFF2-40B4-BE49-F238E27FC236}">
                  <a16:creationId xmlns:a16="http://schemas.microsoft.com/office/drawing/2014/main" id="{FC56FF28-5B1C-CA14-0109-9D88EF32A7E4}"/>
                </a:ext>
              </a:extLst>
            </p:cNvPr>
            <p:cNvSpPr txBox="1"/>
            <p:nvPr/>
          </p:nvSpPr>
          <p:spPr>
            <a:xfrm>
              <a:off x="10087797" y="4398264"/>
              <a:ext cx="3172968" cy="71636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&lt;</a:t>
              </a:r>
              <a:r>
                <a:rPr lang="en-US" altLang="zh-CN" sz="3000" b="1" dirty="0">
                  <a:solidFill>
                    <a:srgbClr val="77B90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10%</a:t>
              </a:r>
              <a:endParaRPr sz="3000" b="1" dirty="0">
                <a:solidFill>
                  <a:srgbClr val="77B9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3" name="TextBox 39">
              <a:extLst>
                <a:ext uri="{FF2B5EF4-FFF2-40B4-BE49-F238E27FC236}">
                  <a16:creationId xmlns:a16="http://schemas.microsoft.com/office/drawing/2014/main" id="{4A65DE2C-7DAE-8EB6-DD8D-27E06B313C8D}"/>
                </a:ext>
              </a:extLst>
            </p:cNvPr>
            <p:cNvSpPr txBox="1"/>
            <p:nvPr/>
          </p:nvSpPr>
          <p:spPr>
            <a:xfrm>
              <a:off x="8123893" y="4685197"/>
              <a:ext cx="3172968" cy="26266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100" b="1" dirty="0" err="1">
                  <a:solidFill>
                    <a:schemeClr val="accent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推理性能下降可控</a:t>
              </a:r>
              <a:endParaRPr sz="1100" b="1" dirty="0">
                <a:solidFill>
                  <a:schemeClr val="accent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2868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httpscloud-native.slack.comarchivesC07T10BU4R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71" y="2086292"/>
            <a:ext cx="1895158" cy="1895158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C0532CDF-F96F-9C00-EAD4-202B1F53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Join our community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DEC8BA-D457-0FD9-E806-078827E68C94}"/>
              </a:ext>
            </a:extLst>
          </p:cNvPr>
          <p:cNvSpPr txBox="1"/>
          <p:nvPr/>
        </p:nvSpPr>
        <p:spPr>
          <a:xfrm>
            <a:off x="538163" y="2125930"/>
            <a:ext cx="48374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GitHub</a:t>
            </a:r>
          </a:p>
          <a:p>
            <a:r>
              <a:rPr lang="en-US" altLang="zh-CN" dirty="0"/>
              <a:t>      </a:t>
            </a:r>
            <a:r>
              <a:rPr lang="en-US" altLang="zh-CN" sz="1200" i="1" u="sng" dirty="0">
                <a:solidFill>
                  <a:schemeClr val="accent4">
                    <a:lumMod val="50000"/>
                  </a:schemeClr>
                </a:solidFill>
              </a:rPr>
              <a:t>https://github.com/Project-HAMi/HAMi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Website</a:t>
            </a:r>
          </a:p>
          <a:p>
            <a:r>
              <a:rPr lang="en-US" altLang="zh-CN" dirty="0"/>
              <a:t>      </a:t>
            </a:r>
            <a:r>
              <a:rPr lang="en-US" altLang="zh-CN" sz="1200" i="1" u="sng" dirty="0">
                <a:solidFill>
                  <a:schemeClr val="accent4">
                    <a:lumMod val="50000"/>
                  </a:schemeClr>
                </a:solidFill>
              </a:rPr>
              <a:t>http://project-hami.io/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Slack</a:t>
            </a:r>
          </a:p>
          <a:p>
            <a:r>
              <a:rPr lang="en-US" altLang="zh-CN" dirty="0"/>
              <a:t>      </a:t>
            </a:r>
            <a:r>
              <a:rPr lang="en-US" altLang="zh-CN" sz="1200" i="1" u="sng" dirty="0">
                <a:solidFill>
                  <a:schemeClr val="accent4">
                    <a:lumMod val="50000"/>
                  </a:schemeClr>
                </a:solidFill>
              </a:rPr>
              <a:t>#hami-dev in Cloud Native Computing Foundation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5C4441-52EF-F959-6A96-11DE6334A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043" y="2102802"/>
            <a:ext cx="1232886" cy="18621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6.8640157480315,&quot;left&quot;:42.37692913385827,&quot;top&quot;:81.41527559055116,&quot;width&quot;:900.7425984251968}"/>
</p:tagLst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810</Words>
  <Application>Microsoft Office PowerPoint</Application>
  <PresentationFormat>全屏显示(16:9)</PresentationFormat>
  <Paragraphs>215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Montserrat</vt:lpstr>
      <vt:lpstr>Arial</vt:lpstr>
      <vt:lpstr>PingFang SC</vt:lpstr>
      <vt:lpstr>Open Sans bold</vt:lpstr>
      <vt:lpstr>宋体</vt:lpstr>
      <vt:lpstr>OSSNA24</vt:lpstr>
      <vt:lpstr>10_OSSNA24</vt:lpstr>
      <vt:lpstr>How Intsig Serves Billions of Document Scans: GPU Virtualization at Scale with HAMi</vt:lpstr>
      <vt:lpstr>Catalog</vt:lpstr>
      <vt:lpstr>Background:  Inadequate Compute resources</vt:lpstr>
      <vt:lpstr>Background: Topology-aware scheduling is needed</vt:lpstr>
      <vt:lpstr>HAMi:  Middleware for GPU Clusters</vt:lpstr>
      <vt:lpstr>HAMi architect</vt:lpstr>
      <vt:lpstr>HAMi DRA</vt:lpstr>
      <vt:lpstr>HAMi Usage</vt:lpstr>
      <vt:lpstr>HAMi Supported devices</vt:lpstr>
      <vt:lpstr>HAMi: Use Cases</vt:lpstr>
      <vt:lpstr>HAMi in LLM inference</vt:lpstr>
      <vt:lpstr>Volcano + HAMi</vt:lpstr>
      <vt:lpstr>CaseStudy: IntSig_训推总览</vt:lpstr>
      <vt:lpstr>CaseStudy: IntSig_混合调度</vt:lpstr>
      <vt:lpstr>CaseStudy: IntSig_GPU服务器与K8S 资源管理</vt:lpstr>
      <vt:lpstr>CaseStudy: IntSig_HAMi 部署方式与收益</vt:lpstr>
      <vt:lpstr>Join our community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T199938</cp:lastModifiedBy>
  <cp:revision>118</cp:revision>
  <dcterms:created xsi:type="dcterms:W3CDTF">2026-08-27T14:18:22Z</dcterms:created>
  <dcterms:modified xsi:type="dcterms:W3CDTF">2026-09-02T08:11:30Z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BDF75DFE7B29720A2D47906A9D833A9D_43</vt:lpwstr>
  </property>
</Properties>
</file>