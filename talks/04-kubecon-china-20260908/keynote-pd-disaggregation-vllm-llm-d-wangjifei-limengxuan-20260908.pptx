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9" r:id="rId3"/>
  </p:sldMasterIdLst>
  <p:notesMasterIdLst>
    <p:notesMasterId r:id="rId5"/>
  </p:notesMasterIdLst>
  <p:sldIdLst>
    <p:sldId id="266" r:id="rId4"/>
    <p:sldId id="269" r:id="rId6"/>
    <p:sldId id="267" r:id="rId7"/>
    <p:sldId id="26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3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5"/>
    <p:restoredTop sz="94726"/>
  </p:normalViewPr>
  <p:slideViewPr>
    <p:cSldViewPr snapToGrid="0" showGuides="1">
      <p:cViewPr varScale="1">
        <p:scale>
          <a:sx n="165" d="100"/>
          <a:sy n="165" d="100"/>
        </p:scale>
        <p:origin x="408" y="184"/>
      </p:cViewPr>
      <p:guideLst>
        <p:guide orient="horz" pos="163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083E4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2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1" name="Google Shape;11;p12" descr="A green cityscape with a globe&#10;&#10;Description automatically generated"/>
            <p:cNvPicPr preferRelativeResize="0"/>
            <p:nvPr/>
          </p:nvPicPr>
          <p:blipFill rotWithShape="1">
            <a:blip r:embed="rId2"/>
            <a:srcRect l="7975" r="3180"/>
            <a:stretch>
              <a:fillRect/>
            </a:stretch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2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" name="Google Shape;13;p12"/>
          <p:cNvSpPr txBox="1"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2"/>
          <p:cNvSpPr txBox="1"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2"/>
          <p:cNvSpPr txBox="1"/>
          <p:nvPr/>
        </p:nvSpPr>
        <p:spPr>
          <a:xfrm>
            <a:off x="4572000" y="178532"/>
            <a:ext cx="42550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90204"/>
              <a:buNone/>
              <a:defRPr/>
            </a:pP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KubeCon</a:t>
            </a: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CloudNativeCon</a:t>
            </a:r>
            <a:b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b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OpenInfraSummit</a:t>
            </a: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PyTorchCon</a:t>
            </a:r>
            <a:endParaRPr sz="1200" b="0" i="0" u="none" strike="noStrike" cap="none" dirty="0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083E4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3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9" name="Google Shape;19;p13" descr="A green cityscape with a globe&#10;&#10;Description automatically generated"/>
            <p:cNvPicPr preferRelativeResize="0"/>
            <p:nvPr/>
          </p:nvPicPr>
          <p:blipFill rotWithShape="1">
            <a:blip r:embed="rId2"/>
            <a:srcRect l="7975" r="3180"/>
            <a:stretch>
              <a:fillRect/>
            </a:stretch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3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6" name="Google Shape;26;p14"/>
          <p:cNvGrpSpPr/>
          <p:nvPr/>
        </p:nvGrpSpPr>
        <p:grpSpPr>
          <a:xfrm>
            <a:off x="0" y="2998599"/>
            <a:ext cx="9144000" cy="2144901"/>
            <a:chOff x="100484" y="3022169"/>
            <a:chExt cx="9043516" cy="2121331"/>
          </a:xfrm>
        </p:grpSpPr>
        <p:pic>
          <p:nvPicPr>
            <p:cNvPr id="27" name="Google Shape;27;p14"/>
            <p:cNvPicPr preferRelativeResize="0"/>
            <p:nvPr/>
          </p:nvPicPr>
          <p:blipFill rotWithShape="1">
            <a:blip r:embed="rId2"/>
            <a:srcRect r="14460"/>
            <a:stretch>
              <a:fillRect/>
            </a:stretch>
          </p:blipFill>
          <p:spPr>
            <a:xfrm>
              <a:off x="2785997" y="3022169"/>
              <a:ext cx="6358003" cy="2121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14"/>
            <p:cNvPicPr preferRelativeResize="0"/>
            <p:nvPr/>
          </p:nvPicPr>
          <p:blipFill rotWithShape="1">
            <a:blip r:embed="rId3"/>
            <a:srcRect l="64144"/>
            <a:stretch>
              <a:fillRect/>
            </a:stretch>
          </p:blipFill>
          <p:spPr>
            <a:xfrm>
              <a:off x="100484" y="4082834"/>
              <a:ext cx="2685514" cy="10606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15"/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2" name="Google Shape;32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40823" y="453033"/>
            <a:ext cx="2590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5"/>
          <p:cNvPicPr preferRelativeResize="0"/>
          <p:nvPr/>
        </p:nvPicPr>
        <p:blipFill rotWithShape="1">
          <a:blip r:embed="rId2"/>
          <a:srcRect l="41002" b="9974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5"/>
          <p:cNvPicPr preferRelativeResize="0"/>
          <p:nvPr/>
        </p:nvPicPr>
        <p:blipFill rotWithShape="1">
          <a:blip r:embed="rId3"/>
          <a:srcRect t="40037" r="35395" b="24793"/>
          <a:stretch>
            <a:fillRect/>
          </a:stretch>
        </p:blipFill>
        <p:spPr>
          <a:xfrm>
            <a:off x="5890451" y="-1"/>
            <a:ext cx="32535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317" y="0"/>
            <a:ext cx="916663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rgbClr val="083E4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2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1" name="Google Shape;11;p12" descr="A green cityscape with a globe&#10;&#10;Description automatically generated"/>
            <p:cNvPicPr preferRelativeResize="0"/>
            <p:nvPr/>
          </p:nvPicPr>
          <p:blipFill rotWithShape="1">
            <a:blip r:embed="rId2"/>
            <a:srcRect l="7975" r="3180"/>
            <a:stretch>
              <a:fillRect/>
            </a:stretch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2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3" name="Google Shape;13;p12"/>
          <p:cNvSpPr txBox="1"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2"/>
          <p:cNvSpPr txBox="1"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2"/>
          <p:cNvSpPr txBox="1"/>
          <p:nvPr/>
        </p:nvSpPr>
        <p:spPr>
          <a:xfrm>
            <a:off x="4572000" y="178532"/>
            <a:ext cx="42550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90204"/>
              <a:buNone/>
              <a:defRPr/>
            </a:pP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KubeCon</a:t>
            </a: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CloudNativeCon</a:t>
            </a:r>
            <a:b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b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OpenInfraSummit</a:t>
            </a: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PyTorchCon</a:t>
            </a:r>
            <a:endParaRPr sz="1200" b="0" i="0" u="none" strike="noStrike" cap="none" dirty="0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rgbClr val="083E4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3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9" name="Google Shape;19;p13" descr="A green cityscape with a globe&#10;&#10;Description automatically generated"/>
            <p:cNvPicPr preferRelativeResize="0"/>
            <p:nvPr/>
          </p:nvPicPr>
          <p:blipFill rotWithShape="1">
            <a:blip r:embed="rId2"/>
            <a:srcRect l="7975" r="3180"/>
            <a:stretch>
              <a:fillRect/>
            </a:stretch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3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6" name="Google Shape;26;p14"/>
          <p:cNvGrpSpPr/>
          <p:nvPr/>
        </p:nvGrpSpPr>
        <p:grpSpPr>
          <a:xfrm>
            <a:off x="0" y="2998599"/>
            <a:ext cx="9144000" cy="2144901"/>
            <a:chOff x="100484" y="3022169"/>
            <a:chExt cx="9043516" cy="2121331"/>
          </a:xfrm>
        </p:grpSpPr>
        <p:pic>
          <p:nvPicPr>
            <p:cNvPr id="27" name="Google Shape;27;p14"/>
            <p:cNvPicPr preferRelativeResize="0"/>
            <p:nvPr/>
          </p:nvPicPr>
          <p:blipFill rotWithShape="1">
            <a:blip r:embed="rId2"/>
            <a:srcRect r="14460"/>
            <a:stretch>
              <a:fillRect/>
            </a:stretch>
          </p:blipFill>
          <p:spPr>
            <a:xfrm>
              <a:off x="2785997" y="3022169"/>
              <a:ext cx="6358003" cy="2121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14"/>
            <p:cNvPicPr preferRelativeResize="0"/>
            <p:nvPr/>
          </p:nvPicPr>
          <p:blipFill rotWithShape="1">
            <a:blip r:embed="rId3"/>
            <a:srcRect l="64144"/>
            <a:stretch>
              <a:fillRect/>
            </a:stretch>
          </p:blipFill>
          <p:spPr>
            <a:xfrm>
              <a:off x="100484" y="4082834"/>
              <a:ext cx="2685514" cy="10606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15"/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2" name="Google Shape;32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40823" y="453033"/>
            <a:ext cx="2590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5"/>
          <p:cNvPicPr preferRelativeResize="0"/>
          <p:nvPr/>
        </p:nvPicPr>
        <p:blipFill rotWithShape="1">
          <a:blip r:embed="rId2"/>
          <a:srcRect l="41002" b="9974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5"/>
          <p:cNvPicPr preferRelativeResize="0"/>
          <p:nvPr/>
        </p:nvPicPr>
        <p:blipFill rotWithShape="1">
          <a:blip r:embed="rId3"/>
          <a:srcRect t="40037" r="35395" b="24793"/>
          <a:stretch>
            <a:fillRect/>
          </a:stretch>
        </p:blipFill>
        <p:spPr>
          <a:xfrm>
            <a:off x="5890451" y="-1"/>
            <a:ext cx="32535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317" y="0"/>
            <a:ext cx="916663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1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1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What is llm-d</a:t>
            </a:r>
            <a:endParaRPr lang="en-US"/>
          </a:p>
        </p:txBody>
      </p:sp>
      <p:sp>
        <p:nvSpPr>
          <p:cNvPr id="96" name="Google Shape;96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CN" sz="2000"/>
              <a:t>llm-d is a high-performance distributed inference serving stack optimized for production deployments on Kubernetes. Its key feature </a:t>
            </a:r>
            <a:r>
              <a:rPr lang="en-US" altLang="zh-CN" sz="2000"/>
              <a:t>includes：</a:t>
            </a:r>
            <a:endParaRPr lang="en-US" altLang="zh-CN" sz="2000"/>
          </a:p>
          <a:p>
            <a:pPr marL="0" lvl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altLang="zh-CN" sz="2000"/>
          </a:p>
          <a:p>
            <a:pPr marL="342900" lvl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altLang="zh-CN" sz="2000"/>
              <a:t>Intelligent Routing</a:t>
            </a:r>
            <a:endParaRPr lang="en-US" altLang="zh-CN" sz="2000"/>
          </a:p>
          <a:p>
            <a:pPr marL="342900" lvl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altLang="zh-CN" sz="2000"/>
              <a:t>Advanced KV-Cache Management</a:t>
            </a:r>
            <a:endParaRPr lang="en-US" altLang="zh-CN" sz="2000"/>
          </a:p>
          <a:p>
            <a:pPr marL="342900" lvl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altLang="zh-CN" sz="2000"/>
              <a:t>Serving Large Models</a:t>
            </a:r>
            <a:endParaRPr lang="en-US" altLang="zh-CN" sz="2000"/>
          </a:p>
          <a:p>
            <a:pPr marL="342900" lvl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altLang="zh-CN" sz="2000"/>
              <a:t>Operational Excellence</a:t>
            </a:r>
            <a:endParaRPr lang="en-US" altLang="zh-CN" sz="2000"/>
          </a:p>
          <a:p>
            <a:pPr marL="342900" lvl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altLang="zh-CN" sz="2000"/>
              <a:t>Batch Processing</a:t>
            </a:r>
            <a:endParaRPr lang="en-US" altLang="zh-CN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Why Alternative AI </a:t>
            </a:r>
            <a:br>
              <a:rPr lang="en-US"/>
            </a:br>
            <a:r>
              <a:rPr lang="en-US"/>
              <a:t>Accelearators using llm-d</a:t>
            </a:r>
            <a:endParaRPr lang="en-US"/>
          </a:p>
        </p:txBody>
      </p:sp>
      <p:sp>
        <p:nvSpPr>
          <p:cNvPr id="96" name="Google Shape;96;p6"/>
          <p:cNvSpPr txBox="1">
            <a:spLocks noGrp="1"/>
          </p:cNvSpPr>
          <p:nvPr>
            <p:ph type="body" idx="1"/>
          </p:nvPr>
        </p:nvSpPr>
        <p:spPr>
          <a:xfrm>
            <a:off x="311785" y="1420495"/>
            <a:ext cx="8520430" cy="41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CN" sz="2000"/>
              <a:t>llm-d slogan: Achieve SOTA Inference Performance On </a:t>
            </a:r>
            <a:r>
              <a:rPr lang="en-US" altLang="zh-CN" sz="2000">
                <a:solidFill>
                  <a:srgbClr val="FF0000"/>
                </a:solidFill>
              </a:rPr>
              <a:t>Any Accelerator</a:t>
            </a:r>
            <a:endParaRPr lang="en-US" altLang="zh-CN" sz="200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9890" y="2207895"/>
            <a:ext cx="2144395" cy="2153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It already supports:</a:t>
            </a:r>
            <a:endParaRPr lang="en-US" altLang="zh-CN" sz="1800"/>
          </a:p>
          <a:p>
            <a:endParaRPr lang="en-US" altLang="zh-CN" sz="20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AMD ROCm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CPU x86_64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Google TPU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Intel XPU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NVIDIA GPU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>
                <a:solidFill>
                  <a:srgbClr val="1C1E21"/>
                </a:solidFill>
                <a:latin typeface="IBM Plex Sans"/>
                <a:ea typeface="IBM Plex Sans"/>
                <a:sym typeface="+mn-ea"/>
              </a:rPr>
              <a:t>Rebellions NPU</a:t>
            </a:r>
            <a:endParaRPr lang="en-US" altLang="zh-CN" sz="1600"/>
          </a:p>
        </p:txBody>
      </p:sp>
      <p:sp>
        <p:nvSpPr>
          <p:cNvPr id="9" name="文本框 8"/>
          <p:cNvSpPr txBox="1"/>
          <p:nvPr/>
        </p:nvSpPr>
        <p:spPr>
          <a:xfrm>
            <a:off x="2734945" y="2214880"/>
            <a:ext cx="3048000" cy="212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/>
              <a:t>For new vendor it provides:</a:t>
            </a:r>
            <a:endParaRPr lang="en-US" altLang="zh-CN" sz="1800"/>
          </a:p>
          <a:p>
            <a:endParaRPr lang="en-US" altLang="zh-CN" sz="18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Good abstraction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Comprehensive adaptation guidelines</a:t>
            </a:r>
            <a:endParaRPr lang="en-US" altLang="zh-CN" sz="160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600"/>
              <a:t>Clear compatibility hierarchy</a:t>
            </a:r>
            <a:endParaRPr lang="en-US" altLang="zh-CN" sz="1600"/>
          </a:p>
        </p:txBody>
      </p:sp>
      <p:sp>
        <p:nvSpPr>
          <p:cNvPr id="10" name="文本框 9"/>
          <p:cNvSpPr txBox="1"/>
          <p:nvPr/>
        </p:nvSpPr>
        <p:spPr>
          <a:xfrm>
            <a:off x="5784215" y="2207895"/>
            <a:ext cx="3048000" cy="2152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/>
              <a:t>And it requests：</a:t>
            </a:r>
            <a:endParaRPr lang="en-US" altLang="zh-CN" sz="1800"/>
          </a:p>
          <a:p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Public inference engine image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Open Dockerfile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Vendor native inference optimization solution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Contact information for vendor maintainers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Nightly e2e environment for all realease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11785" y="4618990"/>
            <a:ext cx="8520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It provides </a:t>
            </a:r>
            <a:r>
              <a:rPr lang="en-US" altLang="zh-CN" sz="2000">
                <a:solidFill>
                  <a:srgbClr val="FF0000"/>
                </a:solidFill>
              </a:rPr>
              <a:t>diversity</a:t>
            </a:r>
            <a:r>
              <a:rPr lang="en-US" altLang="zh-CN" sz="2000"/>
              <a:t>, </a:t>
            </a:r>
            <a:r>
              <a:rPr lang="en-US" altLang="zh-CN" sz="2000">
                <a:solidFill>
                  <a:srgbClr val="FF0000"/>
                </a:solidFill>
              </a:rPr>
              <a:t>standrad</a:t>
            </a:r>
            <a:r>
              <a:rPr lang="en-US" altLang="zh-CN" sz="2000"/>
              <a:t>, and </a:t>
            </a:r>
            <a:r>
              <a:rPr lang="en-US" altLang="zh-CN" sz="2000">
                <a:solidFill>
                  <a:srgbClr val="FF0000"/>
                </a:solidFill>
              </a:rPr>
              <a:t>reliability</a:t>
            </a:r>
            <a:r>
              <a:rPr lang="en-US" altLang="zh-CN" sz="2000"/>
              <a:t> for both vendors and users.</a:t>
            </a:r>
            <a:endParaRPr lang="en-US" alt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vLLM PD Disaggreation Demo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342900" indent="-228600">
              <a:buAutoNum type="arabicPeriod"/>
            </a:pPr>
            <a:r>
              <a:rPr lang="en-US" altLang="zh-CN" sz="2000"/>
              <a:t>Check the device available</a:t>
            </a:r>
            <a:endParaRPr lang="en-US" altLang="zh-CN" sz="2000"/>
          </a:p>
          <a:p>
            <a:pPr marL="342900" indent="-228600">
              <a:buAutoNum type="arabicPeriod"/>
            </a:pPr>
            <a:endParaRPr lang="en-US" altLang="zh-CN" sz="2000"/>
          </a:p>
          <a:p>
            <a:pPr marL="342900" indent="-228600">
              <a:buAutoNum type="arabicPeriod"/>
            </a:pPr>
            <a:r>
              <a:rPr lang="en-US" altLang="zh-CN" sz="2000"/>
              <a:t>Check the llm-d deployment</a:t>
            </a:r>
            <a:endParaRPr lang="en-US" altLang="zh-CN" sz="2000"/>
          </a:p>
          <a:p>
            <a:pPr marL="342900" indent="-228600">
              <a:buAutoNum type="arabicPeriod"/>
            </a:pPr>
            <a:endParaRPr lang="en-US" altLang="zh-CN" sz="2000"/>
          </a:p>
          <a:p>
            <a:pPr marL="342900" indent="-228600">
              <a:buAutoNum type="arabicPeriod"/>
            </a:pPr>
            <a:r>
              <a:rPr lang="en-US" altLang="zh-CN" sz="2000"/>
              <a:t>Deploy inference instances</a:t>
            </a:r>
            <a:endParaRPr lang="en-US" altLang="zh-CN" sz="2000"/>
          </a:p>
          <a:p>
            <a:pPr marL="342900" indent="-228600">
              <a:buAutoNum type="arabicPeriod"/>
            </a:pPr>
            <a:endParaRPr lang="en-US" altLang="zh-CN" sz="2000"/>
          </a:p>
          <a:p>
            <a:pPr marL="342900" indent="-228600">
              <a:buAutoNum type="arabicPeriod"/>
            </a:pPr>
            <a:r>
              <a:rPr lang="en-US" altLang="zh-CN" sz="2000"/>
              <a:t>Post infrence requests</a:t>
            </a:r>
            <a:endParaRPr lang="en-US" altLang="zh-CN" sz="2000"/>
          </a:p>
          <a:p>
            <a:pPr marL="342900" indent="-228600">
              <a:buAutoNum type="arabicPeriod"/>
            </a:pPr>
            <a:endParaRPr lang="en-US" altLang="zh-CN" sz="2000"/>
          </a:p>
          <a:p>
            <a:pPr marL="342900" indent="-228600">
              <a:buAutoNum type="arabicPeriod"/>
            </a:pPr>
            <a:r>
              <a:rPr lang="en-US" altLang="zh-CN" sz="2000"/>
              <a:t>Check the vllm log</a:t>
            </a:r>
            <a:endParaRPr lang="en-US" altLang="zh-CN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Optimize LLM-</a:t>
            </a:r>
            <a:r>
              <a:rPr lang="en-US" altLang="zh-CN" dirty="0"/>
              <a:t>D inference</a:t>
            </a:r>
            <a:endParaRPr lang="zh-CN" altLang="en-US" dirty="0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47238" y="1404937"/>
            <a:ext cx="1544955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0B4655"/>
                </a:solidFill>
              </a:defRPr>
            </a:pPr>
            <a:r>
              <a:rPr sz="1350" dirty="0">
                <a:solidFill>
                  <a:srgbClr val="0B4655"/>
                </a:solidFill>
              </a:rPr>
              <a:t>POST-API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895985" y="2428240"/>
            <a:ext cx="7710170" cy="742950"/>
          </a:xfrm>
          <a:prstGeom prst="roundRect">
            <a:avLst/>
          </a:prstGeom>
          <a:solidFill>
            <a:srgbClr val="F0FFD5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868505" y="1420812"/>
            <a:ext cx="2085023" cy="5721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0B4655"/>
                </a:solidFill>
              </a:defRPr>
            </a:pPr>
            <a:r>
              <a:rPr sz="1350" b="1">
                <a:solidFill>
                  <a:srgbClr val="0B4655"/>
                </a:solidFill>
              </a:rPr>
              <a:t>llm-d router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47238" y="2594927"/>
            <a:ext cx="1544955" cy="40513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0B4655"/>
                </a:solidFill>
              </a:defRPr>
            </a:pPr>
            <a:r>
              <a:rPr sz="1350" b="1">
                <a:solidFill>
                  <a:srgbClr val="0B4655"/>
                </a:solidFill>
              </a:rPr>
              <a:t>Prefill</a:t>
            </a:r>
            <a:endParaRPr sz="1350" b="1">
              <a:solidFill>
                <a:srgbClr val="0B465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868505" y="2543492"/>
            <a:ext cx="2085023" cy="4972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0B4655"/>
                </a:solidFill>
              </a:defRPr>
            </a:pPr>
            <a:r>
              <a:rPr sz="1350" b="1">
                <a:solidFill>
                  <a:srgbClr val="0B4655"/>
                </a:solidFill>
              </a:rPr>
              <a:t>Decode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4" idx="3"/>
            <a:endCxn id="5" idx="1"/>
          </p:cNvCxnSpPr>
          <p:nvPr/>
        </p:nvCxnSpPr>
        <p:spPr>
          <a:xfrm>
            <a:off x="2892193" y="1706880"/>
            <a:ext cx="97631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9"/>
          <p:cNvCxnSpPr>
            <a:stCxn id="5" idx="2"/>
            <a:endCxn id="7" idx="0"/>
          </p:cNvCxnSpPr>
          <p:nvPr/>
        </p:nvCxnSpPr>
        <p:spPr>
          <a:xfrm>
            <a:off x="4911017" y="1992947"/>
            <a:ext cx="0" cy="55054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3868505" y="3335972"/>
            <a:ext cx="2085021" cy="604520"/>
          </a:xfrm>
          <a:prstGeom prst="rect">
            <a:avLst/>
          </a:prstGeom>
          <a:solidFill>
            <a:srgbClr val="77B900"/>
          </a:solidFill>
          <a:ln w="11430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 dirty="0">
                <a:solidFill>
                  <a:srgbClr val="FFFFFF"/>
                </a:solidFill>
              </a:rPr>
              <a:t>HAMi</a:t>
            </a:r>
            <a:r>
              <a:rPr lang="en-US" sz="1350" b="1" dirty="0">
                <a:solidFill>
                  <a:srgbClr val="FFFFFF"/>
                </a:solidFill>
              </a:rPr>
              <a:t> / </a:t>
            </a:r>
            <a:r>
              <a:rPr lang="en-US" sz="1350" b="1" dirty="0">
                <a:solidFill>
                  <a:srgbClr val="FFFFFF"/>
                </a:solidFill>
              </a:rPr>
              <a:t>Mig / MPS</a:t>
            </a:r>
            <a:endParaRPr lang="en-US" sz="1350" b="1" dirty="0">
              <a:solidFill>
                <a:srgbClr val="FFFFFF"/>
              </a:solidFill>
            </a:endParaRPr>
          </a:p>
        </p:txBody>
      </p:sp>
      <p:cxnSp>
        <p:nvCxnSpPr>
          <p:cNvPr id="11" name="直接箭头连接符 12"/>
          <p:cNvCxnSpPr>
            <a:stCxn id="7" idx="2"/>
            <a:endCxn id="10" idx="0"/>
          </p:cNvCxnSpPr>
          <p:nvPr/>
        </p:nvCxnSpPr>
        <p:spPr>
          <a:xfrm flipH="1">
            <a:off x="4911016" y="3040697"/>
            <a:ext cx="1" cy="29527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>
            <a:spLocks noGrp="1"/>
          </p:cNvSpPr>
          <p:nvPr/>
        </p:nvSpPr>
        <p:spPr>
          <a:xfrm>
            <a:off x="1347238" y="4249101"/>
            <a:ext cx="1544955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C2C9C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56616A"/>
                </a:solidFill>
              </a:defRPr>
            </a:pPr>
            <a:r>
              <a:rPr sz="1350" b="1" dirty="0">
                <a:solidFill>
                  <a:srgbClr val="56616A"/>
                </a:solidFill>
              </a:rPr>
              <a:t>GPU</a:t>
            </a:r>
            <a:endParaRPr dirty="0"/>
          </a:p>
        </p:txBody>
      </p:sp>
      <p:cxnSp>
        <p:nvCxnSpPr>
          <p:cNvPr id="13" name="直接箭头连接符 48"/>
          <p:cNvCxnSpPr>
            <a:stCxn id="10" idx="2"/>
            <a:endCxn id="15" idx="0"/>
          </p:cNvCxnSpPr>
          <p:nvPr/>
        </p:nvCxnSpPr>
        <p:spPr>
          <a:xfrm flipH="1">
            <a:off x="4911015" y="3940492"/>
            <a:ext cx="1" cy="308608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49"/>
          <p:cNvCxnSpPr>
            <a:stCxn id="6" idx="2"/>
            <a:endCxn id="12" idx="0"/>
          </p:cNvCxnSpPr>
          <p:nvPr/>
        </p:nvCxnSpPr>
        <p:spPr>
          <a:xfrm>
            <a:off x="2119716" y="3000057"/>
            <a:ext cx="0" cy="124904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>
            <a:spLocks noGrp="1"/>
          </p:cNvSpPr>
          <p:nvPr/>
        </p:nvSpPr>
        <p:spPr>
          <a:xfrm>
            <a:off x="3868505" y="4249100"/>
            <a:ext cx="2085019" cy="603885"/>
          </a:xfrm>
          <a:prstGeom prst="rect">
            <a:avLst/>
          </a:prstGeom>
          <a:noFill/>
          <a:ln w="28575">
            <a:solidFill>
              <a:srgbClr val="77B9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56616A"/>
                </a:solidFill>
              </a:defRPr>
            </a:pPr>
            <a:r>
              <a:rPr sz="1350" b="1" dirty="0">
                <a:solidFill>
                  <a:srgbClr val="5E9200"/>
                </a:solidFill>
              </a:rPr>
              <a:t>GPU Slice</a:t>
            </a:r>
            <a:endParaRPr dirty="0">
              <a:solidFill>
                <a:srgbClr val="5E9200"/>
              </a:solidFill>
            </a:endParaRPr>
          </a:p>
        </p:txBody>
      </p:sp>
      <p:cxnSp>
        <p:nvCxnSpPr>
          <p:cNvPr id="16" name="直接箭头连接符 6"/>
          <p:cNvCxnSpPr>
            <a:stCxn id="7" idx="1"/>
            <a:endCxn id="6" idx="3"/>
          </p:cNvCxnSpPr>
          <p:nvPr/>
        </p:nvCxnSpPr>
        <p:spPr>
          <a:xfrm flipH="1">
            <a:off x="2892193" y="2792095"/>
            <a:ext cx="976312" cy="539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5990590" y="2594610"/>
            <a:ext cx="3014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5E9200"/>
                </a:solidFill>
              </a:rPr>
              <a:t>HAMi/Volcano/KAI-scheduler</a:t>
            </a:r>
            <a:endParaRPr lang="en-US" altLang="zh-CN" b="1" dirty="0">
              <a:solidFill>
                <a:srgbClr val="5E9200"/>
              </a:solidFill>
            </a:endParaRPr>
          </a:p>
        </p:txBody>
      </p:sp>
      <p:pic>
        <p:nvPicPr>
          <p:cNvPr id="3" name="图片 2" descr="2f0157c1-ac58-4ff4-8838-51814c5978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985" y="3335655"/>
            <a:ext cx="1273175" cy="1325880"/>
          </a:xfrm>
          <a:prstGeom prst="rect">
            <a:avLst/>
          </a:prstGeom>
        </p:spPr>
      </p:pic>
      <p:pic>
        <p:nvPicPr>
          <p:cNvPr id="17" name="图片 16" descr="77b56956-5f2e-441f-a9a0-6812060ad37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385" y="3395345"/>
            <a:ext cx="1273810" cy="125158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404610" y="4662805"/>
            <a:ext cx="669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llm-d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7936865" y="4662805"/>
            <a:ext cx="669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HAMi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1086</Words>
  <Application>WPS 演示</Application>
  <PresentationFormat>On-screen Show (16:9)</PresentationFormat>
  <Paragraphs>74</Paragraphs>
  <Slides>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Arial</vt:lpstr>
      <vt:lpstr>IBM Plex Sans</vt:lpstr>
      <vt:lpstr>Thonburi</vt:lpstr>
      <vt:lpstr>微软雅黑</vt:lpstr>
      <vt:lpstr>汉仪旗黑</vt:lpstr>
      <vt:lpstr>宋体</vt:lpstr>
      <vt:lpstr>Arial Unicode MS</vt:lpstr>
      <vt:lpstr>汉仪书宋二KW</vt:lpstr>
      <vt:lpstr>IBM Plex Sans</vt:lpstr>
      <vt:lpstr>苹方-简</vt:lpstr>
      <vt:lpstr>OSSNA24</vt:lpstr>
      <vt:lpstr>1_OSSNA24</vt:lpstr>
      <vt:lpstr>What is llm-d</vt:lpstr>
      <vt:lpstr>Why Alternative AI  Accelearators using llm-d</vt:lpstr>
      <vt:lpstr>vLLM PD Disaggreation Demo</vt:lpstr>
      <vt:lpstr>Optimize LLM-D inference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WPS_1687919646</cp:lastModifiedBy>
  <cp:revision>11</cp:revision>
  <dcterms:created xsi:type="dcterms:W3CDTF">2026-09-08T06:03:21Z</dcterms:created>
  <dcterms:modified xsi:type="dcterms:W3CDTF">2026-09-08T06:03:21Z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B60A03F5224CAD45285F956A8587C300_43</vt:lpwstr>
  </property>
</Properties>
</file>