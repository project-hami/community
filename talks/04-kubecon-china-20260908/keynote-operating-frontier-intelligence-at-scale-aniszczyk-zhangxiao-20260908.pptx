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B000"/>
    <a:srgbClr val="456F80"/>
    <a:srgbClr val="21494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qualitative sharing illustration. Unequal regions show different workload requests, not measured utilization, fixed partition sizes, live resizing guarantees or a universal concurrency limit. Sharing, isolation and scheduling capabilities vary by device. The 13 families are AMD, Huawei Ascend, AWS Neuron, Biren, Cambricon, Enflame, Hygon, Iluvatar, Kunlunxin, MetaX, Moore Threads, NVIDIA and Vastai, shown alphabetically by displayed name. Original brand artwork is preserved. The image of a GPU and the app queue remain native editable objects. Xiao Zhang is CEO and founder of Dynamia and a named HAMi maintainer. Dynamia invests in core development and offers HAMi-based enterprise products and technical support. The company is not the sole owner or sole maintainer of the CNCF project.</a:t>
            </a:r>
          </a:p>
          <a:p/>
          <a:p>
            <a:r>
              <a:t>Sources</a:t>
            </a:r>
          </a:p>
          <a:p>
            <a:r>
              <a:t>https://github.com/Project-HAMi/HAMi/blob/v2.10.0/pkg/scheduler/config/config.go</a:t>
            </a:r>
          </a:p>
          <a:p>
            <a:r>
              <a:t>https://project-hami.io/docs/userguide/device-supported</a:t>
            </a:r>
          </a:p>
          <a:p>
            <a:r>
              <a:t>https://project-hami.io/docs/userguide/nvidia-device/specify-device-memory-usage</a:t>
            </a:r>
          </a:p>
          <a:p>
            <a:r>
              <a:t>https://project-hami.io/docs/userguide/awsneuron-device/enable-awsneuron-managing</a:t>
            </a:r>
          </a:p>
          <a:p>
            <a:r>
              <a:t>https://project-hami.io/docs/userguide/biren-device/enable-biren-sharing</a:t>
            </a:r>
          </a:p>
          <a:p>
            <a:r>
              <a:t>https://dynamia.ai/company</a:t>
            </a:r>
          </a:p>
          <a:p>
            <a:r>
              <a:t>https://dynamia.ai/products</a:t>
            </a:r>
          </a:p>
          <a:p>
            <a:r>
              <a:t>https://github.com/Project-HAMi/HAMi/blob/master/MAINTAINERS.md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LFX all-time window from 2018-01-01 through 2026-09-05 inclusive, queried with endDate=2026-09-06 and includeCollaborations=true: 1,263 unique contributors and 216 organizations. Contributors include code and collaboration activity, not only commit authors; organizations are contributor affiliations, not customers. The geographic result has 29 known non-Unknown categories, conservatively shown as 20+ countries and regions. Do not substitute the different CNCF project-page aggregate. HAMi entered CNCF Incubating on 2026-07-02. KAI uses HAMi-core optionally; no NVIDIA-wide adoption is implied. Dynamia participates in core maintenance and ecosystem collaboration. Its public account of the CNCF/PyTorch delegation visits supports engagement with accelerator vendors. Integrations shown remain joint upstream ecosystem outcomes, not exclusively delivered by Dynamia.</a:t>
            </a:r>
          </a:p>
          <a:p/>
          <a:p>
            <a:r>
              <a:t>Sources</a:t>
            </a:r>
          </a:p>
          <a:p>
            <a:r>
              <a:t>https://www.cncf.io/projects/hami/</a:t>
            </a:r>
          </a:p>
          <a:p>
            <a:r>
              <a:t>https://github.com/kai-scheduler/KAI-Scheduler/blob/main/docs/gpu-sharing/hami/README.md</a:t>
            </a:r>
          </a:p>
          <a:p>
            <a:r>
              <a:t>https://volcano.sh/docs/userguide/user_guide_how_to_use_volcano_vgpu/</a:t>
            </a:r>
          </a:p>
          <a:p>
            <a:r>
              <a:t>https://koordinator.sh/docs/user-manuals/device-scheduling-gpu-share-with-hami</a:t>
            </a:r>
          </a:p>
          <a:p>
            <a:r>
              <a:t>https://kueue.sigs.k8s.io/docs/tasks/run/using_hami/</a:t>
            </a:r>
          </a:p>
          <a:p>
            <a:r>
              <a:t>https://docs.ucloud.cn/uk8s/mdToPdf/uk8s.pdf</a:t>
            </a:r>
          </a:p>
          <a:p>
            <a:r>
              <a:t>https://docs.alauda.io/hami/2.6/hami-en.pdf</a:t>
            </a:r>
          </a:p>
          <a:p>
            <a:r>
              <a:t>https://opencsg.com/docs/en/releasenote/csghub_v2026.03</a:t>
            </a:r>
          </a:p>
          <a:p>
            <a:r>
              <a:t>https://www.olares.com/changelog</a:t>
            </a:r>
          </a:p>
          <a:p>
            <a:r>
              <a:t>https://insights.linuxfoundation.org/api/widget/contributors/active-contributors?project=hami&amp;includeCollaborations=true&amp;startDate=2018-01-01&amp;endDate=2026-09-06&amp;granularity=yearly</a:t>
            </a:r>
          </a:p>
          <a:p>
            <a:r>
              <a:t>https://insights.linuxfoundation.org/api/widget/contributors/active-organizations?project=hami&amp;includeCollaborations=true&amp;startDate=2018-01-01&amp;endDate=2026-09-06&amp;granularity=yearly</a:t>
            </a:r>
          </a:p>
          <a:p>
            <a:r>
              <a:t>https://insights.linuxfoundation.org/api/widget/contributors/geographical-distribution?project=hami&amp;startDate=2018-01-01&amp;endDate=2026-09-06&amp;type=contributors</a:t>
            </a:r>
          </a:p>
          <a:p>
            <a:r>
              <a:t>https://dynamia.ai/blog/dynamia-cncf-pytorch-china-tour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Seven published CNCF case studies, not seven total users or seven paid Dynamia customers. China Merchants Bank: +46.7% is the reported single-card ResNet50 batch-32 aggregate inference throughput benchmark (64.6 to 94.8 images/s). The bank developed enhancements around its Kubernetes/HAMi platform. Its 100% hardware-pool utilization and hypothetical requirement for more than eight clusters are excluded. Ke Holdings: AIStudio utilization 13% to 37%. NIO: simulation GPU hours reduced by approximately 30%; inconsistent utilization multipliers are excluded. SF Technology: EffectiveGPU, built on HAMi, ran 65 production services on 28 GPUs. SNOW: twofold reduction in GPUs needed for train-to-inference pipelines, expressed as 50% fewer; broader KEDA/observability savings are excluded. DaoCloud: D.run and DCE GPU operating costs down 20-30%, not a guarantee. PREP: 90% of GPU infrastructure is managed by HAMi; this is coverage, not utilization. All are customer-reported platform results. The slide highlights CMB with NIO, SNOW and PREP EDU as supporting examples. The lower wall shows 20 selected entries from the official HAMi adopters list, excluding the four highlighted organizations. That list includes organizations evaluating HAMi or using it in production; it is not a list of paid Dynamia customers. KE Holdings, SF Technology and DaoCloud appear in the wall and account for the remaining three published CNCF cases.</a:t>
            </a:r>
          </a:p>
          <a:p/>
          <a:p>
            <a:r>
              <a:t>Sources</a:t>
            </a:r>
          </a:p>
          <a:p>
            <a:r>
              <a:t>https://www.cncf.io/case-studies/?_sft_lf-project=hami</a:t>
            </a:r>
          </a:p>
          <a:p>
            <a:r>
              <a:t>https://www.cncf.io/case-studies/china-merchants-bank/</a:t>
            </a:r>
          </a:p>
          <a:p>
            <a:r>
              <a:t>https://www.cncf.io/case-studies/ke-holdings-inc/</a:t>
            </a:r>
          </a:p>
          <a:p>
            <a:r>
              <a:t>https://www.cncf.io/case-studies/nio/</a:t>
            </a:r>
          </a:p>
          <a:p>
            <a:r>
              <a:t>https://www.cncf.io/case-studies/sf-technology/</a:t>
            </a:r>
          </a:p>
          <a:p>
            <a:r>
              <a:t>https://www.cncf.io/case-studies/snow-corp/</a:t>
            </a:r>
          </a:p>
          <a:p>
            <a:r>
              <a:t>https://www.cncf.io/case-studies/daocloud/</a:t>
            </a:r>
          </a:p>
          <a:p>
            <a:r>
              <a:t>https://www.cncf.io/case-studies/prep-edu/</a:t>
            </a:r>
          </a:p>
          <a:p>
            <a:r>
              <a:t>https://github.com/Project-HAMi/website/blob/master/src/data/adopters.json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llm-d MetaX proposal #2308 remained open and unmerged on 2026-09-06. Its Qwen3-14B, one-prefill/one-decode, TP=1 compatibility configuration is not production-scale validation. Lupine #523, #524, #525 and #526 were merged; commit authorship and co-authorship support the Dynamia contribution attribution even where another maintainer opened the PR. Lupine is an independent upstream project. No finished integration across HAMi, llm-d and Lupine is claimed. The slide explicitly identifies these items as Dynamia engineering contributions. The team affiliation is supported by commit authorship and the proposal maintainer details; project ownership is not implied. Bringing mature capabilities into enterprise production is the stated future intention, not a claim that all shown exploratory work is commercially deployed. The three subsequent Dynamia sessions were selected by case-insensitive Dynamia matches in speaker records embedded in the official event schedule. All occur on 8 September 2026, Shanghai time (UTC+8), after the current 09:12–09:22 keynote. Official full titles and start/end times are preserved. The original QR is identified on the HAMi community page as the WeChat assistant for joining community groups; it is not the public-account or event-registration QR.</a:t>
            </a:r>
          </a:p>
          <a:p/>
          <a:p>
            <a:r>
              <a:t>Upcoming sessions</a:t>
            </a:r>
          </a:p>
          <a:p>
            <a:r>
              <a:t>2026-09-08T09:59:00–10:04:00 (UTC+8) | PD Disaggregation vLLM Deployment on Alternative AI Accelerators Using llm-d | Grand Ballroom II + III</a:t>
            </a:r>
          </a:p>
          <a:p>
            <a:r>
              <a:t>2026-09-08T11:14:00–11:19:00 (UTC+8) | Project Lightning Talk: From Static Slices to Elastic GPUs: Dynamic MIG with HAMI | 5B + C</a:t>
            </a:r>
          </a:p>
          <a:p>
            <a:r>
              <a:t>2026-09-08T14:30:00–15:00:00 (UTC+8) | How Intsig Serves Billions of Document Scans: GPU Virtualization at Scale with HAMi | Grand Ballroom II + III</a:t>
            </a:r>
          </a:p>
          <a:p/>
          <a:p>
            <a:r>
              <a:t>Sources</a:t>
            </a:r>
          </a:p>
          <a:p>
            <a:r>
              <a:t>https://github.com/llm-d/llm-d/pull/2308</a:t>
            </a:r>
          </a:p>
          <a:p>
            <a:r>
              <a:t>https://github.com/lupinemachines/lupine/pull/523</a:t>
            </a:r>
          </a:p>
          <a:p>
            <a:r>
              <a:t>https://github.com/lupinemachines/lupine/pull/524</a:t>
            </a:r>
          </a:p>
          <a:p>
            <a:r>
              <a:t>https://github.com/lupinemachines/lupine/pull/525</a:t>
            </a:r>
          </a:p>
          <a:p>
            <a:r>
              <a:t>https://github.com/lupinemachines/lupine/pull/526</a:t>
            </a:r>
          </a:p>
          <a:p>
            <a:r>
              <a:t>https://llm-d.ai/docs/architecture</a:t>
            </a:r>
          </a:p>
          <a:p>
            <a:r>
              <a:t>https://www.lfopensource.cn/kubecon-cloudnativecon-openinfra-summit-pytorch-conference-china/program/schedule/</a:t>
            </a:r>
          </a:p>
          <a:p>
            <a:r>
              <a:t>https://www.lfopensource.cn/kubecon-cloudnativecon-openinfra-summit-pytorch-conference-china/program/schedule/?id=1313959</a:t>
            </a:r>
          </a:p>
          <a:p>
            <a:r>
              <a:t>https://www.lfopensource.cn/kubecon-cloudnativecon-openinfra-summit-pytorch-conference-china/program/schedule/?id=1215494</a:t>
            </a:r>
          </a:p>
          <a:p>
            <a:r>
              <a:t>https://www.lfopensource.cn/kubecon-cloudnativecon-openinfra-summit-pytorch-conference-china/program/schedule/?id=1221808</a:t>
            </a:r>
          </a:p>
          <a:p>
            <a:r>
              <a:t>https://project-hami.io/zh/community</a:t>
            </a:r>
          </a:p>
          <a:p>
            <a:r>
              <a:t>https://project-hami.io/zh/img/community/wechat-assistant-qr.jpg</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内容占位符 3"/>
          <p:cNvSpPr>
            <a:spLocks noGrp="1"/>
          </p:cNvSpPr>
          <p:nvPr>
            <p:ph idx="2"/>
          </p:nvPr>
        </p:nvSpPr>
        <p:spPr>
          <a:xfrm>
            <a:off x="6172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9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9" Type="http://schemas.openxmlformats.org/officeDocument/2006/relationships/notesSlide" Target="../notesSlides/notesSlide1.xml"/><Relationship Id="rId18" Type="http://schemas.openxmlformats.org/officeDocument/2006/relationships/slideLayout" Target="../slideLayouts/slideLayout7.xml"/><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25.png"/><Relationship Id="rId7" Type="http://schemas.openxmlformats.org/officeDocument/2006/relationships/image" Target="../media/image24.jpe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1" Type="http://schemas.openxmlformats.org/officeDocument/2006/relationships/notesSlide" Target="../notesSlides/notesSlide2.xml"/><Relationship Id="rId10" Type="http://schemas.openxmlformats.org/officeDocument/2006/relationships/slideLayout" Target="../slideLayouts/slideLayout7.xml"/><Relationship Id="rId1" Type="http://schemas.openxmlformats.org/officeDocument/2006/relationships/image" Target="../media/image18.png"/></Relationships>
</file>

<file path=ppt/slides/_rels/slide3.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6" Type="http://schemas.openxmlformats.org/officeDocument/2006/relationships/notesSlide" Target="../notesSlides/notesSlide3.xml"/><Relationship Id="rId25" Type="http://schemas.openxmlformats.org/officeDocument/2006/relationships/slideLayout" Target="../slideLayouts/slideLayout7.xml"/><Relationship Id="rId24" Type="http://schemas.openxmlformats.org/officeDocument/2006/relationships/image" Target="../media/image2.png"/><Relationship Id="rId23" Type="http://schemas.openxmlformats.org/officeDocument/2006/relationships/image" Target="../media/image48.png"/><Relationship Id="rId22" Type="http://schemas.openxmlformats.org/officeDocument/2006/relationships/image" Target="../media/image47.png"/><Relationship Id="rId21" Type="http://schemas.openxmlformats.org/officeDocument/2006/relationships/image" Target="../media/image46.png"/><Relationship Id="rId20" Type="http://schemas.openxmlformats.org/officeDocument/2006/relationships/image" Target="../media/image45.png"/><Relationship Id="rId2" Type="http://schemas.openxmlformats.org/officeDocument/2006/relationships/image" Target="../media/image27.png"/><Relationship Id="rId19" Type="http://schemas.openxmlformats.org/officeDocument/2006/relationships/image" Target="../media/image44.png"/><Relationship Id="rId18" Type="http://schemas.openxmlformats.org/officeDocument/2006/relationships/image" Target="../media/image43.png"/><Relationship Id="rId17" Type="http://schemas.openxmlformats.org/officeDocument/2006/relationships/image" Target="../media/image42.png"/><Relationship Id="rId16" Type="http://schemas.openxmlformats.org/officeDocument/2006/relationships/image" Target="../media/image41.png"/><Relationship Id="rId15" Type="http://schemas.openxmlformats.org/officeDocument/2006/relationships/image" Target="../media/image40.png"/><Relationship Id="rId14" Type="http://schemas.openxmlformats.org/officeDocument/2006/relationships/image" Target="../media/image39.png"/><Relationship Id="rId13" Type="http://schemas.openxmlformats.org/officeDocument/2006/relationships/image" Target="../media/image38.png"/><Relationship Id="rId12" Type="http://schemas.openxmlformats.org/officeDocument/2006/relationships/image" Target="../media/image37.png"/><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image" Target="../media/image26.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50.jpeg"/><Relationship Id="rId1"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730d9cf80657f54c124fefe4e4d753da"/>
          <p:cNvPicPr>
            <a:picLocks noChangeAspect="1"/>
          </p:cNvPicPr>
          <p:nvPr/>
        </p:nvPicPr>
        <p:blipFill>
          <a:blip r:embed="rId1"/>
          <a:stretch>
            <a:fillRect/>
          </a:stretch>
        </p:blipFill>
        <p:spPr>
          <a:xfrm>
            <a:off x="3992880" y="5384800"/>
            <a:ext cx="1388110" cy="619760"/>
          </a:xfrm>
          <a:prstGeom prst="rect">
            <a:avLst/>
          </a:prstGeom>
        </p:spPr>
      </p:pic>
      <p:sp>
        <p:nvSpPr>
          <p:cNvPr id="7" name="直线连接符 18"/>
          <p:cNvSpPr>
            <a:spLocks noGrp="1"/>
          </p:cNvSpPr>
          <p:nvPr/>
        </p:nvSpPr>
        <p:spPr>
          <a:xfrm>
            <a:off x="617855" y="880368"/>
            <a:ext cx="10984865" cy="0"/>
          </a:xfrm>
          <a:prstGeom prst="line">
            <a:avLst/>
          </a:prstGeom>
          <a:ln w="31750">
            <a:solidFill>
              <a:srgbClr val="12D05C"/>
            </a:solidFill>
          </a:ln>
        </p:spPr>
        <p:style>
          <a:lnRef idx="0">
            <a:srgbClr val="FFFFFF"/>
          </a:lnRef>
          <a:fillRef idx="0">
            <a:srgbClr val="FFFFFF"/>
          </a:fillRef>
          <a:effectRef idx="0">
            <a:srgbClr val="FFFFFF"/>
          </a:effectRef>
          <a:fontRef idx="minor">
            <a:schemeClr val="tx1"/>
          </a:fontRef>
        </p:style>
      </p:sp>
      <p:sp>
        <p:nvSpPr>
          <p:cNvPr id="8" name="title"/>
          <p:cNvSpPr>
            <a:spLocks noGrp="1"/>
          </p:cNvSpPr>
          <p:nvPr/>
        </p:nvSpPr>
        <p:spPr>
          <a:xfrm>
            <a:off x="503558" y="296542"/>
            <a:ext cx="8239125" cy="583568"/>
          </a:xfrm>
          <a:prstGeom prst="rect">
            <a:avLst/>
          </a:prstGeom>
          <a:noFill/>
          <a:ln w="0">
            <a:noFill/>
          </a:ln>
        </p:spPr>
        <p:txBody>
          <a:bodyPr wrap="none" lIns="91440" tIns="45720" rIns="91440" bIns="45720" anchor="ctr">
            <a:noAutofit/>
          </a:bodyPr>
          <a:lstStyle/>
          <a:p>
            <a:pPr algn="l">
              <a:buNone/>
              <a:defRPr sz="3200" b="0">
                <a:solidFill>
                  <a:srgbClr val="005476"/>
                </a:solidFill>
                <a:latin typeface="Arial" panose="020B0604020202090204"/>
                <a:ea typeface="Arial" panose="020B0604020202090204"/>
                <a:cs typeface="Arial" panose="020B0604020202090204"/>
              </a:defRPr>
            </a:pPr>
            <a:r>
              <a:rPr sz="3200" b="0">
                <a:solidFill>
                  <a:srgbClr val="005476"/>
                </a:solidFill>
                <a:latin typeface="Arial" panose="020B0604020202090204"/>
                <a:ea typeface="Arial" panose="020B0604020202090204"/>
                <a:cs typeface="Arial" panose="020B0604020202090204"/>
              </a:rPr>
              <a:t>GPU sharing with HAMi</a:t>
            </a:r>
            <a:endParaRPr sz="3200" b="0">
              <a:solidFill>
                <a:srgbClr val="000000"/>
              </a:solidFill>
              <a:latin typeface="Arial" panose="020B0604020202090204"/>
              <a:ea typeface="Arial" panose="020B0604020202090204"/>
              <a:cs typeface="Arial" panose="020B0604020202090204"/>
            </a:endParaRPr>
          </a:p>
        </p:txBody>
      </p:sp>
      <p:pic>
        <p:nvPicPr>
          <p:cNvPr id="338" name="图片 154"/>
          <p:cNvPicPr>
            <a:picLocks noChangeAspect="1"/>
          </p:cNvPicPr>
          <p:nvPr/>
        </p:nvPicPr>
        <p:blipFill>
          <a:blip r:embed="rId2"/>
          <a:stretch>
            <a:fillRect/>
          </a:stretch>
        </p:blipFill>
        <p:spPr>
          <a:xfrm>
            <a:off x="9277350" y="440690"/>
            <a:ext cx="2364740" cy="342900"/>
          </a:xfrm>
          <a:prstGeom prst="rect">
            <a:avLst/>
          </a:prstGeom>
        </p:spPr>
      </p:pic>
      <p:pic>
        <p:nvPicPr>
          <p:cNvPr id="339" name="图片 172"/>
          <p:cNvPicPr>
            <a:picLocks noChangeAspect="1"/>
          </p:cNvPicPr>
          <p:nvPr/>
        </p:nvPicPr>
        <p:blipFill>
          <a:blip r:embed="rId3"/>
          <a:stretch>
            <a:fillRect/>
          </a:stretch>
        </p:blipFill>
        <p:spPr>
          <a:xfrm>
            <a:off x="5643923" y="3287871"/>
            <a:ext cx="1348653" cy="500063"/>
          </a:xfrm>
          <a:prstGeom prst="rect">
            <a:avLst/>
          </a:prstGeom>
        </p:spPr>
      </p:pic>
      <p:grpSp>
        <p:nvGrpSpPr>
          <p:cNvPr id="442" name="Waiting app - image"/>
          <p:cNvGrpSpPr/>
          <p:nvPr/>
        </p:nvGrpSpPr>
        <p:grpSpPr>
          <a:xfrm>
            <a:off x="2886075" y="4509770"/>
            <a:ext cx="425450" cy="372745"/>
            <a:chOff x="619231" y="4407323"/>
            <a:chExt cx="628544" cy="550625"/>
          </a:xfrm>
        </p:grpSpPr>
        <p:sp>
          <p:nvSpPr>
            <p:cNvPr id="69" name="v25-queue-image-outline"/>
            <p:cNvSpPr/>
            <p:nvPr/>
          </p:nvSpPr>
          <p:spPr>
            <a:xfrm>
              <a:off x="619231" y="4500826"/>
              <a:ext cx="545430" cy="457122"/>
            </a:xfrm>
            <a:prstGeom prst="roundRect">
              <a:avLst>
                <a:gd name="adj" fmla="val 7955"/>
              </a:avLst>
            </a:prstGeom>
            <a:solidFill>
              <a:srgbClr val="FFFFFF"/>
            </a:solidFill>
            <a:ln w="16933">
              <a:solidFill>
                <a:srgbClr val="21494D"/>
              </a:solidFill>
            </a:ln>
          </p:spPr>
        </p:sp>
        <p:sp>
          <p:nvSpPr>
            <p:cNvPr id="70" name="v25-queue-image-mountains"/>
            <p:cNvSpPr/>
            <p:nvPr/>
          </p:nvSpPr>
          <p:spPr>
            <a:xfrm>
              <a:off x="624426" y="4698219"/>
              <a:ext cx="535041" cy="197394"/>
            </a:xfrm>
            <a:custGeom>
              <a:avLst/>
              <a:gdLst/>
              <a:ahLst/>
              <a:cxnLst/>
              <a:pathLst>
                <a:path w="963074" h="355309">
                  <a:moveTo>
                    <a:pt x="0" y="280507"/>
                  </a:moveTo>
                  <a:lnTo>
                    <a:pt x="280507" y="0"/>
                  </a:lnTo>
                  <a:lnTo>
                    <a:pt x="542313" y="252456"/>
                  </a:lnTo>
                  <a:lnTo>
                    <a:pt x="710617" y="102853"/>
                  </a:lnTo>
                  <a:lnTo>
                    <a:pt x="963074" y="355309"/>
                  </a:lnTo>
                </a:path>
              </a:pathLst>
            </a:custGeom>
            <a:noFill/>
            <a:ln w="16404">
              <a:solidFill>
                <a:srgbClr val="21494D"/>
              </a:solidFill>
            </a:ln>
          </p:spPr>
        </p:sp>
        <p:sp>
          <p:nvSpPr>
            <p:cNvPr id="71" name="v25-queue-image-sun"/>
            <p:cNvSpPr/>
            <p:nvPr/>
          </p:nvSpPr>
          <p:spPr>
            <a:xfrm>
              <a:off x="941295" y="4599522"/>
              <a:ext cx="103891" cy="103891"/>
            </a:xfrm>
            <a:prstGeom prst="ellipse">
              <a:avLst/>
            </a:prstGeom>
            <a:solidFill>
              <a:srgbClr val="FFFFFF"/>
            </a:solidFill>
            <a:ln w="15875">
              <a:solidFill>
                <a:srgbClr val="21494D"/>
              </a:solidFill>
            </a:ln>
          </p:spPr>
        </p:sp>
        <p:sp>
          <p:nvSpPr>
            <p:cNvPr id="72" name="v25-queue-image-spark"/>
            <p:cNvSpPr/>
            <p:nvPr/>
          </p:nvSpPr>
          <p:spPr>
            <a:xfrm>
              <a:off x="1050381" y="4407323"/>
              <a:ext cx="197394" cy="197394"/>
            </a:xfrm>
            <a:custGeom>
              <a:avLst/>
              <a:gdLst/>
              <a:ahLst/>
              <a:cxnLst/>
              <a:pathLst>
                <a:path w="355309" h="355309">
                  <a:moveTo>
                    <a:pt x="187005" y="0"/>
                  </a:moveTo>
                  <a:lnTo>
                    <a:pt x="233756" y="121553"/>
                  </a:lnTo>
                  <a:lnTo>
                    <a:pt x="355309" y="168304"/>
                  </a:lnTo>
                  <a:lnTo>
                    <a:pt x="233756" y="224406"/>
                  </a:lnTo>
                  <a:lnTo>
                    <a:pt x="187005" y="355309"/>
                  </a:lnTo>
                  <a:lnTo>
                    <a:pt x="130903" y="224406"/>
                  </a:lnTo>
                  <a:lnTo>
                    <a:pt x="0" y="168304"/>
                  </a:lnTo>
                  <a:lnTo>
                    <a:pt x="130903" y="112203"/>
                  </a:lnTo>
                  <a:close/>
                </a:path>
              </a:pathLst>
            </a:custGeom>
            <a:solidFill>
              <a:srgbClr val="FFFFFF"/>
            </a:solidFill>
            <a:ln w="15875">
              <a:solidFill>
                <a:srgbClr val="21494D"/>
              </a:solidFill>
            </a:ln>
          </p:spPr>
        </p:sp>
      </p:grpSp>
      <p:grpSp>
        <p:nvGrpSpPr>
          <p:cNvPr id="443" name="Waiting app - network"/>
          <p:cNvGrpSpPr/>
          <p:nvPr/>
        </p:nvGrpSpPr>
        <p:grpSpPr>
          <a:xfrm>
            <a:off x="2799080" y="3833495"/>
            <a:ext cx="492125" cy="464820"/>
            <a:chOff x="1026690" y="3581823"/>
            <a:chExt cx="571500" cy="539751"/>
          </a:xfrm>
        </p:grpSpPr>
        <p:sp>
          <p:nvSpPr>
            <p:cNvPr id="73" name="v25-queue-network-edges"/>
            <p:cNvSpPr/>
            <p:nvPr/>
          </p:nvSpPr>
          <p:spPr>
            <a:xfrm>
              <a:off x="1069023" y="3624157"/>
              <a:ext cx="486833" cy="455083"/>
            </a:xfrm>
            <a:custGeom>
              <a:avLst/>
              <a:gdLst/>
              <a:ahLst/>
              <a:cxnLst/>
              <a:pathLst>
                <a:path w="876300" h="819150">
                  <a:moveTo>
                    <a:pt x="314325" y="0"/>
                  </a:moveTo>
                  <a:lnTo>
                    <a:pt x="0" y="428625"/>
                  </a:lnTo>
                  <a:moveTo>
                    <a:pt x="314325" y="0"/>
                  </a:moveTo>
                  <a:lnTo>
                    <a:pt x="838200" y="161925"/>
                  </a:lnTo>
                  <a:moveTo>
                    <a:pt x="314325" y="0"/>
                  </a:moveTo>
                  <a:lnTo>
                    <a:pt x="428625" y="381000"/>
                  </a:lnTo>
                  <a:moveTo>
                    <a:pt x="0" y="428625"/>
                  </a:moveTo>
                  <a:lnTo>
                    <a:pt x="295275" y="819150"/>
                  </a:lnTo>
                  <a:moveTo>
                    <a:pt x="0" y="428625"/>
                  </a:moveTo>
                  <a:lnTo>
                    <a:pt x="428625" y="381000"/>
                  </a:lnTo>
                  <a:moveTo>
                    <a:pt x="0" y="428625"/>
                  </a:moveTo>
                  <a:lnTo>
                    <a:pt x="590550" y="552450"/>
                  </a:lnTo>
                  <a:moveTo>
                    <a:pt x="295275" y="819150"/>
                  </a:moveTo>
                  <a:lnTo>
                    <a:pt x="590550" y="552450"/>
                  </a:lnTo>
                  <a:moveTo>
                    <a:pt x="295275" y="819150"/>
                  </a:moveTo>
                  <a:lnTo>
                    <a:pt x="876300" y="647700"/>
                  </a:lnTo>
                  <a:moveTo>
                    <a:pt x="876300" y="647700"/>
                  </a:moveTo>
                  <a:lnTo>
                    <a:pt x="838200" y="161925"/>
                  </a:lnTo>
                  <a:moveTo>
                    <a:pt x="876300" y="647700"/>
                  </a:moveTo>
                  <a:lnTo>
                    <a:pt x="590550" y="552450"/>
                  </a:lnTo>
                  <a:moveTo>
                    <a:pt x="838200" y="161925"/>
                  </a:moveTo>
                  <a:lnTo>
                    <a:pt x="428625" y="381000"/>
                  </a:lnTo>
                  <a:moveTo>
                    <a:pt x="428625" y="381000"/>
                  </a:moveTo>
                  <a:lnTo>
                    <a:pt x="590550" y="552450"/>
                  </a:lnTo>
                </a:path>
              </a:pathLst>
            </a:custGeom>
            <a:noFill/>
            <a:ln w="13758">
              <a:solidFill>
                <a:srgbClr val="21494D"/>
              </a:solidFill>
            </a:ln>
          </p:spPr>
        </p:sp>
        <p:sp>
          <p:nvSpPr>
            <p:cNvPr id="74" name="v25-queue-network-node-0"/>
            <p:cNvSpPr/>
            <p:nvPr/>
          </p:nvSpPr>
          <p:spPr>
            <a:xfrm>
              <a:off x="1201315" y="3581823"/>
              <a:ext cx="84667" cy="84667"/>
            </a:xfrm>
            <a:prstGeom prst="ellipse">
              <a:avLst/>
            </a:prstGeom>
            <a:solidFill>
              <a:srgbClr val="FFFFFF"/>
            </a:solidFill>
            <a:ln w="15875">
              <a:solidFill>
                <a:srgbClr val="21494D"/>
              </a:solidFill>
            </a:ln>
          </p:spPr>
        </p:sp>
        <p:sp>
          <p:nvSpPr>
            <p:cNvPr id="75" name="v25-queue-network-node-1"/>
            <p:cNvSpPr/>
            <p:nvPr/>
          </p:nvSpPr>
          <p:spPr>
            <a:xfrm>
              <a:off x="1026690" y="3819948"/>
              <a:ext cx="84667" cy="84667"/>
            </a:xfrm>
            <a:prstGeom prst="ellipse">
              <a:avLst/>
            </a:prstGeom>
            <a:solidFill>
              <a:srgbClr val="FFFFFF"/>
            </a:solidFill>
            <a:ln w="15875">
              <a:solidFill>
                <a:srgbClr val="21494D"/>
              </a:solidFill>
            </a:ln>
          </p:spPr>
        </p:sp>
        <p:sp>
          <p:nvSpPr>
            <p:cNvPr id="76" name="v25-queue-network-node-2"/>
            <p:cNvSpPr/>
            <p:nvPr/>
          </p:nvSpPr>
          <p:spPr>
            <a:xfrm>
              <a:off x="1190731" y="4036907"/>
              <a:ext cx="84667" cy="84667"/>
            </a:xfrm>
            <a:prstGeom prst="ellipse">
              <a:avLst/>
            </a:prstGeom>
            <a:solidFill>
              <a:srgbClr val="FFFFFF"/>
            </a:solidFill>
            <a:ln w="15875">
              <a:solidFill>
                <a:srgbClr val="21494D"/>
              </a:solidFill>
            </a:ln>
          </p:spPr>
        </p:sp>
        <p:sp>
          <p:nvSpPr>
            <p:cNvPr id="77" name="v25-queue-network-node-3"/>
            <p:cNvSpPr/>
            <p:nvPr/>
          </p:nvSpPr>
          <p:spPr>
            <a:xfrm>
              <a:off x="1513523" y="3941657"/>
              <a:ext cx="84667" cy="84667"/>
            </a:xfrm>
            <a:prstGeom prst="ellipse">
              <a:avLst/>
            </a:prstGeom>
            <a:solidFill>
              <a:srgbClr val="FFFFFF"/>
            </a:solidFill>
            <a:ln w="15875">
              <a:solidFill>
                <a:srgbClr val="21494D"/>
              </a:solidFill>
            </a:ln>
          </p:spPr>
        </p:sp>
        <p:sp>
          <p:nvSpPr>
            <p:cNvPr id="78" name="v25-queue-network-node-4"/>
            <p:cNvSpPr/>
            <p:nvPr/>
          </p:nvSpPr>
          <p:spPr>
            <a:xfrm>
              <a:off x="1492356" y="3671782"/>
              <a:ext cx="84667" cy="84667"/>
            </a:xfrm>
            <a:prstGeom prst="ellipse">
              <a:avLst/>
            </a:prstGeom>
            <a:solidFill>
              <a:srgbClr val="FFFFFF"/>
            </a:solidFill>
            <a:ln w="15875">
              <a:solidFill>
                <a:srgbClr val="21494D"/>
              </a:solidFill>
            </a:ln>
          </p:spPr>
        </p:sp>
        <p:sp>
          <p:nvSpPr>
            <p:cNvPr id="79" name="v25-queue-network-node-5"/>
            <p:cNvSpPr/>
            <p:nvPr/>
          </p:nvSpPr>
          <p:spPr>
            <a:xfrm>
              <a:off x="1264814" y="3793490"/>
              <a:ext cx="84667" cy="84667"/>
            </a:xfrm>
            <a:prstGeom prst="ellipse">
              <a:avLst/>
            </a:prstGeom>
            <a:solidFill>
              <a:srgbClr val="FFFFFF"/>
            </a:solidFill>
            <a:ln w="15875">
              <a:solidFill>
                <a:srgbClr val="21494D"/>
              </a:solidFill>
            </a:ln>
          </p:spPr>
        </p:sp>
        <p:sp>
          <p:nvSpPr>
            <p:cNvPr id="80" name="v25-queue-network-node-6"/>
            <p:cNvSpPr/>
            <p:nvPr/>
          </p:nvSpPr>
          <p:spPr>
            <a:xfrm>
              <a:off x="1354773" y="3888740"/>
              <a:ext cx="84667" cy="84667"/>
            </a:xfrm>
            <a:prstGeom prst="ellipse">
              <a:avLst/>
            </a:prstGeom>
            <a:solidFill>
              <a:srgbClr val="FFFFFF"/>
            </a:solidFill>
            <a:ln w="15875">
              <a:solidFill>
                <a:srgbClr val="21494D"/>
              </a:solidFill>
            </a:ln>
          </p:spPr>
        </p:sp>
      </p:grpSp>
      <p:grpSp>
        <p:nvGrpSpPr>
          <p:cNvPr id="444" name="Waiting app - document"/>
          <p:cNvGrpSpPr/>
          <p:nvPr/>
        </p:nvGrpSpPr>
        <p:grpSpPr>
          <a:xfrm>
            <a:off x="2862580" y="3205480"/>
            <a:ext cx="382905" cy="427990"/>
            <a:chOff x="1508231" y="2904490"/>
            <a:chExt cx="444500" cy="497417"/>
          </a:xfrm>
        </p:grpSpPr>
        <p:sp>
          <p:nvSpPr>
            <p:cNvPr id="81" name="v25-queue-document-outline"/>
            <p:cNvSpPr/>
            <p:nvPr/>
          </p:nvSpPr>
          <p:spPr>
            <a:xfrm>
              <a:off x="1508231" y="2904490"/>
              <a:ext cx="444500" cy="497417"/>
            </a:xfrm>
            <a:prstGeom prst="roundRect">
              <a:avLst>
                <a:gd name="adj" fmla="val 9524"/>
              </a:avLst>
            </a:prstGeom>
            <a:solidFill>
              <a:srgbClr val="FFFFFF"/>
            </a:solidFill>
            <a:ln w="16933">
              <a:solidFill>
                <a:srgbClr val="21494D"/>
              </a:solidFill>
            </a:ln>
          </p:spPr>
        </p:sp>
        <p:sp>
          <p:nvSpPr>
            <p:cNvPr id="82" name="v25-queue-document-text-lines"/>
            <p:cNvSpPr/>
            <p:nvPr/>
          </p:nvSpPr>
          <p:spPr>
            <a:xfrm>
              <a:off x="1598190" y="3015615"/>
              <a:ext cx="243417" cy="264583"/>
            </a:xfrm>
            <a:custGeom>
              <a:avLst/>
              <a:gdLst/>
              <a:ahLst/>
              <a:cxnLst/>
              <a:pathLst>
                <a:path w="438150" h="476250">
                  <a:moveTo>
                    <a:pt x="0" y="0"/>
                  </a:moveTo>
                  <a:lnTo>
                    <a:pt x="238125" y="0"/>
                  </a:lnTo>
                  <a:moveTo>
                    <a:pt x="114300" y="133350"/>
                  </a:moveTo>
                  <a:lnTo>
                    <a:pt x="438150" y="133350"/>
                  </a:lnTo>
                  <a:moveTo>
                    <a:pt x="114300" y="247650"/>
                  </a:moveTo>
                  <a:lnTo>
                    <a:pt x="438150" y="247650"/>
                  </a:lnTo>
                  <a:moveTo>
                    <a:pt x="114300" y="361950"/>
                  </a:moveTo>
                  <a:lnTo>
                    <a:pt x="381000" y="361950"/>
                  </a:lnTo>
                  <a:moveTo>
                    <a:pt x="114300" y="476250"/>
                  </a:moveTo>
                  <a:lnTo>
                    <a:pt x="438150" y="476250"/>
                  </a:lnTo>
                </a:path>
              </a:pathLst>
            </a:custGeom>
            <a:noFill/>
            <a:ln w="15875">
              <a:solidFill>
                <a:srgbClr val="21494D"/>
              </a:solidFill>
            </a:ln>
          </p:spPr>
        </p:sp>
        <p:sp>
          <p:nvSpPr>
            <p:cNvPr id="83" name="v25-queue-document-bullets"/>
            <p:cNvSpPr/>
            <p:nvPr/>
          </p:nvSpPr>
          <p:spPr>
            <a:xfrm>
              <a:off x="1595015" y="3081232"/>
              <a:ext cx="16933" cy="207433"/>
            </a:xfrm>
            <a:custGeom>
              <a:avLst/>
              <a:gdLst/>
              <a:ahLst/>
              <a:cxnLst/>
              <a:pathLst>
                <a:path w="30480" h="373380">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3"/>
                    <a:pt x="30480" y="15240"/>
                  </a:cubicBezTo>
                  <a:close/>
                  <a:moveTo>
                    <a:pt x="30480" y="129540"/>
                  </a:moveTo>
                  <a:cubicBezTo>
                    <a:pt x="30480" y="137957"/>
                    <a:pt x="23657" y="144780"/>
                    <a:pt x="15240" y="144780"/>
                  </a:cubicBezTo>
                  <a:cubicBezTo>
                    <a:pt x="6823" y="144780"/>
                    <a:pt x="0" y="137957"/>
                    <a:pt x="0" y="129540"/>
                  </a:cubicBezTo>
                  <a:cubicBezTo>
                    <a:pt x="0" y="121123"/>
                    <a:pt x="6823" y="114300"/>
                    <a:pt x="15240" y="114300"/>
                  </a:cubicBezTo>
                  <a:cubicBezTo>
                    <a:pt x="23657" y="114300"/>
                    <a:pt x="30480" y="121123"/>
                    <a:pt x="30480" y="129540"/>
                  </a:cubicBezTo>
                  <a:close/>
                  <a:moveTo>
                    <a:pt x="30480" y="243840"/>
                  </a:moveTo>
                  <a:cubicBezTo>
                    <a:pt x="30480" y="252257"/>
                    <a:pt x="23657" y="259080"/>
                    <a:pt x="15240" y="259080"/>
                  </a:cubicBezTo>
                  <a:cubicBezTo>
                    <a:pt x="6823" y="259080"/>
                    <a:pt x="0" y="252257"/>
                    <a:pt x="0" y="243840"/>
                  </a:cubicBezTo>
                  <a:cubicBezTo>
                    <a:pt x="0" y="235423"/>
                    <a:pt x="6823" y="228600"/>
                    <a:pt x="15240" y="228600"/>
                  </a:cubicBezTo>
                  <a:cubicBezTo>
                    <a:pt x="23657" y="228600"/>
                    <a:pt x="30480" y="235423"/>
                    <a:pt x="30480" y="243840"/>
                  </a:cubicBezTo>
                  <a:close/>
                  <a:moveTo>
                    <a:pt x="30480" y="358140"/>
                  </a:moveTo>
                  <a:cubicBezTo>
                    <a:pt x="30480" y="366557"/>
                    <a:pt x="23657" y="373380"/>
                    <a:pt x="15240" y="373380"/>
                  </a:cubicBezTo>
                  <a:cubicBezTo>
                    <a:pt x="6823" y="373380"/>
                    <a:pt x="0" y="366557"/>
                    <a:pt x="0" y="358140"/>
                  </a:cubicBezTo>
                  <a:cubicBezTo>
                    <a:pt x="0" y="349723"/>
                    <a:pt x="6823" y="342900"/>
                    <a:pt x="15240" y="342900"/>
                  </a:cubicBezTo>
                  <a:cubicBezTo>
                    <a:pt x="23657" y="342900"/>
                    <a:pt x="30480" y="349723"/>
                    <a:pt x="30480" y="358140"/>
                  </a:cubicBezTo>
                  <a:close/>
                </a:path>
              </a:pathLst>
            </a:custGeom>
            <a:solidFill>
              <a:srgbClr val="21494D"/>
            </a:solidFill>
            <a:ln w="0">
              <a:noFill/>
            </a:ln>
          </p:spPr>
        </p:sp>
      </p:grpSp>
      <p:grpSp>
        <p:nvGrpSpPr>
          <p:cNvPr id="445" name="Waiting app - LLM"/>
          <p:cNvGrpSpPr/>
          <p:nvPr/>
        </p:nvGrpSpPr>
        <p:grpSpPr>
          <a:xfrm>
            <a:off x="2811780" y="2310765"/>
            <a:ext cx="492125" cy="638175"/>
            <a:chOff x="1979190" y="2142490"/>
            <a:chExt cx="571500" cy="740833"/>
          </a:xfrm>
        </p:grpSpPr>
        <p:sp>
          <p:nvSpPr>
            <p:cNvPr id="84" name="v25-queue-llm-ear-left"/>
            <p:cNvSpPr/>
            <p:nvPr/>
          </p:nvSpPr>
          <p:spPr>
            <a:xfrm>
              <a:off x="2010940" y="2391198"/>
              <a:ext cx="79375" cy="137583"/>
            </a:xfrm>
            <a:prstGeom prst="roundRect">
              <a:avLst>
                <a:gd name="adj" fmla="val 33333"/>
              </a:avLst>
            </a:prstGeom>
            <a:solidFill>
              <a:srgbClr val="FFFFFF"/>
            </a:solidFill>
            <a:ln w="15875">
              <a:solidFill>
                <a:srgbClr val="21494D"/>
              </a:solidFill>
            </a:ln>
          </p:spPr>
        </p:sp>
        <p:sp>
          <p:nvSpPr>
            <p:cNvPr id="85" name="v25-queue-llm-ear-right"/>
            <p:cNvSpPr/>
            <p:nvPr/>
          </p:nvSpPr>
          <p:spPr>
            <a:xfrm>
              <a:off x="2439565" y="2391198"/>
              <a:ext cx="79375" cy="137583"/>
            </a:xfrm>
            <a:prstGeom prst="roundRect">
              <a:avLst>
                <a:gd name="adj" fmla="val 33333"/>
              </a:avLst>
            </a:prstGeom>
            <a:solidFill>
              <a:srgbClr val="FFFFFF"/>
            </a:solidFill>
            <a:ln w="15875">
              <a:solidFill>
                <a:srgbClr val="21494D"/>
              </a:solidFill>
            </a:ln>
          </p:spPr>
        </p:sp>
        <p:sp>
          <p:nvSpPr>
            <p:cNvPr id="86" name="v25-queue-llm-antenna"/>
            <p:cNvSpPr/>
            <p:nvPr/>
          </p:nvSpPr>
          <p:spPr>
            <a:xfrm>
              <a:off x="2264940" y="2221865"/>
              <a:ext cx="0" cy="84667"/>
            </a:xfrm>
            <a:prstGeom prst="line">
              <a:avLst/>
            </a:prstGeom>
            <a:noFill/>
            <a:ln w="15875">
              <a:solidFill>
                <a:srgbClr val="21494D"/>
              </a:solidFill>
            </a:ln>
          </p:spPr>
        </p:sp>
        <p:sp>
          <p:nvSpPr>
            <p:cNvPr id="87" name="v25-queue-llm-antenna-tip"/>
            <p:cNvSpPr/>
            <p:nvPr/>
          </p:nvSpPr>
          <p:spPr>
            <a:xfrm>
              <a:off x="2222606" y="2142490"/>
              <a:ext cx="84667" cy="84667"/>
            </a:xfrm>
            <a:prstGeom prst="ellipse">
              <a:avLst/>
            </a:prstGeom>
            <a:solidFill>
              <a:srgbClr val="FFFFFF"/>
            </a:solidFill>
            <a:ln w="15875">
              <a:solidFill>
                <a:srgbClr val="21494D"/>
              </a:solidFill>
            </a:ln>
          </p:spPr>
        </p:sp>
        <p:sp>
          <p:nvSpPr>
            <p:cNvPr id="88" name="v25-queue-llm-head"/>
            <p:cNvSpPr/>
            <p:nvPr/>
          </p:nvSpPr>
          <p:spPr>
            <a:xfrm>
              <a:off x="2074440" y="2295948"/>
              <a:ext cx="381000" cy="333375"/>
            </a:xfrm>
            <a:prstGeom prst="roundRect">
              <a:avLst>
                <a:gd name="adj" fmla="val 23810"/>
              </a:avLst>
            </a:prstGeom>
            <a:solidFill>
              <a:srgbClr val="FFFFFF"/>
            </a:solidFill>
            <a:ln w="16933">
              <a:solidFill>
                <a:srgbClr val="21494D"/>
              </a:solidFill>
            </a:ln>
          </p:spPr>
        </p:sp>
        <p:sp>
          <p:nvSpPr>
            <p:cNvPr id="89" name="v25-queue-llm-eye-left"/>
            <p:cNvSpPr/>
            <p:nvPr/>
          </p:nvSpPr>
          <p:spPr>
            <a:xfrm>
              <a:off x="2148523" y="2412365"/>
              <a:ext cx="74083" cy="74083"/>
            </a:xfrm>
            <a:prstGeom prst="ellipse">
              <a:avLst/>
            </a:prstGeom>
            <a:solidFill>
              <a:srgbClr val="FFFFFF"/>
            </a:solidFill>
            <a:ln w="15875">
              <a:solidFill>
                <a:srgbClr val="21494D"/>
              </a:solidFill>
            </a:ln>
          </p:spPr>
        </p:sp>
        <p:sp>
          <p:nvSpPr>
            <p:cNvPr id="90" name="v25-queue-llm-eye-right"/>
            <p:cNvSpPr/>
            <p:nvPr/>
          </p:nvSpPr>
          <p:spPr>
            <a:xfrm>
              <a:off x="2307273" y="2412365"/>
              <a:ext cx="74083" cy="74083"/>
            </a:xfrm>
            <a:prstGeom prst="ellipse">
              <a:avLst/>
            </a:prstGeom>
            <a:solidFill>
              <a:srgbClr val="FFFFFF"/>
            </a:solidFill>
            <a:ln w="15875">
              <a:solidFill>
                <a:srgbClr val="21494D"/>
              </a:solidFill>
            </a:ln>
          </p:spPr>
        </p:sp>
        <p:sp>
          <p:nvSpPr>
            <p:cNvPr id="91" name="v25-queue-llm-label"/>
            <p:cNvSpPr/>
            <p:nvPr/>
          </p:nvSpPr>
          <p:spPr>
            <a:xfrm>
              <a:off x="1979190" y="2661073"/>
              <a:ext cx="571500" cy="222250"/>
            </a:xfrm>
            <a:prstGeom prst="rect">
              <a:avLst/>
            </a:prstGeom>
            <a:noFill/>
            <a:ln w="0">
              <a:noFill/>
            </a:ln>
          </p:spPr>
          <p:txBody>
            <a:bodyPr wrap="none" lIns="0" tIns="0" rIns="0" bIns="0" anchor="ctr">
              <a:noAutofit/>
            </a:bodyPr>
            <a:lstStyle/>
            <a:p>
              <a:pPr algn="ctr">
                <a:buNone/>
                <a:defRPr sz="1650" b="1">
                  <a:solidFill>
                    <a:srgbClr val="21494D"/>
                  </a:solidFill>
                  <a:latin typeface="Arial" panose="020B0604020202090204"/>
                  <a:ea typeface="Arial" panose="020B0604020202090204"/>
                  <a:cs typeface="Arial" panose="020B0604020202090204"/>
                </a:defRPr>
              </a:pPr>
              <a:r>
                <a:rPr sz="1650" b="1">
                  <a:solidFill>
                    <a:srgbClr val="21494D"/>
                  </a:solidFill>
                  <a:latin typeface="Arial" panose="020B0604020202090204"/>
                  <a:ea typeface="Arial" panose="020B0604020202090204"/>
                  <a:cs typeface="Arial" panose="020B0604020202090204"/>
                </a:rPr>
                <a:t>LLM</a:t>
              </a:r>
              <a:endParaRPr sz="1650" b="1">
                <a:solidFill>
                  <a:srgbClr val="21494D"/>
                </a:solidFill>
                <a:latin typeface="Arial" panose="020B0604020202090204"/>
                <a:ea typeface="Arial" panose="020B0604020202090204"/>
                <a:cs typeface="Arial" panose="020B0604020202090204"/>
              </a:endParaRPr>
            </a:p>
          </p:txBody>
        </p:sp>
      </p:grpSp>
      <p:grpSp>
        <p:nvGrpSpPr>
          <p:cNvPr id="447" name="GPU - exclusive allocation"/>
          <p:cNvGrpSpPr/>
          <p:nvPr/>
        </p:nvGrpSpPr>
        <p:grpSpPr>
          <a:xfrm>
            <a:off x="3865245" y="2016125"/>
            <a:ext cx="1502410" cy="3362960"/>
            <a:chOff x="2758652" y="1184698"/>
            <a:chExt cx="1793875" cy="4011083"/>
          </a:xfrm>
        </p:grpSpPr>
        <p:sp>
          <p:nvSpPr>
            <p:cNvPr id="94" name="v25-exclusive-gpu-connector-bracket"/>
            <p:cNvSpPr/>
            <p:nvPr/>
          </p:nvSpPr>
          <p:spPr>
            <a:xfrm>
              <a:off x="2758652" y="1570990"/>
              <a:ext cx="185208" cy="936625"/>
            </a:xfrm>
            <a:custGeom>
              <a:avLst/>
              <a:gdLst/>
              <a:ahLst/>
              <a:cxnLst/>
              <a:pathLst>
                <a:path w="333375" h="1685925">
                  <a:moveTo>
                    <a:pt x="333375" y="0"/>
                  </a:moveTo>
                  <a:lnTo>
                    <a:pt x="0" y="0"/>
                  </a:lnTo>
                  <a:lnTo>
                    <a:pt x="0" y="180975"/>
                  </a:lnTo>
                  <a:lnTo>
                    <a:pt x="209550" y="180975"/>
                  </a:lnTo>
                  <a:lnTo>
                    <a:pt x="209550" y="342900"/>
                  </a:lnTo>
                  <a:lnTo>
                    <a:pt x="104775" y="342900"/>
                  </a:lnTo>
                  <a:lnTo>
                    <a:pt x="104775" y="1685925"/>
                  </a:lnTo>
                  <a:lnTo>
                    <a:pt x="333375" y="1685925"/>
                  </a:lnTo>
                  <a:close/>
                </a:path>
              </a:pathLst>
            </a:custGeom>
            <a:solidFill>
              <a:srgbClr val="FFFFFF"/>
            </a:solidFill>
            <a:ln w="15875">
              <a:solidFill>
                <a:srgbClr val="21494D"/>
              </a:solidFill>
            </a:ln>
          </p:spPr>
        </p:sp>
        <p:sp>
          <p:nvSpPr>
            <p:cNvPr id="95" name="v25-exclusive-gpu-port-0"/>
            <p:cNvSpPr/>
            <p:nvPr/>
          </p:nvSpPr>
          <p:spPr>
            <a:xfrm>
              <a:off x="2832735" y="1824990"/>
              <a:ext cx="42333" cy="132292"/>
            </a:xfrm>
            <a:prstGeom prst="roundRect">
              <a:avLst>
                <a:gd name="adj" fmla="val 25000"/>
              </a:avLst>
            </a:prstGeom>
            <a:solidFill>
              <a:srgbClr val="76B800"/>
            </a:solidFill>
            <a:ln w="8996">
              <a:solidFill>
                <a:srgbClr val="21494D"/>
              </a:solidFill>
            </a:ln>
          </p:spPr>
        </p:sp>
        <p:sp>
          <p:nvSpPr>
            <p:cNvPr id="96" name="v25-exclusive-gpu-port-1"/>
            <p:cNvSpPr/>
            <p:nvPr/>
          </p:nvSpPr>
          <p:spPr>
            <a:xfrm>
              <a:off x="2832735" y="1983740"/>
              <a:ext cx="42333" cy="132292"/>
            </a:xfrm>
            <a:prstGeom prst="roundRect">
              <a:avLst>
                <a:gd name="adj" fmla="val 25000"/>
              </a:avLst>
            </a:prstGeom>
            <a:solidFill>
              <a:srgbClr val="76B800"/>
            </a:solidFill>
            <a:ln w="8996">
              <a:solidFill>
                <a:srgbClr val="21494D"/>
              </a:solidFill>
            </a:ln>
          </p:spPr>
        </p:sp>
        <p:sp>
          <p:nvSpPr>
            <p:cNvPr id="97" name="v25-exclusive-gpu-port-2"/>
            <p:cNvSpPr/>
            <p:nvPr/>
          </p:nvSpPr>
          <p:spPr>
            <a:xfrm>
              <a:off x="2832735" y="2142490"/>
              <a:ext cx="42333" cy="132292"/>
            </a:xfrm>
            <a:prstGeom prst="roundRect">
              <a:avLst>
                <a:gd name="adj" fmla="val 25000"/>
              </a:avLst>
            </a:prstGeom>
            <a:solidFill>
              <a:srgbClr val="76B800"/>
            </a:solidFill>
            <a:ln w="8996">
              <a:solidFill>
                <a:srgbClr val="21494D"/>
              </a:solidFill>
            </a:ln>
          </p:spPr>
        </p:sp>
        <p:sp>
          <p:nvSpPr>
            <p:cNvPr id="98" name="v25-exclusive-gpu-port-3"/>
            <p:cNvSpPr/>
            <p:nvPr/>
          </p:nvSpPr>
          <p:spPr>
            <a:xfrm>
              <a:off x="2832735" y="2301240"/>
              <a:ext cx="42333" cy="132292"/>
            </a:xfrm>
            <a:prstGeom prst="roundRect">
              <a:avLst>
                <a:gd name="adj" fmla="val 25000"/>
              </a:avLst>
            </a:prstGeom>
            <a:solidFill>
              <a:srgbClr val="76B800"/>
            </a:solidFill>
            <a:ln w="8996">
              <a:solidFill>
                <a:srgbClr val="21494D"/>
              </a:solidFill>
            </a:ln>
          </p:spPr>
        </p:sp>
        <p:sp>
          <p:nvSpPr>
            <p:cNvPr id="99" name="v25-exclusive-gpu-case"/>
            <p:cNvSpPr/>
            <p:nvPr/>
          </p:nvSpPr>
          <p:spPr>
            <a:xfrm>
              <a:off x="2912110" y="1184698"/>
              <a:ext cx="1640417" cy="4011083"/>
            </a:xfrm>
            <a:custGeom>
              <a:avLst/>
              <a:gdLst/>
              <a:ahLst/>
              <a:cxnLst/>
              <a:pathLst>
                <a:path w="2952750" h="7219950">
                  <a:moveTo>
                    <a:pt x="400050" y="0"/>
                  </a:moveTo>
                  <a:lnTo>
                    <a:pt x="2562225" y="0"/>
                  </a:lnTo>
                  <a:cubicBezTo>
                    <a:pt x="2790825" y="0"/>
                    <a:pt x="2952750" y="171450"/>
                    <a:pt x="2952750" y="409575"/>
                  </a:cubicBezTo>
                  <a:lnTo>
                    <a:pt x="2952750" y="2752725"/>
                  </a:lnTo>
                  <a:cubicBezTo>
                    <a:pt x="2838450" y="2876550"/>
                    <a:pt x="2790825" y="3105150"/>
                    <a:pt x="2790825" y="3305175"/>
                  </a:cubicBezTo>
                  <a:lnTo>
                    <a:pt x="2790825" y="4867275"/>
                  </a:lnTo>
                  <a:cubicBezTo>
                    <a:pt x="2790825" y="5057775"/>
                    <a:pt x="2838450" y="5219700"/>
                    <a:pt x="2952750" y="5381625"/>
                  </a:cubicBezTo>
                  <a:lnTo>
                    <a:pt x="2952750" y="6848475"/>
                  </a:lnTo>
                  <a:cubicBezTo>
                    <a:pt x="2952750" y="7058025"/>
                    <a:pt x="2790825" y="7219950"/>
                    <a:pt x="2571750" y="7219950"/>
                  </a:cubicBezTo>
                  <a:lnTo>
                    <a:pt x="333375" y="7219950"/>
                  </a:lnTo>
                  <a:cubicBezTo>
                    <a:pt x="133350" y="7219950"/>
                    <a:pt x="0" y="7067550"/>
                    <a:pt x="0" y="6858000"/>
                  </a:cubicBezTo>
                  <a:lnTo>
                    <a:pt x="0" y="5372100"/>
                  </a:lnTo>
                  <a:cubicBezTo>
                    <a:pt x="114300" y="5238750"/>
                    <a:pt x="171450" y="5076825"/>
                    <a:pt x="171450" y="4867275"/>
                  </a:cubicBezTo>
                  <a:lnTo>
                    <a:pt x="171450" y="3305175"/>
                  </a:lnTo>
                  <a:cubicBezTo>
                    <a:pt x="171450" y="3105150"/>
                    <a:pt x="114300" y="2895600"/>
                    <a:pt x="0" y="2762250"/>
                  </a:cubicBezTo>
                  <a:lnTo>
                    <a:pt x="0" y="409575"/>
                  </a:lnTo>
                  <a:cubicBezTo>
                    <a:pt x="0" y="180975"/>
                    <a:pt x="161925" y="0"/>
                    <a:pt x="400050" y="0"/>
                  </a:cubicBezTo>
                  <a:close/>
                </a:path>
              </a:pathLst>
            </a:custGeom>
            <a:solidFill>
              <a:srgbClr val="FFFFFF"/>
            </a:solidFill>
            <a:ln w="16933">
              <a:solidFill>
                <a:srgbClr val="21494D"/>
              </a:solidFill>
            </a:ln>
          </p:spPr>
        </p:sp>
        <p:sp>
          <p:nvSpPr>
            <p:cNvPr id="100" name="v25-exclusive-gpu-fan-rim"/>
            <p:cNvSpPr/>
            <p:nvPr/>
          </p:nvSpPr>
          <p:spPr>
            <a:xfrm>
              <a:off x="3340735" y="1428115"/>
              <a:ext cx="783167" cy="783167"/>
            </a:xfrm>
            <a:prstGeom prst="ellipse">
              <a:avLst/>
            </a:prstGeom>
            <a:solidFill>
              <a:srgbClr val="FFFFFF"/>
            </a:solidFill>
            <a:ln w="15875">
              <a:solidFill>
                <a:srgbClr val="21494D"/>
              </a:solidFill>
            </a:ln>
          </p:spPr>
        </p:sp>
        <p:sp>
          <p:nvSpPr>
            <p:cNvPr id="101" name="v25-exclusive-gpu-fan-blades"/>
            <p:cNvSpPr/>
            <p:nvPr/>
          </p:nvSpPr>
          <p:spPr>
            <a:xfrm>
              <a:off x="3397400" y="1465157"/>
              <a:ext cx="669837" cy="709083"/>
            </a:xfrm>
            <a:custGeom>
              <a:avLst/>
              <a:gdLst/>
              <a:ahLst/>
              <a:cxnLst/>
              <a:pathLst>
                <a:path w="1205706" h="1276350">
                  <a:moveTo>
                    <a:pt x="526653" y="400050"/>
                  </a:moveTo>
                  <a:cubicBezTo>
                    <a:pt x="469503" y="285750"/>
                    <a:pt x="393303" y="171450"/>
                    <a:pt x="412353" y="104775"/>
                  </a:cubicBezTo>
                  <a:cubicBezTo>
                    <a:pt x="469503" y="19050"/>
                    <a:pt x="698103" y="0"/>
                    <a:pt x="774303" y="76200"/>
                  </a:cubicBezTo>
                  <a:cubicBezTo>
                    <a:pt x="774303" y="142875"/>
                    <a:pt x="698103" y="304800"/>
                    <a:pt x="679053" y="400050"/>
                  </a:cubicBezTo>
                  <a:close/>
                  <a:moveTo>
                    <a:pt x="770975" y="453121"/>
                  </a:moveTo>
                  <a:cubicBezTo>
                    <a:pt x="841387" y="346478"/>
                    <a:pt x="902274" y="223337"/>
                    <a:pt x="969541" y="206497"/>
                  </a:cubicBezTo>
                  <a:cubicBezTo>
                    <a:pt x="1072356" y="213128"/>
                    <a:pt x="1203154" y="401576"/>
                    <a:pt x="1175263" y="505668"/>
                  </a:cubicBezTo>
                  <a:cubicBezTo>
                    <a:pt x="1117520" y="539005"/>
                    <a:pt x="939189" y="553976"/>
                    <a:pt x="847175" y="585104"/>
                  </a:cubicBezTo>
                  <a:close/>
                  <a:moveTo>
                    <a:pt x="847175" y="691246"/>
                  </a:moveTo>
                  <a:cubicBezTo>
                    <a:pt x="974737" y="698903"/>
                    <a:pt x="1111824" y="690062"/>
                    <a:pt x="1160041" y="739897"/>
                  </a:cubicBezTo>
                  <a:cubicBezTo>
                    <a:pt x="1205706" y="832253"/>
                    <a:pt x="1107904" y="1039751"/>
                    <a:pt x="1003813" y="1067643"/>
                  </a:cubicBezTo>
                  <a:cubicBezTo>
                    <a:pt x="946070" y="1034305"/>
                    <a:pt x="843939" y="887351"/>
                    <a:pt x="770975" y="823229"/>
                  </a:cubicBezTo>
                  <a:close/>
                  <a:moveTo>
                    <a:pt x="679053" y="876300"/>
                  </a:moveTo>
                  <a:cubicBezTo>
                    <a:pt x="736203" y="990600"/>
                    <a:pt x="812403" y="1104900"/>
                    <a:pt x="793353" y="1171575"/>
                  </a:cubicBezTo>
                  <a:cubicBezTo>
                    <a:pt x="736203" y="1257300"/>
                    <a:pt x="507603" y="1276350"/>
                    <a:pt x="431403" y="1200150"/>
                  </a:cubicBezTo>
                  <a:cubicBezTo>
                    <a:pt x="431403" y="1133475"/>
                    <a:pt x="507603" y="971550"/>
                    <a:pt x="526653" y="876300"/>
                  </a:cubicBezTo>
                  <a:close/>
                  <a:moveTo>
                    <a:pt x="434731" y="823229"/>
                  </a:moveTo>
                  <a:cubicBezTo>
                    <a:pt x="364319" y="929872"/>
                    <a:pt x="303432" y="1053013"/>
                    <a:pt x="236165" y="1069853"/>
                  </a:cubicBezTo>
                  <a:cubicBezTo>
                    <a:pt x="133350" y="1063222"/>
                    <a:pt x="2552" y="874774"/>
                    <a:pt x="30443" y="770682"/>
                  </a:cubicBezTo>
                  <a:cubicBezTo>
                    <a:pt x="88186" y="737345"/>
                    <a:pt x="266517" y="722374"/>
                    <a:pt x="358531" y="691246"/>
                  </a:cubicBezTo>
                  <a:close/>
                  <a:moveTo>
                    <a:pt x="358531" y="585104"/>
                  </a:moveTo>
                  <a:cubicBezTo>
                    <a:pt x="230969" y="577447"/>
                    <a:pt x="93882" y="586288"/>
                    <a:pt x="45665" y="536453"/>
                  </a:cubicBezTo>
                  <a:cubicBezTo>
                    <a:pt x="0" y="444097"/>
                    <a:pt x="97802" y="236599"/>
                    <a:pt x="201893" y="208707"/>
                  </a:cubicBezTo>
                  <a:cubicBezTo>
                    <a:pt x="259636" y="242045"/>
                    <a:pt x="361767" y="388999"/>
                    <a:pt x="434731" y="453121"/>
                  </a:cubicBezTo>
                  <a:close/>
                </a:path>
              </a:pathLst>
            </a:custGeom>
            <a:solidFill>
              <a:srgbClr val="76B800"/>
            </a:solidFill>
            <a:ln w="15875">
              <a:solidFill>
                <a:srgbClr val="21494D"/>
              </a:solidFill>
            </a:ln>
          </p:spPr>
        </p:sp>
        <p:sp>
          <p:nvSpPr>
            <p:cNvPr id="102" name="v25-exclusive-gpu-fan-hub"/>
            <p:cNvSpPr/>
            <p:nvPr/>
          </p:nvSpPr>
          <p:spPr>
            <a:xfrm>
              <a:off x="3600027" y="1687407"/>
              <a:ext cx="264583" cy="264583"/>
            </a:xfrm>
            <a:prstGeom prst="ellipse">
              <a:avLst/>
            </a:prstGeom>
            <a:solidFill>
              <a:srgbClr val="FFFFFF"/>
            </a:solidFill>
            <a:ln w="15875">
              <a:solidFill>
                <a:srgbClr val="21494D"/>
              </a:solidFill>
            </a:ln>
          </p:spPr>
          <p:txBody>
            <a:bodyPr/>
            <a:lstStyle/>
            <a:p/>
          </p:txBody>
        </p:sp>
        <p:sp>
          <p:nvSpPr>
            <p:cNvPr id="103" name="v25-exclusive-idle-capacity"/>
            <p:cNvSpPr/>
            <p:nvPr/>
          </p:nvSpPr>
          <p:spPr>
            <a:xfrm>
              <a:off x="3065568" y="2322407"/>
              <a:ext cx="1328208" cy="2756958"/>
            </a:xfrm>
            <a:custGeom>
              <a:avLst/>
              <a:gdLst/>
              <a:ahLst/>
              <a:cxnLst/>
              <a:pathLst>
                <a:path w="2390775" h="4962525">
                  <a:moveTo>
                    <a:pt x="209550" y="38100"/>
                  </a:moveTo>
                  <a:cubicBezTo>
                    <a:pt x="581025" y="9525"/>
                    <a:pt x="923925" y="314325"/>
                    <a:pt x="1533525" y="133350"/>
                  </a:cubicBezTo>
                  <a:cubicBezTo>
                    <a:pt x="1905000" y="9525"/>
                    <a:pt x="2314575" y="0"/>
                    <a:pt x="2390775" y="304800"/>
                  </a:cubicBezTo>
                  <a:lnTo>
                    <a:pt x="2390775" y="4629150"/>
                  </a:lnTo>
                  <a:cubicBezTo>
                    <a:pt x="2390775" y="4857750"/>
                    <a:pt x="2295525" y="4962525"/>
                    <a:pt x="2076450" y="4962525"/>
                  </a:cubicBezTo>
                  <a:lnTo>
                    <a:pt x="285750" y="4962525"/>
                  </a:lnTo>
                  <a:cubicBezTo>
                    <a:pt x="85725" y="4962525"/>
                    <a:pt x="0" y="4848225"/>
                    <a:pt x="0" y="4638675"/>
                  </a:cubicBezTo>
                  <a:lnTo>
                    <a:pt x="0" y="333375"/>
                  </a:lnTo>
                  <a:cubicBezTo>
                    <a:pt x="0" y="161925"/>
                    <a:pt x="66675" y="57150"/>
                    <a:pt x="209550" y="38100"/>
                  </a:cubicBezTo>
                  <a:close/>
                </a:path>
              </a:pathLst>
            </a:custGeom>
            <a:solidFill>
              <a:srgbClr val="F8F9F7"/>
            </a:solidFill>
            <a:ln w="8996">
              <a:solidFill>
                <a:srgbClr val="CCD5D3"/>
              </a:solidFill>
            </a:ln>
          </p:spPr>
        </p:sp>
        <p:sp>
          <p:nvSpPr>
            <p:cNvPr id="104" name="v25-exclusive-chat-allocation"/>
            <p:cNvSpPr/>
            <p:nvPr/>
          </p:nvSpPr>
          <p:spPr>
            <a:xfrm>
              <a:off x="3144943" y="4312073"/>
              <a:ext cx="1185333" cy="698500"/>
            </a:xfrm>
            <a:prstGeom prst="roundRect">
              <a:avLst>
                <a:gd name="adj" fmla="val 16667"/>
              </a:avLst>
            </a:prstGeom>
            <a:solidFill>
              <a:srgbClr val="F1F8E3"/>
            </a:solidFill>
            <a:ln w="8996">
              <a:solidFill>
                <a:srgbClr val="66B000"/>
              </a:solidFill>
            </a:ln>
          </p:spPr>
        </p:sp>
        <p:sp>
          <p:nvSpPr>
            <p:cNvPr id="105" name="v25-exclusive-chat-status"/>
            <p:cNvSpPr/>
            <p:nvPr/>
          </p:nvSpPr>
          <p:spPr>
            <a:xfrm>
              <a:off x="3213735" y="4386157"/>
              <a:ext cx="105833" cy="105833"/>
            </a:xfrm>
            <a:prstGeom prst="ellipse">
              <a:avLst/>
            </a:prstGeom>
            <a:solidFill>
              <a:srgbClr val="66B000"/>
            </a:solidFill>
            <a:ln w="0">
              <a:noFill/>
            </a:ln>
          </p:spPr>
        </p:sp>
        <p:sp>
          <p:nvSpPr>
            <p:cNvPr id="106" name="v25-exclusive-chat-bubble"/>
            <p:cNvSpPr/>
            <p:nvPr/>
          </p:nvSpPr>
          <p:spPr>
            <a:xfrm>
              <a:off x="3467735" y="4465532"/>
              <a:ext cx="508000" cy="383822"/>
            </a:xfrm>
            <a:custGeom>
              <a:avLst/>
              <a:gdLst/>
              <a:ahLst/>
              <a:cxnLst/>
              <a:pathLst>
                <a:path w="914400" h="690880">
                  <a:moveTo>
                    <a:pt x="457200" y="0"/>
                  </a:moveTo>
                  <a:cubicBezTo>
                    <a:pt x="711200" y="0"/>
                    <a:pt x="914400" y="132080"/>
                    <a:pt x="914400" y="314960"/>
                  </a:cubicBezTo>
                  <a:cubicBezTo>
                    <a:pt x="914400" y="497840"/>
                    <a:pt x="711200" y="619760"/>
                    <a:pt x="467360" y="619760"/>
                  </a:cubicBezTo>
                  <a:cubicBezTo>
                    <a:pt x="406400" y="619760"/>
                    <a:pt x="345440" y="609600"/>
                    <a:pt x="294640" y="599440"/>
                  </a:cubicBezTo>
                  <a:lnTo>
                    <a:pt x="111760" y="690880"/>
                  </a:lnTo>
                  <a:lnTo>
                    <a:pt x="162560" y="528320"/>
                  </a:lnTo>
                  <a:cubicBezTo>
                    <a:pt x="60960" y="467360"/>
                    <a:pt x="0" y="396240"/>
                    <a:pt x="0" y="304800"/>
                  </a:cubicBezTo>
                  <a:cubicBezTo>
                    <a:pt x="0" y="132080"/>
                    <a:pt x="203200" y="0"/>
                    <a:pt x="457200" y="0"/>
                  </a:cubicBezTo>
                  <a:close/>
                </a:path>
              </a:pathLst>
            </a:custGeom>
            <a:noFill/>
            <a:ln w="21167">
              <a:solidFill>
                <a:srgbClr val="66B000"/>
              </a:solidFill>
            </a:ln>
          </p:spPr>
        </p:sp>
        <p:sp>
          <p:nvSpPr>
            <p:cNvPr id="107" name="v25-exclusive-chat-dots"/>
            <p:cNvSpPr/>
            <p:nvPr/>
          </p:nvSpPr>
          <p:spPr>
            <a:xfrm>
              <a:off x="3610539" y="4608336"/>
              <a:ext cx="222391" cy="41769"/>
            </a:xfrm>
            <a:custGeom>
              <a:avLst/>
              <a:gdLst/>
              <a:ahLst/>
              <a:cxnLst/>
              <a:pathLst>
                <a:path w="400304" h="75184">
                  <a:moveTo>
                    <a:pt x="75184" y="37592"/>
                  </a:moveTo>
                  <a:cubicBezTo>
                    <a:pt x="75184" y="58353"/>
                    <a:pt x="58353" y="75184"/>
                    <a:pt x="37592" y="75184"/>
                  </a:cubicBezTo>
                  <a:cubicBezTo>
                    <a:pt x="16831" y="75184"/>
                    <a:pt x="0" y="58353"/>
                    <a:pt x="0" y="37592"/>
                  </a:cubicBezTo>
                  <a:cubicBezTo>
                    <a:pt x="0" y="16831"/>
                    <a:pt x="16831" y="0"/>
                    <a:pt x="37592" y="0"/>
                  </a:cubicBezTo>
                  <a:cubicBezTo>
                    <a:pt x="58353" y="0"/>
                    <a:pt x="75184" y="16831"/>
                    <a:pt x="75184" y="37592"/>
                  </a:cubicBezTo>
                  <a:close/>
                  <a:moveTo>
                    <a:pt x="237744" y="37592"/>
                  </a:moveTo>
                  <a:cubicBezTo>
                    <a:pt x="237744" y="58353"/>
                    <a:pt x="220913" y="75184"/>
                    <a:pt x="200152" y="75184"/>
                  </a:cubicBezTo>
                  <a:cubicBezTo>
                    <a:pt x="179391" y="75184"/>
                    <a:pt x="162560" y="58353"/>
                    <a:pt x="162560" y="37592"/>
                  </a:cubicBezTo>
                  <a:cubicBezTo>
                    <a:pt x="162560" y="16831"/>
                    <a:pt x="179391" y="0"/>
                    <a:pt x="200152" y="0"/>
                  </a:cubicBezTo>
                  <a:cubicBezTo>
                    <a:pt x="220913" y="0"/>
                    <a:pt x="237744" y="16831"/>
                    <a:pt x="237744" y="37592"/>
                  </a:cubicBezTo>
                  <a:close/>
                  <a:moveTo>
                    <a:pt x="400304" y="37592"/>
                  </a:moveTo>
                  <a:cubicBezTo>
                    <a:pt x="400304" y="58353"/>
                    <a:pt x="383473" y="75184"/>
                    <a:pt x="362712" y="75184"/>
                  </a:cubicBezTo>
                  <a:cubicBezTo>
                    <a:pt x="341951" y="75184"/>
                    <a:pt x="325120" y="58353"/>
                    <a:pt x="325120" y="37592"/>
                  </a:cubicBezTo>
                  <a:cubicBezTo>
                    <a:pt x="325120" y="16831"/>
                    <a:pt x="341951" y="0"/>
                    <a:pt x="362712" y="0"/>
                  </a:cubicBezTo>
                  <a:cubicBezTo>
                    <a:pt x="383473" y="0"/>
                    <a:pt x="400304" y="16831"/>
                    <a:pt x="400304" y="37592"/>
                  </a:cubicBezTo>
                  <a:close/>
                </a:path>
              </a:pathLst>
            </a:custGeom>
            <a:solidFill>
              <a:srgbClr val="66B000"/>
            </a:solidFill>
            <a:ln w="0">
              <a:noFill/>
            </a:ln>
          </p:spPr>
          <p:txBody>
            <a:bodyPr/>
            <a:lstStyle/>
            <a:p/>
          </p:txBody>
        </p:sp>
      </p:grpSp>
      <p:grpSp>
        <p:nvGrpSpPr>
          <p:cNvPr id="448" name="HAMi sharing arrow"/>
          <p:cNvGrpSpPr/>
          <p:nvPr/>
        </p:nvGrpSpPr>
        <p:grpSpPr>
          <a:xfrm>
            <a:off x="5643880" y="4789170"/>
            <a:ext cx="1527175" cy="338455"/>
            <a:chOff x="4700693" y="3105573"/>
            <a:chExt cx="1291167" cy="338667"/>
          </a:xfrm>
        </p:grpSpPr>
        <p:sp>
          <p:nvSpPr>
            <p:cNvPr id="108" name="v25-hami-sharing-arrow"/>
            <p:cNvSpPr/>
            <p:nvPr/>
          </p:nvSpPr>
          <p:spPr>
            <a:xfrm>
              <a:off x="4700693" y="3105573"/>
              <a:ext cx="1291167" cy="338667"/>
            </a:xfrm>
            <a:prstGeom prst="rightArrow">
              <a:avLst>
                <a:gd name="adj1" fmla="val 40000"/>
                <a:gd name="adj2" fmla="val 45000"/>
              </a:avLst>
            </a:prstGeom>
            <a:solidFill>
              <a:srgbClr val="66B000"/>
            </a:solidFill>
            <a:ln w="0">
              <a:noFill/>
            </a:ln>
          </p:spPr>
        </p:sp>
      </p:grpSp>
      <p:grpSp>
        <p:nvGrpSpPr>
          <p:cNvPr id="449" name="GPU - shared allocation"/>
          <p:cNvGrpSpPr/>
          <p:nvPr/>
        </p:nvGrpSpPr>
        <p:grpSpPr>
          <a:xfrm>
            <a:off x="7289165" y="1985010"/>
            <a:ext cx="1519555" cy="3399790"/>
            <a:chOff x="6177068" y="1184698"/>
            <a:chExt cx="1793876" cy="4011083"/>
          </a:xfrm>
        </p:grpSpPr>
        <p:sp>
          <p:nvSpPr>
            <p:cNvPr id="109" name="v25-shared-gpu-connector-bracket"/>
            <p:cNvSpPr/>
            <p:nvPr/>
          </p:nvSpPr>
          <p:spPr>
            <a:xfrm>
              <a:off x="6177068" y="1570990"/>
              <a:ext cx="185208" cy="936625"/>
            </a:xfrm>
            <a:custGeom>
              <a:avLst/>
              <a:gdLst/>
              <a:ahLst/>
              <a:cxnLst/>
              <a:pathLst>
                <a:path w="333375" h="1685925">
                  <a:moveTo>
                    <a:pt x="333375" y="0"/>
                  </a:moveTo>
                  <a:lnTo>
                    <a:pt x="0" y="0"/>
                  </a:lnTo>
                  <a:lnTo>
                    <a:pt x="0" y="180975"/>
                  </a:lnTo>
                  <a:lnTo>
                    <a:pt x="209550" y="180975"/>
                  </a:lnTo>
                  <a:lnTo>
                    <a:pt x="209550" y="342900"/>
                  </a:lnTo>
                  <a:lnTo>
                    <a:pt x="104775" y="342900"/>
                  </a:lnTo>
                  <a:lnTo>
                    <a:pt x="104775" y="1685925"/>
                  </a:lnTo>
                  <a:lnTo>
                    <a:pt x="333375" y="1685925"/>
                  </a:lnTo>
                  <a:close/>
                </a:path>
              </a:pathLst>
            </a:custGeom>
            <a:solidFill>
              <a:srgbClr val="FFFFFF"/>
            </a:solidFill>
            <a:ln w="15875">
              <a:solidFill>
                <a:srgbClr val="21494D"/>
              </a:solidFill>
            </a:ln>
          </p:spPr>
        </p:sp>
        <p:sp>
          <p:nvSpPr>
            <p:cNvPr id="110" name="v25-shared-gpu-port-0"/>
            <p:cNvSpPr/>
            <p:nvPr/>
          </p:nvSpPr>
          <p:spPr>
            <a:xfrm>
              <a:off x="6251152" y="1824990"/>
              <a:ext cx="42333" cy="132292"/>
            </a:xfrm>
            <a:prstGeom prst="roundRect">
              <a:avLst>
                <a:gd name="adj" fmla="val 25000"/>
              </a:avLst>
            </a:prstGeom>
            <a:solidFill>
              <a:srgbClr val="76B800"/>
            </a:solidFill>
            <a:ln w="8996">
              <a:solidFill>
                <a:srgbClr val="21494D"/>
              </a:solidFill>
            </a:ln>
          </p:spPr>
        </p:sp>
        <p:sp>
          <p:nvSpPr>
            <p:cNvPr id="111" name="v25-shared-gpu-port-1"/>
            <p:cNvSpPr/>
            <p:nvPr/>
          </p:nvSpPr>
          <p:spPr>
            <a:xfrm>
              <a:off x="6251152" y="1983740"/>
              <a:ext cx="42333" cy="132292"/>
            </a:xfrm>
            <a:prstGeom prst="roundRect">
              <a:avLst>
                <a:gd name="adj" fmla="val 25000"/>
              </a:avLst>
            </a:prstGeom>
            <a:solidFill>
              <a:srgbClr val="76B800"/>
            </a:solidFill>
            <a:ln w="8996">
              <a:solidFill>
                <a:srgbClr val="21494D"/>
              </a:solidFill>
            </a:ln>
          </p:spPr>
        </p:sp>
        <p:sp>
          <p:nvSpPr>
            <p:cNvPr id="112" name="v25-shared-gpu-port-2"/>
            <p:cNvSpPr/>
            <p:nvPr/>
          </p:nvSpPr>
          <p:spPr>
            <a:xfrm>
              <a:off x="6251152" y="2142490"/>
              <a:ext cx="42333" cy="132292"/>
            </a:xfrm>
            <a:prstGeom prst="roundRect">
              <a:avLst>
                <a:gd name="adj" fmla="val 25000"/>
              </a:avLst>
            </a:prstGeom>
            <a:solidFill>
              <a:srgbClr val="76B800"/>
            </a:solidFill>
            <a:ln w="8996">
              <a:solidFill>
                <a:srgbClr val="21494D"/>
              </a:solidFill>
            </a:ln>
          </p:spPr>
        </p:sp>
        <p:sp>
          <p:nvSpPr>
            <p:cNvPr id="113" name="v25-shared-gpu-port-3"/>
            <p:cNvSpPr/>
            <p:nvPr/>
          </p:nvSpPr>
          <p:spPr>
            <a:xfrm>
              <a:off x="6251152" y="2301240"/>
              <a:ext cx="42333" cy="132292"/>
            </a:xfrm>
            <a:prstGeom prst="roundRect">
              <a:avLst>
                <a:gd name="adj" fmla="val 25000"/>
              </a:avLst>
            </a:prstGeom>
            <a:solidFill>
              <a:srgbClr val="76B800"/>
            </a:solidFill>
            <a:ln w="8996">
              <a:solidFill>
                <a:srgbClr val="21494D"/>
              </a:solidFill>
            </a:ln>
          </p:spPr>
        </p:sp>
        <p:sp>
          <p:nvSpPr>
            <p:cNvPr id="114" name="v25-shared-gpu-case"/>
            <p:cNvSpPr/>
            <p:nvPr/>
          </p:nvSpPr>
          <p:spPr>
            <a:xfrm>
              <a:off x="6330527" y="1184698"/>
              <a:ext cx="1640417" cy="4011083"/>
            </a:xfrm>
            <a:custGeom>
              <a:avLst/>
              <a:gdLst/>
              <a:ahLst/>
              <a:cxnLst/>
              <a:pathLst>
                <a:path w="2952750" h="7219950">
                  <a:moveTo>
                    <a:pt x="400050" y="0"/>
                  </a:moveTo>
                  <a:lnTo>
                    <a:pt x="2562225" y="0"/>
                  </a:lnTo>
                  <a:cubicBezTo>
                    <a:pt x="2790825" y="0"/>
                    <a:pt x="2952750" y="171450"/>
                    <a:pt x="2952750" y="409575"/>
                  </a:cubicBezTo>
                  <a:lnTo>
                    <a:pt x="2952750" y="2752725"/>
                  </a:lnTo>
                  <a:cubicBezTo>
                    <a:pt x="2838450" y="2876550"/>
                    <a:pt x="2790825" y="3105150"/>
                    <a:pt x="2790825" y="3305175"/>
                  </a:cubicBezTo>
                  <a:lnTo>
                    <a:pt x="2790825" y="4867275"/>
                  </a:lnTo>
                  <a:cubicBezTo>
                    <a:pt x="2790825" y="5057775"/>
                    <a:pt x="2838450" y="5219700"/>
                    <a:pt x="2952750" y="5381625"/>
                  </a:cubicBezTo>
                  <a:lnTo>
                    <a:pt x="2952750" y="6848475"/>
                  </a:lnTo>
                  <a:cubicBezTo>
                    <a:pt x="2952750" y="7058025"/>
                    <a:pt x="2790825" y="7219950"/>
                    <a:pt x="2571750" y="7219950"/>
                  </a:cubicBezTo>
                  <a:lnTo>
                    <a:pt x="333375" y="7219950"/>
                  </a:lnTo>
                  <a:cubicBezTo>
                    <a:pt x="133350" y="7219950"/>
                    <a:pt x="0" y="7067550"/>
                    <a:pt x="0" y="6858000"/>
                  </a:cubicBezTo>
                  <a:lnTo>
                    <a:pt x="0" y="5372100"/>
                  </a:lnTo>
                  <a:cubicBezTo>
                    <a:pt x="114300" y="5238750"/>
                    <a:pt x="171450" y="5076825"/>
                    <a:pt x="171450" y="4867275"/>
                  </a:cubicBezTo>
                  <a:lnTo>
                    <a:pt x="171450" y="3305175"/>
                  </a:lnTo>
                  <a:cubicBezTo>
                    <a:pt x="171450" y="3105150"/>
                    <a:pt x="114300" y="2895600"/>
                    <a:pt x="0" y="2762250"/>
                  </a:cubicBezTo>
                  <a:lnTo>
                    <a:pt x="0" y="409575"/>
                  </a:lnTo>
                  <a:cubicBezTo>
                    <a:pt x="0" y="180975"/>
                    <a:pt x="161925" y="0"/>
                    <a:pt x="400050" y="0"/>
                  </a:cubicBezTo>
                  <a:close/>
                </a:path>
              </a:pathLst>
            </a:custGeom>
            <a:solidFill>
              <a:srgbClr val="FFFFFF"/>
            </a:solidFill>
            <a:ln w="16933">
              <a:solidFill>
                <a:srgbClr val="21494D"/>
              </a:solidFill>
            </a:ln>
          </p:spPr>
        </p:sp>
        <p:sp>
          <p:nvSpPr>
            <p:cNvPr id="115" name="v25-shared-gpu-fan-rim"/>
            <p:cNvSpPr/>
            <p:nvPr/>
          </p:nvSpPr>
          <p:spPr>
            <a:xfrm>
              <a:off x="6759152" y="1428115"/>
              <a:ext cx="783167" cy="783167"/>
            </a:xfrm>
            <a:prstGeom prst="ellipse">
              <a:avLst/>
            </a:prstGeom>
            <a:solidFill>
              <a:srgbClr val="FFFFFF"/>
            </a:solidFill>
            <a:ln w="15875">
              <a:solidFill>
                <a:srgbClr val="21494D"/>
              </a:solidFill>
            </a:ln>
          </p:spPr>
        </p:sp>
        <p:sp>
          <p:nvSpPr>
            <p:cNvPr id="116" name="v25-shared-gpu-fan-blades"/>
            <p:cNvSpPr/>
            <p:nvPr/>
          </p:nvSpPr>
          <p:spPr>
            <a:xfrm>
              <a:off x="6815817" y="1465157"/>
              <a:ext cx="669837" cy="709083"/>
            </a:xfrm>
            <a:custGeom>
              <a:avLst/>
              <a:gdLst/>
              <a:ahLst/>
              <a:cxnLst/>
              <a:pathLst>
                <a:path w="1205706" h="1276350">
                  <a:moveTo>
                    <a:pt x="526653" y="400050"/>
                  </a:moveTo>
                  <a:cubicBezTo>
                    <a:pt x="469503" y="285750"/>
                    <a:pt x="393303" y="171450"/>
                    <a:pt x="412353" y="104775"/>
                  </a:cubicBezTo>
                  <a:cubicBezTo>
                    <a:pt x="469503" y="19050"/>
                    <a:pt x="698103" y="0"/>
                    <a:pt x="774303" y="76200"/>
                  </a:cubicBezTo>
                  <a:cubicBezTo>
                    <a:pt x="774303" y="142875"/>
                    <a:pt x="698103" y="304800"/>
                    <a:pt x="679053" y="400050"/>
                  </a:cubicBezTo>
                  <a:close/>
                  <a:moveTo>
                    <a:pt x="770975" y="453121"/>
                  </a:moveTo>
                  <a:cubicBezTo>
                    <a:pt x="841387" y="346478"/>
                    <a:pt x="902274" y="223337"/>
                    <a:pt x="969541" y="206497"/>
                  </a:cubicBezTo>
                  <a:cubicBezTo>
                    <a:pt x="1072356" y="213128"/>
                    <a:pt x="1203154" y="401576"/>
                    <a:pt x="1175263" y="505668"/>
                  </a:cubicBezTo>
                  <a:cubicBezTo>
                    <a:pt x="1117520" y="539005"/>
                    <a:pt x="939189" y="553976"/>
                    <a:pt x="847175" y="585104"/>
                  </a:cubicBezTo>
                  <a:close/>
                  <a:moveTo>
                    <a:pt x="847175" y="691246"/>
                  </a:moveTo>
                  <a:cubicBezTo>
                    <a:pt x="974737" y="698903"/>
                    <a:pt x="1111824" y="690062"/>
                    <a:pt x="1160041" y="739897"/>
                  </a:cubicBezTo>
                  <a:cubicBezTo>
                    <a:pt x="1205706" y="832253"/>
                    <a:pt x="1107904" y="1039751"/>
                    <a:pt x="1003813" y="1067643"/>
                  </a:cubicBezTo>
                  <a:cubicBezTo>
                    <a:pt x="946070" y="1034305"/>
                    <a:pt x="843939" y="887351"/>
                    <a:pt x="770975" y="823229"/>
                  </a:cubicBezTo>
                  <a:close/>
                  <a:moveTo>
                    <a:pt x="679053" y="876300"/>
                  </a:moveTo>
                  <a:cubicBezTo>
                    <a:pt x="736203" y="990600"/>
                    <a:pt x="812403" y="1104900"/>
                    <a:pt x="793353" y="1171575"/>
                  </a:cubicBezTo>
                  <a:cubicBezTo>
                    <a:pt x="736203" y="1257300"/>
                    <a:pt x="507603" y="1276350"/>
                    <a:pt x="431403" y="1200150"/>
                  </a:cubicBezTo>
                  <a:cubicBezTo>
                    <a:pt x="431403" y="1133475"/>
                    <a:pt x="507603" y="971550"/>
                    <a:pt x="526653" y="876300"/>
                  </a:cubicBezTo>
                  <a:close/>
                  <a:moveTo>
                    <a:pt x="434731" y="823229"/>
                  </a:moveTo>
                  <a:cubicBezTo>
                    <a:pt x="364319" y="929872"/>
                    <a:pt x="303432" y="1053013"/>
                    <a:pt x="236165" y="1069853"/>
                  </a:cubicBezTo>
                  <a:cubicBezTo>
                    <a:pt x="133350" y="1063222"/>
                    <a:pt x="2552" y="874774"/>
                    <a:pt x="30443" y="770682"/>
                  </a:cubicBezTo>
                  <a:cubicBezTo>
                    <a:pt x="88186" y="737345"/>
                    <a:pt x="266517" y="722374"/>
                    <a:pt x="358531" y="691246"/>
                  </a:cubicBezTo>
                  <a:close/>
                  <a:moveTo>
                    <a:pt x="358531" y="585104"/>
                  </a:moveTo>
                  <a:cubicBezTo>
                    <a:pt x="230969" y="577447"/>
                    <a:pt x="93882" y="586288"/>
                    <a:pt x="45665" y="536453"/>
                  </a:cubicBezTo>
                  <a:cubicBezTo>
                    <a:pt x="0" y="444097"/>
                    <a:pt x="97802" y="236599"/>
                    <a:pt x="201893" y="208707"/>
                  </a:cubicBezTo>
                  <a:cubicBezTo>
                    <a:pt x="259636" y="242045"/>
                    <a:pt x="361767" y="388999"/>
                    <a:pt x="434731" y="453121"/>
                  </a:cubicBezTo>
                  <a:close/>
                </a:path>
              </a:pathLst>
            </a:custGeom>
            <a:solidFill>
              <a:srgbClr val="76B800"/>
            </a:solidFill>
            <a:ln w="15875">
              <a:solidFill>
                <a:srgbClr val="21494D"/>
              </a:solidFill>
            </a:ln>
          </p:spPr>
        </p:sp>
        <p:sp>
          <p:nvSpPr>
            <p:cNvPr id="117" name="v25-shared-gpu-fan-hub"/>
            <p:cNvSpPr/>
            <p:nvPr/>
          </p:nvSpPr>
          <p:spPr>
            <a:xfrm>
              <a:off x="7018443" y="1687407"/>
              <a:ext cx="264583" cy="264583"/>
            </a:xfrm>
            <a:prstGeom prst="ellipse">
              <a:avLst/>
            </a:prstGeom>
            <a:solidFill>
              <a:srgbClr val="FFFFFF"/>
            </a:solidFill>
            <a:ln w="15875">
              <a:solidFill>
                <a:srgbClr val="21494D"/>
              </a:solidFill>
            </a:ln>
          </p:spPr>
        </p:sp>
        <p:sp>
          <p:nvSpPr>
            <p:cNvPr id="118" name="v25-shared-chat-allocation"/>
            <p:cNvSpPr/>
            <p:nvPr/>
          </p:nvSpPr>
          <p:spPr>
            <a:xfrm>
              <a:off x="6468110" y="2237740"/>
              <a:ext cx="1338792" cy="931333"/>
            </a:xfrm>
            <a:custGeom>
              <a:avLst/>
              <a:gdLst/>
              <a:ahLst/>
              <a:cxnLst/>
              <a:pathLst>
                <a:path w="2409825" h="1676400">
                  <a:moveTo>
                    <a:pt x="171450" y="57150"/>
                  </a:moveTo>
                  <a:cubicBezTo>
                    <a:pt x="361950" y="0"/>
                    <a:pt x="638175" y="180975"/>
                    <a:pt x="962025" y="219075"/>
                  </a:cubicBezTo>
                  <a:cubicBezTo>
                    <a:pt x="1276350" y="257175"/>
                    <a:pt x="1838325" y="238125"/>
                    <a:pt x="2124075" y="285750"/>
                  </a:cubicBezTo>
                  <a:cubicBezTo>
                    <a:pt x="2343150" y="314325"/>
                    <a:pt x="2400300" y="457200"/>
                    <a:pt x="2400300" y="676275"/>
                  </a:cubicBezTo>
                  <a:lnTo>
                    <a:pt x="2400300" y="1143000"/>
                  </a:lnTo>
                  <a:cubicBezTo>
                    <a:pt x="2409825" y="1362075"/>
                    <a:pt x="2219325" y="1428750"/>
                    <a:pt x="1885950" y="1485900"/>
                  </a:cubicBezTo>
                  <a:lnTo>
                    <a:pt x="1209675" y="1638300"/>
                  </a:lnTo>
                  <a:cubicBezTo>
                    <a:pt x="1047750" y="1676400"/>
                    <a:pt x="914400" y="1552575"/>
                    <a:pt x="771525" y="1524000"/>
                  </a:cubicBezTo>
                  <a:lnTo>
                    <a:pt x="257175" y="1476375"/>
                  </a:lnTo>
                  <a:cubicBezTo>
                    <a:pt x="76200" y="1476375"/>
                    <a:pt x="28575" y="1343025"/>
                    <a:pt x="28575" y="1162050"/>
                  </a:cubicBezTo>
                  <a:lnTo>
                    <a:pt x="19050" y="419100"/>
                  </a:lnTo>
                  <a:cubicBezTo>
                    <a:pt x="0" y="219075"/>
                    <a:pt x="28575" y="104775"/>
                    <a:pt x="171450" y="57150"/>
                  </a:cubicBezTo>
                  <a:close/>
                </a:path>
              </a:pathLst>
            </a:custGeom>
            <a:solidFill>
              <a:srgbClr val="F1F8E3"/>
            </a:solidFill>
            <a:ln w="8996">
              <a:solidFill>
                <a:srgbClr val="66B000"/>
              </a:solidFill>
            </a:ln>
          </p:spPr>
        </p:sp>
        <p:sp>
          <p:nvSpPr>
            <p:cNvPr id="119" name="v25-shared-document-allocation"/>
            <p:cNvSpPr/>
            <p:nvPr/>
          </p:nvSpPr>
          <p:spPr>
            <a:xfrm>
              <a:off x="6510443" y="3121448"/>
              <a:ext cx="629708" cy="1026583"/>
            </a:xfrm>
            <a:custGeom>
              <a:avLst/>
              <a:gdLst/>
              <a:ahLst/>
              <a:cxnLst/>
              <a:pathLst>
                <a:path w="1133475" h="1847850">
                  <a:moveTo>
                    <a:pt x="180975" y="0"/>
                  </a:moveTo>
                  <a:cubicBezTo>
                    <a:pt x="457200" y="0"/>
                    <a:pt x="809625" y="85725"/>
                    <a:pt x="971550" y="219075"/>
                  </a:cubicBezTo>
                  <a:cubicBezTo>
                    <a:pt x="1123950" y="361950"/>
                    <a:pt x="1133475" y="828675"/>
                    <a:pt x="1123950" y="1095375"/>
                  </a:cubicBezTo>
                  <a:cubicBezTo>
                    <a:pt x="1114425" y="1343025"/>
                    <a:pt x="1009650" y="1476375"/>
                    <a:pt x="790575" y="1581150"/>
                  </a:cubicBezTo>
                  <a:lnTo>
                    <a:pt x="257175" y="1762125"/>
                  </a:lnTo>
                  <a:cubicBezTo>
                    <a:pt x="28575" y="1847850"/>
                    <a:pt x="0" y="1657350"/>
                    <a:pt x="0" y="1485900"/>
                  </a:cubicBezTo>
                  <a:lnTo>
                    <a:pt x="0" y="314325"/>
                  </a:lnTo>
                  <a:cubicBezTo>
                    <a:pt x="0" y="104775"/>
                    <a:pt x="47625" y="19050"/>
                    <a:pt x="180975" y="0"/>
                  </a:cubicBezTo>
                  <a:close/>
                </a:path>
              </a:pathLst>
            </a:custGeom>
            <a:solidFill>
              <a:srgbClr val="EAFBF9"/>
            </a:solidFill>
            <a:ln w="8996">
              <a:solidFill>
                <a:srgbClr val="06AAA6"/>
              </a:solidFill>
            </a:ln>
          </p:spPr>
        </p:sp>
        <p:sp>
          <p:nvSpPr>
            <p:cNvPr id="120" name="v25-shared-network-allocation"/>
            <p:cNvSpPr/>
            <p:nvPr/>
          </p:nvSpPr>
          <p:spPr>
            <a:xfrm>
              <a:off x="7177193" y="3079115"/>
              <a:ext cx="629708" cy="1084792"/>
            </a:xfrm>
            <a:custGeom>
              <a:avLst/>
              <a:gdLst/>
              <a:ahLst/>
              <a:cxnLst/>
              <a:pathLst>
                <a:path w="1133475" h="1952625">
                  <a:moveTo>
                    <a:pt x="152400" y="304800"/>
                  </a:moveTo>
                  <a:cubicBezTo>
                    <a:pt x="285750" y="200025"/>
                    <a:pt x="647700" y="142875"/>
                    <a:pt x="895350" y="57150"/>
                  </a:cubicBezTo>
                  <a:cubicBezTo>
                    <a:pt x="1066800" y="0"/>
                    <a:pt x="1123950" y="123825"/>
                    <a:pt x="1123950" y="295275"/>
                  </a:cubicBezTo>
                  <a:lnTo>
                    <a:pt x="1123950" y="1609725"/>
                  </a:lnTo>
                  <a:cubicBezTo>
                    <a:pt x="1133475" y="1809750"/>
                    <a:pt x="1123950" y="1952625"/>
                    <a:pt x="942975" y="1895475"/>
                  </a:cubicBezTo>
                  <a:lnTo>
                    <a:pt x="361950" y="1695450"/>
                  </a:lnTo>
                  <a:cubicBezTo>
                    <a:pt x="123825" y="1600200"/>
                    <a:pt x="0" y="1457325"/>
                    <a:pt x="0" y="1219200"/>
                  </a:cubicBezTo>
                  <a:lnTo>
                    <a:pt x="0" y="600075"/>
                  </a:lnTo>
                  <a:cubicBezTo>
                    <a:pt x="0" y="466725"/>
                    <a:pt x="47625" y="381000"/>
                    <a:pt x="152400" y="304800"/>
                  </a:cubicBezTo>
                  <a:close/>
                </a:path>
              </a:pathLst>
            </a:custGeom>
            <a:solidFill>
              <a:srgbClr val="EDF4FE"/>
            </a:solidFill>
            <a:ln w="8996">
              <a:solidFill>
                <a:srgbClr val="378BDB"/>
              </a:solidFill>
            </a:ln>
          </p:spPr>
        </p:sp>
        <p:sp>
          <p:nvSpPr>
            <p:cNvPr id="121" name="v25-shared-image-allocation"/>
            <p:cNvSpPr/>
            <p:nvPr/>
          </p:nvSpPr>
          <p:spPr>
            <a:xfrm>
              <a:off x="6409902" y="4126865"/>
              <a:ext cx="730250" cy="968375"/>
            </a:xfrm>
            <a:custGeom>
              <a:avLst/>
              <a:gdLst/>
              <a:ahLst/>
              <a:cxnLst/>
              <a:pathLst>
                <a:path w="1314450" h="1743075">
                  <a:moveTo>
                    <a:pt x="257175" y="152400"/>
                  </a:moveTo>
                  <a:cubicBezTo>
                    <a:pt x="514350" y="123825"/>
                    <a:pt x="857250" y="19050"/>
                    <a:pt x="1104900" y="9525"/>
                  </a:cubicBezTo>
                  <a:cubicBezTo>
                    <a:pt x="1266825" y="0"/>
                    <a:pt x="1304925" y="114300"/>
                    <a:pt x="1314450" y="285750"/>
                  </a:cubicBezTo>
                  <a:lnTo>
                    <a:pt x="1314450" y="1524000"/>
                  </a:lnTo>
                  <a:cubicBezTo>
                    <a:pt x="1314450" y="1704975"/>
                    <a:pt x="1219200" y="1743075"/>
                    <a:pt x="1047750" y="1733550"/>
                  </a:cubicBezTo>
                  <a:lnTo>
                    <a:pt x="228600" y="1704975"/>
                  </a:lnTo>
                  <a:cubicBezTo>
                    <a:pt x="47625" y="1695450"/>
                    <a:pt x="0" y="1590675"/>
                    <a:pt x="0" y="1428750"/>
                  </a:cubicBezTo>
                  <a:lnTo>
                    <a:pt x="0" y="438150"/>
                  </a:lnTo>
                  <a:cubicBezTo>
                    <a:pt x="0" y="247650"/>
                    <a:pt x="66675" y="180975"/>
                    <a:pt x="257175" y="152400"/>
                  </a:cubicBezTo>
                  <a:close/>
                </a:path>
              </a:pathLst>
            </a:custGeom>
            <a:solidFill>
              <a:srgbClr val="FFF5E1"/>
            </a:solidFill>
            <a:ln w="8996">
              <a:solidFill>
                <a:srgbClr val="F3A000"/>
              </a:solidFill>
            </a:ln>
          </p:spPr>
        </p:sp>
        <p:sp>
          <p:nvSpPr>
            <p:cNvPr id="122" name="v25-shared-llm-allocation"/>
            <p:cNvSpPr/>
            <p:nvPr/>
          </p:nvSpPr>
          <p:spPr>
            <a:xfrm>
              <a:off x="7193068" y="4132157"/>
              <a:ext cx="703792" cy="963083"/>
            </a:xfrm>
            <a:custGeom>
              <a:avLst/>
              <a:gdLst/>
              <a:ahLst/>
              <a:cxnLst/>
              <a:pathLst>
                <a:path w="1266825" h="1733550">
                  <a:moveTo>
                    <a:pt x="180975" y="9525"/>
                  </a:moveTo>
                  <a:cubicBezTo>
                    <a:pt x="447675" y="0"/>
                    <a:pt x="790575" y="123825"/>
                    <a:pt x="1009650" y="190500"/>
                  </a:cubicBezTo>
                  <a:cubicBezTo>
                    <a:pt x="1219200" y="247650"/>
                    <a:pt x="1266825" y="371475"/>
                    <a:pt x="1266825" y="581025"/>
                  </a:cubicBezTo>
                  <a:lnTo>
                    <a:pt x="1266825" y="1514475"/>
                  </a:lnTo>
                  <a:cubicBezTo>
                    <a:pt x="1266825" y="1695450"/>
                    <a:pt x="1190625" y="1733550"/>
                    <a:pt x="1000125" y="1733550"/>
                  </a:cubicBezTo>
                  <a:lnTo>
                    <a:pt x="238125" y="1724025"/>
                  </a:lnTo>
                  <a:cubicBezTo>
                    <a:pt x="57150" y="1724025"/>
                    <a:pt x="0" y="1619250"/>
                    <a:pt x="0" y="1438275"/>
                  </a:cubicBezTo>
                  <a:lnTo>
                    <a:pt x="0" y="323850"/>
                  </a:lnTo>
                  <a:cubicBezTo>
                    <a:pt x="0" y="152400"/>
                    <a:pt x="38100" y="28575"/>
                    <a:pt x="180975" y="9525"/>
                  </a:cubicBezTo>
                  <a:close/>
                </a:path>
              </a:pathLst>
            </a:custGeom>
            <a:solidFill>
              <a:srgbClr val="EAFBF9"/>
            </a:solidFill>
            <a:ln w="8996">
              <a:solidFill>
                <a:srgbClr val="06AAA6"/>
              </a:solidFill>
            </a:ln>
          </p:spPr>
        </p:sp>
        <p:sp>
          <p:nvSpPr>
            <p:cNvPr id="123" name="v25-shared-chat-status"/>
            <p:cNvSpPr/>
            <p:nvPr/>
          </p:nvSpPr>
          <p:spPr>
            <a:xfrm>
              <a:off x="6584527" y="2348865"/>
              <a:ext cx="105833" cy="105833"/>
            </a:xfrm>
            <a:prstGeom prst="ellipse">
              <a:avLst/>
            </a:prstGeom>
            <a:solidFill>
              <a:srgbClr val="66B000"/>
            </a:solidFill>
            <a:ln w="0">
              <a:noFill/>
            </a:ln>
          </p:spPr>
        </p:sp>
        <p:sp>
          <p:nvSpPr>
            <p:cNvPr id="124" name="v25-shared-document-status"/>
            <p:cNvSpPr/>
            <p:nvPr/>
          </p:nvSpPr>
          <p:spPr>
            <a:xfrm>
              <a:off x="6584527" y="3200823"/>
              <a:ext cx="105833" cy="105833"/>
            </a:xfrm>
            <a:prstGeom prst="ellipse">
              <a:avLst/>
            </a:prstGeom>
            <a:solidFill>
              <a:srgbClr val="06AAA6"/>
            </a:solidFill>
            <a:ln w="0">
              <a:noFill/>
            </a:ln>
          </p:spPr>
        </p:sp>
        <p:sp>
          <p:nvSpPr>
            <p:cNvPr id="125" name="v25-shared-network-status"/>
            <p:cNvSpPr/>
            <p:nvPr/>
          </p:nvSpPr>
          <p:spPr>
            <a:xfrm>
              <a:off x="7637568" y="3163782"/>
              <a:ext cx="105833" cy="105833"/>
            </a:xfrm>
            <a:prstGeom prst="ellipse">
              <a:avLst/>
            </a:prstGeom>
            <a:solidFill>
              <a:srgbClr val="378BDB"/>
            </a:solidFill>
            <a:ln w="0">
              <a:noFill/>
            </a:ln>
          </p:spPr>
        </p:sp>
        <p:sp>
          <p:nvSpPr>
            <p:cNvPr id="126" name="v25-shared-image-status"/>
            <p:cNvSpPr/>
            <p:nvPr/>
          </p:nvSpPr>
          <p:spPr>
            <a:xfrm>
              <a:off x="6489277" y="4301490"/>
              <a:ext cx="105833" cy="105833"/>
            </a:xfrm>
            <a:prstGeom prst="ellipse">
              <a:avLst/>
            </a:prstGeom>
            <a:solidFill>
              <a:srgbClr val="F3A000"/>
            </a:solidFill>
            <a:ln w="0">
              <a:noFill/>
            </a:ln>
          </p:spPr>
        </p:sp>
        <p:sp>
          <p:nvSpPr>
            <p:cNvPr id="127" name="v25-shared-llm-status"/>
            <p:cNvSpPr/>
            <p:nvPr/>
          </p:nvSpPr>
          <p:spPr>
            <a:xfrm>
              <a:off x="7272443" y="4222115"/>
              <a:ext cx="105833" cy="105833"/>
            </a:xfrm>
            <a:prstGeom prst="ellipse">
              <a:avLst/>
            </a:prstGeom>
            <a:solidFill>
              <a:srgbClr val="06AAA6"/>
            </a:solidFill>
            <a:ln w="0">
              <a:noFill/>
            </a:ln>
          </p:spPr>
        </p:sp>
        <p:sp>
          <p:nvSpPr>
            <p:cNvPr id="128" name="v25-shared-chat-bubble"/>
            <p:cNvSpPr/>
            <p:nvPr/>
          </p:nvSpPr>
          <p:spPr>
            <a:xfrm>
              <a:off x="6891443" y="2528782"/>
              <a:ext cx="508000" cy="383822"/>
            </a:xfrm>
            <a:custGeom>
              <a:avLst/>
              <a:gdLst/>
              <a:ahLst/>
              <a:cxnLst/>
              <a:pathLst>
                <a:path w="914400" h="690880">
                  <a:moveTo>
                    <a:pt x="457200" y="0"/>
                  </a:moveTo>
                  <a:cubicBezTo>
                    <a:pt x="711200" y="0"/>
                    <a:pt x="914400" y="132080"/>
                    <a:pt x="914400" y="314960"/>
                  </a:cubicBezTo>
                  <a:cubicBezTo>
                    <a:pt x="914400" y="497840"/>
                    <a:pt x="711200" y="619760"/>
                    <a:pt x="467360" y="619760"/>
                  </a:cubicBezTo>
                  <a:cubicBezTo>
                    <a:pt x="406400" y="619760"/>
                    <a:pt x="345440" y="609600"/>
                    <a:pt x="294640" y="599440"/>
                  </a:cubicBezTo>
                  <a:lnTo>
                    <a:pt x="111760" y="690880"/>
                  </a:lnTo>
                  <a:lnTo>
                    <a:pt x="162560" y="528320"/>
                  </a:lnTo>
                  <a:cubicBezTo>
                    <a:pt x="60960" y="467360"/>
                    <a:pt x="0" y="396240"/>
                    <a:pt x="0" y="304800"/>
                  </a:cubicBezTo>
                  <a:cubicBezTo>
                    <a:pt x="0" y="132080"/>
                    <a:pt x="203200" y="0"/>
                    <a:pt x="457200" y="0"/>
                  </a:cubicBezTo>
                  <a:close/>
                </a:path>
              </a:pathLst>
            </a:custGeom>
            <a:noFill/>
            <a:ln w="21167">
              <a:solidFill>
                <a:srgbClr val="66B000"/>
              </a:solidFill>
            </a:ln>
          </p:spPr>
        </p:sp>
        <p:sp>
          <p:nvSpPr>
            <p:cNvPr id="129" name="v25-shared-chat-dots"/>
            <p:cNvSpPr/>
            <p:nvPr/>
          </p:nvSpPr>
          <p:spPr>
            <a:xfrm>
              <a:off x="7034248" y="2671586"/>
              <a:ext cx="222391" cy="41769"/>
            </a:xfrm>
            <a:custGeom>
              <a:avLst/>
              <a:gdLst/>
              <a:ahLst/>
              <a:cxnLst/>
              <a:pathLst>
                <a:path w="400304" h="75184">
                  <a:moveTo>
                    <a:pt x="75184" y="37592"/>
                  </a:moveTo>
                  <a:cubicBezTo>
                    <a:pt x="75184" y="58353"/>
                    <a:pt x="58353" y="75184"/>
                    <a:pt x="37592" y="75184"/>
                  </a:cubicBezTo>
                  <a:cubicBezTo>
                    <a:pt x="16831" y="75184"/>
                    <a:pt x="0" y="58353"/>
                    <a:pt x="0" y="37592"/>
                  </a:cubicBezTo>
                  <a:cubicBezTo>
                    <a:pt x="0" y="16831"/>
                    <a:pt x="16831" y="0"/>
                    <a:pt x="37592" y="0"/>
                  </a:cubicBezTo>
                  <a:cubicBezTo>
                    <a:pt x="58353" y="0"/>
                    <a:pt x="75184" y="16831"/>
                    <a:pt x="75184" y="37592"/>
                  </a:cubicBezTo>
                  <a:close/>
                  <a:moveTo>
                    <a:pt x="237744" y="37592"/>
                  </a:moveTo>
                  <a:cubicBezTo>
                    <a:pt x="237744" y="58353"/>
                    <a:pt x="220913" y="75184"/>
                    <a:pt x="200152" y="75184"/>
                  </a:cubicBezTo>
                  <a:cubicBezTo>
                    <a:pt x="179391" y="75184"/>
                    <a:pt x="162560" y="58353"/>
                    <a:pt x="162560" y="37592"/>
                  </a:cubicBezTo>
                  <a:cubicBezTo>
                    <a:pt x="162560" y="16831"/>
                    <a:pt x="179391" y="0"/>
                    <a:pt x="200152" y="0"/>
                  </a:cubicBezTo>
                  <a:cubicBezTo>
                    <a:pt x="220913" y="0"/>
                    <a:pt x="237744" y="16831"/>
                    <a:pt x="237744" y="37592"/>
                  </a:cubicBezTo>
                  <a:close/>
                  <a:moveTo>
                    <a:pt x="400304" y="37592"/>
                  </a:moveTo>
                  <a:cubicBezTo>
                    <a:pt x="400304" y="58353"/>
                    <a:pt x="383473" y="75184"/>
                    <a:pt x="362712" y="75184"/>
                  </a:cubicBezTo>
                  <a:cubicBezTo>
                    <a:pt x="341951" y="75184"/>
                    <a:pt x="325120" y="58353"/>
                    <a:pt x="325120" y="37592"/>
                  </a:cubicBezTo>
                  <a:cubicBezTo>
                    <a:pt x="325120" y="16831"/>
                    <a:pt x="341951" y="0"/>
                    <a:pt x="362712" y="0"/>
                  </a:cubicBezTo>
                  <a:cubicBezTo>
                    <a:pt x="383473" y="0"/>
                    <a:pt x="400304" y="16831"/>
                    <a:pt x="400304" y="37592"/>
                  </a:cubicBezTo>
                  <a:close/>
                </a:path>
              </a:pathLst>
            </a:custGeom>
            <a:solidFill>
              <a:srgbClr val="66B000"/>
            </a:solidFill>
            <a:ln w="0">
              <a:noFill/>
            </a:ln>
          </p:spPr>
        </p:sp>
        <p:sp>
          <p:nvSpPr>
            <p:cNvPr id="130" name="v25-shared-document-outline"/>
            <p:cNvSpPr/>
            <p:nvPr/>
          </p:nvSpPr>
          <p:spPr>
            <a:xfrm>
              <a:off x="6610985" y="3417782"/>
              <a:ext cx="412750" cy="461887"/>
            </a:xfrm>
            <a:prstGeom prst="roundRect">
              <a:avLst>
                <a:gd name="adj" fmla="val 9524"/>
              </a:avLst>
            </a:prstGeom>
            <a:solidFill>
              <a:srgbClr val="FFFFFF"/>
            </a:solidFill>
            <a:ln w="16933">
              <a:solidFill>
                <a:srgbClr val="06AAA6"/>
              </a:solidFill>
            </a:ln>
          </p:spPr>
        </p:sp>
        <p:sp>
          <p:nvSpPr>
            <p:cNvPr id="131" name="v25-shared-document-text-lines"/>
            <p:cNvSpPr/>
            <p:nvPr/>
          </p:nvSpPr>
          <p:spPr>
            <a:xfrm>
              <a:off x="6694518" y="3520969"/>
              <a:ext cx="226030" cy="245685"/>
            </a:xfrm>
            <a:custGeom>
              <a:avLst/>
              <a:gdLst/>
              <a:ahLst/>
              <a:cxnLst/>
              <a:pathLst>
                <a:path w="406854" h="442232">
                  <a:moveTo>
                    <a:pt x="0" y="0"/>
                  </a:moveTo>
                  <a:lnTo>
                    <a:pt x="221116" y="0"/>
                  </a:lnTo>
                  <a:moveTo>
                    <a:pt x="106136" y="123825"/>
                  </a:moveTo>
                  <a:lnTo>
                    <a:pt x="406854" y="123825"/>
                  </a:lnTo>
                  <a:moveTo>
                    <a:pt x="106136" y="229961"/>
                  </a:moveTo>
                  <a:lnTo>
                    <a:pt x="406854" y="229961"/>
                  </a:lnTo>
                  <a:moveTo>
                    <a:pt x="106136" y="336096"/>
                  </a:moveTo>
                  <a:lnTo>
                    <a:pt x="353786" y="336096"/>
                  </a:lnTo>
                  <a:moveTo>
                    <a:pt x="106136" y="442232"/>
                  </a:moveTo>
                  <a:lnTo>
                    <a:pt x="406854" y="442232"/>
                  </a:lnTo>
                </a:path>
              </a:pathLst>
            </a:custGeom>
            <a:noFill/>
            <a:ln w="15875">
              <a:solidFill>
                <a:srgbClr val="06AAA6"/>
              </a:solidFill>
            </a:ln>
          </p:spPr>
        </p:sp>
        <p:sp>
          <p:nvSpPr>
            <p:cNvPr id="132" name="v25-shared-document-bullets"/>
            <p:cNvSpPr/>
            <p:nvPr/>
          </p:nvSpPr>
          <p:spPr>
            <a:xfrm>
              <a:off x="6691570" y="3581899"/>
              <a:ext cx="15724" cy="192617"/>
            </a:xfrm>
            <a:custGeom>
              <a:avLst/>
              <a:gdLst/>
              <a:ahLst/>
              <a:cxnLst/>
              <a:pathLst>
                <a:path w="28303" h="346710">
                  <a:moveTo>
                    <a:pt x="28303" y="14151"/>
                  </a:moveTo>
                  <a:cubicBezTo>
                    <a:pt x="28303" y="21967"/>
                    <a:pt x="21967" y="28303"/>
                    <a:pt x="14151" y="28303"/>
                  </a:cubicBezTo>
                  <a:cubicBezTo>
                    <a:pt x="6336" y="28303"/>
                    <a:pt x="0" y="21967"/>
                    <a:pt x="0" y="14151"/>
                  </a:cubicBezTo>
                  <a:cubicBezTo>
                    <a:pt x="0" y="6336"/>
                    <a:pt x="6336" y="0"/>
                    <a:pt x="14151" y="0"/>
                  </a:cubicBezTo>
                  <a:cubicBezTo>
                    <a:pt x="21967" y="0"/>
                    <a:pt x="28303" y="6336"/>
                    <a:pt x="28303" y="14151"/>
                  </a:cubicBezTo>
                  <a:close/>
                  <a:moveTo>
                    <a:pt x="28303" y="120287"/>
                  </a:moveTo>
                  <a:cubicBezTo>
                    <a:pt x="28303" y="128103"/>
                    <a:pt x="21967" y="134439"/>
                    <a:pt x="14151" y="134439"/>
                  </a:cubicBezTo>
                  <a:cubicBezTo>
                    <a:pt x="6336" y="134439"/>
                    <a:pt x="0" y="128103"/>
                    <a:pt x="0" y="120287"/>
                  </a:cubicBezTo>
                  <a:cubicBezTo>
                    <a:pt x="0" y="112472"/>
                    <a:pt x="6336" y="106136"/>
                    <a:pt x="14151" y="106136"/>
                  </a:cubicBezTo>
                  <a:cubicBezTo>
                    <a:pt x="21967" y="106136"/>
                    <a:pt x="28303" y="112472"/>
                    <a:pt x="28303" y="120287"/>
                  </a:cubicBezTo>
                  <a:close/>
                  <a:moveTo>
                    <a:pt x="28303" y="226423"/>
                  </a:moveTo>
                  <a:cubicBezTo>
                    <a:pt x="28303" y="234238"/>
                    <a:pt x="21967" y="240574"/>
                    <a:pt x="14151" y="240574"/>
                  </a:cubicBezTo>
                  <a:cubicBezTo>
                    <a:pt x="6336" y="240574"/>
                    <a:pt x="0" y="234238"/>
                    <a:pt x="0" y="226423"/>
                  </a:cubicBezTo>
                  <a:cubicBezTo>
                    <a:pt x="0" y="218607"/>
                    <a:pt x="6336" y="212271"/>
                    <a:pt x="14151" y="212271"/>
                  </a:cubicBezTo>
                  <a:cubicBezTo>
                    <a:pt x="21967" y="212271"/>
                    <a:pt x="28303" y="218607"/>
                    <a:pt x="28303" y="226423"/>
                  </a:cubicBezTo>
                  <a:close/>
                  <a:moveTo>
                    <a:pt x="28303" y="332559"/>
                  </a:moveTo>
                  <a:cubicBezTo>
                    <a:pt x="28303" y="340374"/>
                    <a:pt x="21967" y="346710"/>
                    <a:pt x="14151" y="346710"/>
                  </a:cubicBezTo>
                  <a:cubicBezTo>
                    <a:pt x="6336" y="346710"/>
                    <a:pt x="0" y="340374"/>
                    <a:pt x="0" y="332559"/>
                  </a:cubicBezTo>
                  <a:cubicBezTo>
                    <a:pt x="0" y="324743"/>
                    <a:pt x="6336" y="318407"/>
                    <a:pt x="14151" y="318407"/>
                  </a:cubicBezTo>
                  <a:cubicBezTo>
                    <a:pt x="21967" y="318407"/>
                    <a:pt x="28303" y="324743"/>
                    <a:pt x="28303" y="332559"/>
                  </a:cubicBezTo>
                  <a:close/>
                </a:path>
              </a:pathLst>
            </a:custGeom>
            <a:solidFill>
              <a:srgbClr val="06AAA6"/>
            </a:solidFill>
            <a:ln w="0">
              <a:noFill/>
            </a:ln>
          </p:spPr>
        </p:sp>
        <p:sp>
          <p:nvSpPr>
            <p:cNvPr id="133" name="v25-shared-network-edges"/>
            <p:cNvSpPr/>
            <p:nvPr/>
          </p:nvSpPr>
          <p:spPr>
            <a:xfrm>
              <a:off x="7363200" y="3488470"/>
              <a:ext cx="358236" cy="334873"/>
            </a:xfrm>
            <a:custGeom>
              <a:avLst/>
              <a:gdLst/>
              <a:ahLst/>
              <a:cxnLst/>
              <a:pathLst>
                <a:path w="644825" h="602771">
                  <a:moveTo>
                    <a:pt x="231296" y="0"/>
                  </a:moveTo>
                  <a:lnTo>
                    <a:pt x="0" y="315403"/>
                  </a:lnTo>
                  <a:moveTo>
                    <a:pt x="231296" y="0"/>
                  </a:moveTo>
                  <a:lnTo>
                    <a:pt x="616789" y="119152"/>
                  </a:lnTo>
                  <a:moveTo>
                    <a:pt x="231296" y="0"/>
                  </a:moveTo>
                  <a:lnTo>
                    <a:pt x="315403" y="280358"/>
                  </a:lnTo>
                  <a:moveTo>
                    <a:pt x="0" y="315403"/>
                  </a:moveTo>
                  <a:lnTo>
                    <a:pt x="217278" y="602771"/>
                  </a:lnTo>
                  <a:moveTo>
                    <a:pt x="0" y="315403"/>
                  </a:moveTo>
                  <a:lnTo>
                    <a:pt x="315403" y="280358"/>
                  </a:lnTo>
                  <a:moveTo>
                    <a:pt x="0" y="315403"/>
                  </a:moveTo>
                  <a:lnTo>
                    <a:pt x="434556" y="406520"/>
                  </a:lnTo>
                  <a:moveTo>
                    <a:pt x="217278" y="602771"/>
                  </a:moveTo>
                  <a:lnTo>
                    <a:pt x="434556" y="406520"/>
                  </a:lnTo>
                  <a:moveTo>
                    <a:pt x="217278" y="602771"/>
                  </a:moveTo>
                  <a:lnTo>
                    <a:pt x="644825" y="476609"/>
                  </a:lnTo>
                  <a:moveTo>
                    <a:pt x="644825" y="476609"/>
                  </a:moveTo>
                  <a:lnTo>
                    <a:pt x="616789" y="119152"/>
                  </a:lnTo>
                  <a:moveTo>
                    <a:pt x="644825" y="476609"/>
                  </a:moveTo>
                  <a:lnTo>
                    <a:pt x="434556" y="406520"/>
                  </a:lnTo>
                  <a:moveTo>
                    <a:pt x="616789" y="119152"/>
                  </a:moveTo>
                  <a:lnTo>
                    <a:pt x="315403" y="280358"/>
                  </a:lnTo>
                  <a:moveTo>
                    <a:pt x="315403" y="280358"/>
                  </a:moveTo>
                  <a:lnTo>
                    <a:pt x="434556" y="406520"/>
                  </a:lnTo>
                </a:path>
              </a:pathLst>
            </a:custGeom>
            <a:noFill/>
            <a:ln w="13758">
              <a:solidFill>
                <a:srgbClr val="378BDB"/>
              </a:solidFill>
            </a:ln>
          </p:spPr>
        </p:sp>
        <p:sp>
          <p:nvSpPr>
            <p:cNvPr id="134" name="v25-shared-network-node-0"/>
            <p:cNvSpPr/>
            <p:nvPr/>
          </p:nvSpPr>
          <p:spPr>
            <a:xfrm>
              <a:off x="7460547" y="3457319"/>
              <a:ext cx="62302" cy="62302"/>
            </a:xfrm>
            <a:prstGeom prst="ellipse">
              <a:avLst/>
            </a:prstGeom>
            <a:solidFill>
              <a:srgbClr val="FFFFFF"/>
            </a:solidFill>
            <a:ln w="15875">
              <a:solidFill>
                <a:srgbClr val="378BDB"/>
              </a:solidFill>
            </a:ln>
          </p:spPr>
        </p:sp>
        <p:sp>
          <p:nvSpPr>
            <p:cNvPr id="135" name="v25-shared-network-node-1"/>
            <p:cNvSpPr/>
            <p:nvPr/>
          </p:nvSpPr>
          <p:spPr>
            <a:xfrm>
              <a:off x="7332049" y="3632543"/>
              <a:ext cx="62302" cy="62302"/>
            </a:xfrm>
            <a:prstGeom prst="ellipse">
              <a:avLst/>
            </a:prstGeom>
            <a:solidFill>
              <a:srgbClr val="FFFFFF"/>
            </a:solidFill>
            <a:ln w="15875">
              <a:solidFill>
                <a:srgbClr val="378BDB"/>
              </a:solidFill>
            </a:ln>
          </p:spPr>
        </p:sp>
        <p:sp>
          <p:nvSpPr>
            <p:cNvPr id="136" name="v25-shared-network-node-2"/>
            <p:cNvSpPr/>
            <p:nvPr/>
          </p:nvSpPr>
          <p:spPr>
            <a:xfrm>
              <a:off x="7452759" y="3792192"/>
              <a:ext cx="62302" cy="62302"/>
            </a:xfrm>
            <a:prstGeom prst="ellipse">
              <a:avLst/>
            </a:prstGeom>
            <a:solidFill>
              <a:srgbClr val="FFFFFF"/>
            </a:solidFill>
            <a:ln w="15875">
              <a:solidFill>
                <a:srgbClr val="378BDB"/>
              </a:solidFill>
            </a:ln>
          </p:spPr>
        </p:sp>
        <p:sp>
          <p:nvSpPr>
            <p:cNvPr id="137" name="v25-shared-network-node-3"/>
            <p:cNvSpPr/>
            <p:nvPr/>
          </p:nvSpPr>
          <p:spPr>
            <a:xfrm>
              <a:off x="7690285" y="3722102"/>
              <a:ext cx="62302" cy="62302"/>
            </a:xfrm>
            <a:prstGeom prst="ellipse">
              <a:avLst/>
            </a:prstGeom>
            <a:solidFill>
              <a:srgbClr val="FFFFFF"/>
            </a:solidFill>
            <a:ln w="15875">
              <a:solidFill>
                <a:srgbClr val="378BDB"/>
              </a:solidFill>
            </a:ln>
          </p:spPr>
        </p:sp>
        <p:sp>
          <p:nvSpPr>
            <p:cNvPr id="138" name="v25-shared-network-node-4"/>
            <p:cNvSpPr/>
            <p:nvPr/>
          </p:nvSpPr>
          <p:spPr>
            <a:xfrm>
              <a:off x="7674710" y="3523515"/>
              <a:ext cx="62302" cy="62302"/>
            </a:xfrm>
            <a:prstGeom prst="ellipse">
              <a:avLst/>
            </a:prstGeom>
            <a:solidFill>
              <a:srgbClr val="FFFFFF"/>
            </a:solidFill>
            <a:ln w="15875">
              <a:solidFill>
                <a:srgbClr val="378BDB"/>
              </a:solidFill>
            </a:ln>
          </p:spPr>
        </p:sp>
        <p:sp>
          <p:nvSpPr>
            <p:cNvPr id="139" name="v25-shared-network-node-5"/>
            <p:cNvSpPr/>
            <p:nvPr/>
          </p:nvSpPr>
          <p:spPr>
            <a:xfrm>
              <a:off x="7507274" y="3613074"/>
              <a:ext cx="62302" cy="62302"/>
            </a:xfrm>
            <a:prstGeom prst="ellipse">
              <a:avLst/>
            </a:prstGeom>
            <a:solidFill>
              <a:srgbClr val="FFFFFF"/>
            </a:solidFill>
            <a:ln w="15875">
              <a:solidFill>
                <a:srgbClr val="378BDB"/>
              </a:solidFill>
            </a:ln>
          </p:spPr>
        </p:sp>
        <p:sp>
          <p:nvSpPr>
            <p:cNvPr id="140" name="v25-shared-network-node-6"/>
            <p:cNvSpPr/>
            <p:nvPr/>
          </p:nvSpPr>
          <p:spPr>
            <a:xfrm>
              <a:off x="7573469" y="3683164"/>
              <a:ext cx="62302" cy="62302"/>
            </a:xfrm>
            <a:prstGeom prst="ellipse">
              <a:avLst/>
            </a:prstGeom>
            <a:solidFill>
              <a:srgbClr val="FFFFFF"/>
            </a:solidFill>
            <a:ln w="15875">
              <a:solidFill>
                <a:srgbClr val="378BDB"/>
              </a:solidFill>
            </a:ln>
          </p:spPr>
        </p:sp>
        <p:sp>
          <p:nvSpPr>
            <p:cNvPr id="141" name="v25-shared-image-outline"/>
            <p:cNvSpPr/>
            <p:nvPr/>
          </p:nvSpPr>
          <p:spPr>
            <a:xfrm>
              <a:off x="6531610" y="4541557"/>
              <a:ext cx="443481" cy="371679"/>
            </a:xfrm>
            <a:prstGeom prst="roundRect">
              <a:avLst>
                <a:gd name="adj" fmla="val 7955"/>
              </a:avLst>
            </a:prstGeom>
            <a:solidFill>
              <a:srgbClr val="FFFFFF"/>
            </a:solidFill>
            <a:ln w="16933">
              <a:solidFill>
                <a:srgbClr val="F3A000"/>
              </a:solidFill>
            </a:ln>
          </p:spPr>
        </p:sp>
        <p:sp>
          <p:nvSpPr>
            <p:cNvPr id="142" name="v25-shared-image-mountains"/>
            <p:cNvSpPr/>
            <p:nvPr/>
          </p:nvSpPr>
          <p:spPr>
            <a:xfrm>
              <a:off x="6535834" y="4702055"/>
              <a:ext cx="435033" cy="160498"/>
            </a:xfrm>
            <a:custGeom>
              <a:avLst/>
              <a:gdLst/>
              <a:ahLst/>
              <a:cxnLst/>
              <a:pathLst>
                <a:path w="783060" h="288896">
                  <a:moveTo>
                    <a:pt x="0" y="228076"/>
                  </a:moveTo>
                  <a:lnTo>
                    <a:pt x="228076" y="0"/>
                  </a:lnTo>
                  <a:lnTo>
                    <a:pt x="440946" y="205268"/>
                  </a:lnTo>
                  <a:lnTo>
                    <a:pt x="577792" y="83628"/>
                  </a:lnTo>
                  <a:lnTo>
                    <a:pt x="783060" y="288896"/>
                  </a:lnTo>
                </a:path>
              </a:pathLst>
            </a:custGeom>
            <a:noFill/>
            <a:ln w="16404">
              <a:solidFill>
                <a:srgbClr val="F3A000"/>
              </a:solidFill>
            </a:ln>
          </p:spPr>
        </p:sp>
        <p:sp>
          <p:nvSpPr>
            <p:cNvPr id="143" name="v25-shared-image-sun"/>
            <p:cNvSpPr/>
            <p:nvPr/>
          </p:nvSpPr>
          <p:spPr>
            <a:xfrm>
              <a:off x="6793475" y="4621806"/>
              <a:ext cx="84472" cy="84472"/>
            </a:xfrm>
            <a:prstGeom prst="ellipse">
              <a:avLst/>
            </a:prstGeom>
            <a:solidFill>
              <a:srgbClr val="FFFFFF"/>
            </a:solidFill>
            <a:ln w="15875">
              <a:solidFill>
                <a:srgbClr val="F3A000"/>
              </a:solidFill>
            </a:ln>
          </p:spPr>
          <p:txBody>
            <a:bodyPr/>
            <a:lstStyle/>
            <a:p/>
          </p:txBody>
        </p:sp>
        <p:sp>
          <p:nvSpPr>
            <p:cNvPr id="144" name="v25-shared-image-spark"/>
            <p:cNvSpPr/>
            <p:nvPr/>
          </p:nvSpPr>
          <p:spPr>
            <a:xfrm>
              <a:off x="6882171" y="4465532"/>
              <a:ext cx="160498" cy="160498"/>
            </a:xfrm>
            <a:custGeom>
              <a:avLst/>
              <a:gdLst/>
              <a:ahLst/>
              <a:cxnLst/>
              <a:pathLst>
                <a:path w="288896" h="288896">
                  <a:moveTo>
                    <a:pt x="152050" y="0"/>
                  </a:moveTo>
                  <a:lnTo>
                    <a:pt x="190063" y="98833"/>
                  </a:lnTo>
                  <a:lnTo>
                    <a:pt x="288896" y="136845"/>
                  </a:lnTo>
                  <a:lnTo>
                    <a:pt x="190063" y="182461"/>
                  </a:lnTo>
                  <a:lnTo>
                    <a:pt x="152050" y="288896"/>
                  </a:lnTo>
                  <a:lnTo>
                    <a:pt x="106435" y="182461"/>
                  </a:lnTo>
                  <a:lnTo>
                    <a:pt x="0" y="136845"/>
                  </a:lnTo>
                  <a:lnTo>
                    <a:pt x="106435" y="91230"/>
                  </a:lnTo>
                  <a:close/>
                </a:path>
              </a:pathLst>
            </a:custGeom>
            <a:solidFill>
              <a:srgbClr val="FFFFFF"/>
            </a:solidFill>
            <a:ln w="15875">
              <a:solidFill>
                <a:srgbClr val="F3A000"/>
              </a:solidFill>
            </a:ln>
          </p:spPr>
        </p:sp>
        <p:sp>
          <p:nvSpPr>
            <p:cNvPr id="145" name="v25-shared-llm-ear-left"/>
            <p:cNvSpPr/>
            <p:nvPr/>
          </p:nvSpPr>
          <p:spPr>
            <a:xfrm>
              <a:off x="7335943" y="4545017"/>
              <a:ext cx="77721" cy="134717"/>
            </a:xfrm>
            <a:prstGeom prst="roundRect">
              <a:avLst>
                <a:gd name="adj" fmla="val 33333"/>
              </a:avLst>
            </a:prstGeom>
            <a:solidFill>
              <a:srgbClr val="FFFFFF"/>
            </a:solidFill>
            <a:ln w="15875">
              <a:solidFill>
                <a:srgbClr val="21494D"/>
              </a:solidFill>
            </a:ln>
          </p:spPr>
        </p:sp>
        <p:sp>
          <p:nvSpPr>
            <p:cNvPr id="146" name="v25-shared-llm-ear-right"/>
            <p:cNvSpPr/>
            <p:nvPr/>
          </p:nvSpPr>
          <p:spPr>
            <a:xfrm>
              <a:off x="7755639" y="4545017"/>
              <a:ext cx="77721" cy="134717"/>
            </a:xfrm>
            <a:prstGeom prst="roundRect">
              <a:avLst>
                <a:gd name="adj" fmla="val 33333"/>
              </a:avLst>
            </a:prstGeom>
            <a:solidFill>
              <a:srgbClr val="FFFFFF"/>
            </a:solidFill>
            <a:ln w="15875">
              <a:solidFill>
                <a:srgbClr val="21494D"/>
              </a:solidFill>
            </a:ln>
          </p:spPr>
        </p:sp>
        <p:sp>
          <p:nvSpPr>
            <p:cNvPr id="147" name="v25-shared-llm-antenna"/>
            <p:cNvSpPr/>
            <p:nvPr/>
          </p:nvSpPr>
          <p:spPr>
            <a:xfrm>
              <a:off x="7584652" y="4379211"/>
              <a:ext cx="0" cy="82903"/>
            </a:xfrm>
            <a:prstGeom prst="line">
              <a:avLst/>
            </a:prstGeom>
            <a:noFill/>
            <a:ln w="15875">
              <a:solidFill>
                <a:srgbClr val="21494D"/>
              </a:solidFill>
            </a:ln>
          </p:spPr>
        </p:sp>
        <p:sp>
          <p:nvSpPr>
            <p:cNvPr id="148" name="v25-shared-llm-antenna-tip"/>
            <p:cNvSpPr/>
            <p:nvPr/>
          </p:nvSpPr>
          <p:spPr>
            <a:xfrm>
              <a:off x="7543200" y="4301490"/>
              <a:ext cx="82903" cy="82903"/>
            </a:xfrm>
            <a:prstGeom prst="ellipse">
              <a:avLst/>
            </a:prstGeom>
            <a:solidFill>
              <a:srgbClr val="FFFFFF"/>
            </a:solidFill>
            <a:ln w="15875">
              <a:solidFill>
                <a:srgbClr val="21494D"/>
              </a:solidFill>
            </a:ln>
          </p:spPr>
        </p:sp>
        <p:sp>
          <p:nvSpPr>
            <p:cNvPr id="149" name="v25-shared-llm-head"/>
            <p:cNvSpPr/>
            <p:nvPr/>
          </p:nvSpPr>
          <p:spPr>
            <a:xfrm>
              <a:off x="7398120" y="4451751"/>
              <a:ext cx="373063" cy="326430"/>
            </a:xfrm>
            <a:prstGeom prst="roundRect">
              <a:avLst>
                <a:gd name="adj" fmla="val 23810"/>
              </a:avLst>
            </a:prstGeom>
            <a:solidFill>
              <a:srgbClr val="FFFFFF"/>
            </a:solidFill>
            <a:ln w="16933">
              <a:solidFill>
                <a:srgbClr val="21494D"/>
              </a:solidFill>
            </a:ln>
          </p:spPr>
        </p:sp>
        <p:sp>
          <p:nvSpPr>
            <p:cNvPr id="150" name="v25-shared-llm-eye-left"/>
            <p:cNvSpPr/>
            <p:nvPr/>
          </p:nvSpPr>
          <p:spPr>
            <a:xfrm>
              <a:off x="7470660" y="4565743"/>
              <a:ext cx="72540" cy="72540"/>
            </a:xfrm>
            <a:prstGeom prst="ellipse">
              <a:avLst/>
            </a:prstGeom>
            <a:solidFill>
              <a:srgbClr val="FFFFFF"/>
            </a:solidFill>
            <a:ln w="15875">
              <a:solidFill>
                <a:srgbClr val="21494D"/>
              </a:solidFill>
            </a:ln>
          </p:spPr>
        </p:sp>
        <p:sp>
          <p:nvSpPr>
            <p:cNvPr id="151" name="v25-shared-llm-eye-right"/>
            <p:cNvSpPr/>
            <p:nvPr/>
          </p:nvSpPr>
          <p:spPr>
            <a:xfrm>
              <a:off x="7626103" y="4565743"/>
              <a:ext cx="72540" cy="72540"/>
            </a:xfrm>
            <a:prstGeom prst="ellipse">
              <a:avLst/>
            </a:prstGeom>
            <a:solidFill>
              <a:srgbClr val="FFFFFF"/>
            </a:solidFill>
            <a:ln w="15875">
              <a:solidFill>
                <a:srgbClr val="21494D"/>
              </a:solidFill>
            </a:ln>
          </p:spPr>
        </p:sp>
        <p:sp>
          <p:nvSpPr>
            <p:cNvPr id="152" name="v25-shared-llm-label"/>
            <p:cNvSpPr/>
            <p:nvPr/>
          </p:nvSpPr>
          <p:spPr>
            <a:xfrm>
              <a:off x="7283027" y="4846532"/>
              <a:ext cx="613833" cy="222250"/>
            </a:xfrm>
            <a:prstGeom prst="rect">
              <a:avLst/>
            </a:prstGeom>
            <a:noFill/>
            <a:ln w="0">
              <a:noFill/>
            </a:ln>
          </p:spPr>
          <p:txBody>
            <a:bodyPr wrap="none" lIns="0" tIns="0" rIns="0" bIns="0" anchor="ctr">
              <a:noAutofit/>
            </a:bodyPr>
            <a:lstStyle/>
            <a:p>
              <a:pPr algn="ctr">
                <a:buNone/>
                <a:defRPr sz="1650" b="1">
                  <a:solidFill>
                    <a:srgbClr val="21494D"/>
                  </a:solidFill>
                  <a:latin typeface="Arial" panose="020B0604020202090204"/>
                  <a:ea typeface="Arial" panose="020B0604020202090204"/>
                  <a:cs typeface="Arial" panose="020B0604020202090204"/>
                </a:defRPr>
              </a:pPr>
              <a:r>
                <a:rPr sz="1650" b="1">
                  <a:solidFill>
                    <a:srgbClr val="21494D"/>
                  </a:solidFill>
                  <a:latin typeface="Arial" panose="020B0604020202090204"/>
                  <a:ea typeface="Arial" panose="020B0604020202090204"/>
                  <a:cs typeface="Arial" panose="020B0604020202090204"/>
                </a:rPr>
                <a:t>LLM</a:t>
              </a:r>
              <a:endParaRPr sz="1650" b="1">
                <a:solidFill>
                  <a:srgbClr val="21494D"/>
                </a:solidFill>
                <a:latin typeface="Arial" panose="020B0604020202090204"/>
                <a:ea typeface="Arial" panose="020B0604020202090204"/>
                <a:cs typeface="Arial" panose="020B0604020202090204"/>
              </a:endParaRPr>
            </a:p>
          </p:txBody>
        </p:sp>
      </p:grpSp>
      <p:sp>
        <p:nvSpPr>
          <p:cNvPr id="270" name="principles-rule"/>
          <p:cNvSpPr>
            <a:spLocks noGrp="1"/>
          </p:cNvSpPr>
          <p:nvPr/>
        </p:nvSpPr>
        <p:spPr>
          <a:xfrm>
            <a:off x="617855" y="6172200"/>
            <a:ext cx="10982325" cy="0"/>
          </a:xfrm>
          <a:prstGeom prst="line">
            <a:avLst/>
          </a:prstGeom>
          <a:noFill/>
          <a:ln w="9525">
            <a:solidFill>
              <a:srgbClr val="D6E2DE"/>
            </a:solidFill>
          </a:ln>
        </p:spPr>
      </p:sp>
      <p:grpSp>
        <p:nvGrpSpPr>
          <p:cNvPr id="3" name="组合 2"/>
          <p:cNvGrpSpPr/>
          <p:nvPr/>
        </p:nvGrpSpPr>
        <p:grpSpPr>
          <a:xfrm>
            <a:off x="9159946" y="1691640"/>
            <a:ext cx="2741859" cy="4000500"/>
            <a:chOff x="14617" y="2297"/>
            <a:chExt cx="4318" cy="6300"/>
          </a:xfrm>
        </p:grpSpPr>
        <p:sp>
          <p:nvSpPr>
            <p:cNvPr id="277" name="hardware-heading"/>
            <p:cNvSpPr>
              <a:spLocks noGrp="1"/>
            </p:cNvSpPr>
            <p:nvPr/>
          </p:nvSpPr>
          <p:spPr>
            <a:xfrm>
              <a:off x="14740" y="2297"/>
              <a:ext cx="3840" cy="510"/>
            </a:xfrm>
            <a:prstGeom prst="rect">
              <a:avLst/>
            </a:prstGeom>
            <a:noFill/>
            <a:ln w="0">
              <a:noFill/>
            </a:ln>
          </p:spPr>
          <p:txBody>
            <a:bodyPr wrap="none" lIns="0" tIns="0" rIns="0" bIns="0" anchor="ctr">
              <a:noAutofit/>
            </a:bodyPr>
            <a:lstStyle/>
            <a:p>
              <a:pPr algn="l">
                <a:buNone/>
                <a:defRPr sz="1800" b="1">
                  <a:solidFill>
                    <a:srgbClr val="005476"/>
                  </a:solidFill>
                  <a:latin typeface="Arial" panose="020B0604020202090204"/>
                  <a:ea typeface="Arial" panose="020B0604020202090204"/>
                  <a:cs typeface="Arial" panose="020B0604020202090204"/>
                </a:defRPr>
              </a:pPr>
              <a:r>
                <a:rPr sz="1800" b="1">
                  <a:solidFill>
                    <a:srgbClr val="005476"/>
                  </a:solidFill>
                  <a:latin typeface="Arial" panose="020B0604020202090204"/>
                  <a:ea typeface="Arial" panose="020B0604020202090204"/>
                  <a:cs typeface="Arial" panose="020B0604020202090204"/>
                </a:rPr>
                <a:t>GPUs &amp; accelerators</a:t>
              </a:r>
              <a:endParaRPr sz="1800" b="1">
                <a:solidFill>
                  <a:srgbClr val="005476"/>
                </a:solidFill>
                <a:latin typeface="Arial" panose="020B0604020202090204"/>
                <a:ea typeface="Arial" panose="020B0604020202090204"/>
                <a:cs typeface="Arial" panose="020B0604020202090204"/>
              </a:endParaRPr>
            </a:p>
          </p:txBody>
        </p:sp>
        <p:pic>
          <p:nvPicPr>
            <p:cNvPr id="428" name="图片 404"/>
            <p:cNvPicPr>
              <a:picLocks noChangeAspect="1"/>
            </p:cNvPicPr>
            <p:nvPr/>
          </p:nvPicPr>
          <p:blipFill>
            <a:blip r:embed="rId4"/>
            <a:stretch>
              <a:fillRect/>
            </a:stretch>
          </p:blipFill>
          <p:spPr>
            <a:xfrm>
              <a:off x="14617" y="2663"/>
              <a:ext cx="2075" cy="1317"/>
            </a:xfrm>
            <a:prstGeom prst="rect">
              <a:avLst/>
            </a:prstGeom>
          </p:spPr>
        </p:pic>
        <p:pic>
          <p:nvPicPr>
            <p:cNvPr id="429" name="图片 406"/>
            <p:cNvPicPr>
              <a:picLocks noChangeAspect="1"/>
            </p:cNvPicPr>
            <p:nvPr/>
          </p:nvPicPr>
          <p:blipFill>
            <a:blip r:embed="rId5"/>
            <a:stretch>
              <a:fillRect/>
            </a:stretch>
          </p:blipFill>
          <p:spPr>
            <a:xfrm>
              <a:off x="17090" y="3143"/>
              <a:ext cx="1120" cy="378"/>
            </a:xfrm>
            <a:prstGeom prst="rect">
              <a:avLst/>
            </a:prstGeom>
          </p:spPr>
        </p:pic>
        <p:pic>
          <p:nvPicPr>
            <p:cNvPr id="430" name="图片 408"/>
            <p:cNvPicPr>
              <a:picLocks noChangeAspect="1"/>
            </p:cNvPicPr>
            <p:nvPr/>
          </p:nvPicPr>
          <p:blipFill>
            <a:blip r:embed="rId6"/>
            <a:stretch>
              <a:fillRect/>
            </a:stretch>
          </p:blipFill>
          <p:spPr>
            <a:xfrm>
              <a:off x="15353" y="3887"/>
              <a:ext cx="600" cy="360"/>
            </a:xfrm>
            <a:prstGeom prst="rect">
              <a:avLst/>
            </a:prstGeom>
          </p:spPr>
        </p:pic>
        <p:pic>
          <p:nvPicPr>
            <p:cNvPr id="431" name="图片 410"/>
            <p:cNvPicPr>
              <a:picLocks noChangeAspect="1"/>
            </p:cNvPicPr>
            <p:nvPr/>
          </p:nvPicPr>
          <p:blipFill>
            <a:blip r:embed="rId7"/>
            <a:stretch>
              <a:fillRect/>
            </a:stretch>
          </p:blipFill>
          <p:spPr>
            <a:xfrm>
              <a:off x="16930" y="3883"/>
              <a:ext cx="1444" cy="368"/>
            </a:xfrm>
            <a:prstGeom prst="rect">
              <a:avLst/>
            </a:prstGeom>
          </p:spPr>
        </p:pic>
        <p:pic>
          <p:nvPicPr>
            <p:cNvPr id="432" name="图片 412"/>
            <p:cNvPicPr>
              <a:picLocks noChangeAspect="1"/>
            </p:cNvPicPr>
            <p:nvPr/>
          </p:nvPicPr>
          <p:blipFill>
            <a:blip r:embed="rId8"/>
            <a:stretch>
              <a:fillRect/>
            </a:stretch>
          </p:blipFill>
          <p:spPr>
            <a:xfrm>
              <a:off x="15128" y="4620"/>
              <a:ext cx="1054" cy="365"/>
            </a:xfrm>
            <a:prstGeom prst="rect">
              <a:avLst/>
            </a:prstGeom>
          </p:spPr>
        </p:pic>
        <p:pic>
          <p:nvPicPr>
            <p:cNvPr id="433" name="图片 414"/>
            <p:cNvPicPr>
              <a:picLocks noChangeAspect="1"/>
            </p:cNvPicPr>
            <p:nvPr/>
          </p:nvPicPr>
          <p:blipFill>
            <a:blip r:embed="rId9"/>
            <a:stretch>
              <a:fillRect/>
            </a:stretch>
          </p:blipFill>
          <p:spPr>
            <a:xfrm>
              <a:off x="17252" y="4620"/>
              <a:ext cx="796" cy="364"/>
            </a:xfrm>
            <a:prstGeom prst="rect">
              <a:avLst/>
            </a:prstGeom>
          </p:spPr>
        </p:pic>
        <p:pic>
          <p:nvPicPr>
            <p:cNvPr id="434" name="图片 416"/>
            <p:cNvPicPr>
              <a:picLocks noChangeAspect="1"/>
            </p:cNvPicPr>
            <p:nvPr/>
          </p:nvPicPr>
          <p:blipFill>
            <a:blip r:embed="rId10"/>
            <a:stretch>
              <a:fillRect/>
            </a:stretch>
          </p:blipFill>
          <p:spPr>
            <a:xfrm>
              <a:off x="15095" y="5355"/>
              <a:ext cx="1120" cy="364"/>
            </a:xfrm>
            <a:prstGeom prst="rect">
              <a:avLst/>
            </a:prstGeom>
          </p:spPr>
        </p:pic>
        <p:pic>
          <p:nvPicPr>
            <p:cNvPr id="435" name="图片 418"/>
            <p:cNvPicPr>
              <a:picLocks noChangeAspect="1"/>
            </p:cNvPicPr>
            <p:nvPr/>
          </p:nvPicPr>
          <p:blipFill>
            <a:blip r:embed="rId11"/>
            <a:stretch>
              <a:fillRect/>
            </a:stretch>
          </p:blipFill>
          <p:spPr>
            <a:xfrm>
              <a:off x="16947" y="5349"/>
              <a:ext cx="1415" cy="377"/>
            </a:xfrm>
            <a:prstGeom prst="rect">
              <a:avLst/>
            </a:prstGeom>
          </p:spPr>
        </p:pic>
        <p:pic>
          <p:nvPicPr>
            <p:cNvPr id="436" name="图片 420"/>
            <p:cNvPicPr>
              <a:picLocks noChangeAspect="1"/>
            </p:cNvPicPr>
            <p:nvPr/>
          </p:nvPicPr>
          <p:blipFill>
            <a:blip r:embed="rId12"/>
            <a:stretch>
              <a:fillRect/>
            </a:stretch>
          </p:blipFill>
          <p:spPr>
            <a:xfrm>
              <a:off x="15075" y="6092"/>
              <a:ext cx="1160" cy="365"/>
            </a:xfrm>
            <a:prstGeom prst="rect">
              <a:avLst/>
            </a:prstGeom>
          </p:spPr>
        </p:pic>
        <p:pic>
          <p:nvPicPr>
            <p:cNvPr id="437" name="图片 422"/>
            <p:cNvPicPr>
              <a:picLocks noChangeAspect="1"/>
            </p:cNvPicPr>
            <p:nvPr/>
          </p:nvPicPr>
          <p:blipFill>
            <a:blip r:embed="rId13"/>
            <a:stretch>
              <a:fillRect/>
            </a:stretch>
          </p:blipFill>
          <p:spPr>
            <a:xfrm>
              <a:off x="16908" y="6092"/>
              <a:ext cx="1484" cy="360"/>
            </a:xfrm>
            <a:prstGeom prst="rect">
              <a:avLst/>
            </a:prstGeom>
          </p:spPr>
        </p:pic>
        <p:pic>
          <p:nvPicPr>
            <p:cNvPr id="438" name="图片 424"/>
            <p:cNvPicPr>
              <a:picLocks noChangeAspect="1"/>
            </p:cNvPicPr>
            <p:nvPr/>
          </p:nvPicPr>
          <p:blipFill>
            <a:blip r:embed="rId14"/>
            <a:stretch>
              <a:fillRect/>
            </a:stretch>
          </p:blipFill>
          <p:spPr>
            <a:xfrm>
              <a:off x="14988" y="6823"/>
              <a:ext cx="1334" cy="367"/>
            </a:xfrm>
            <a:prstGeom prst="rect">
              <a:avLst/>
            </a:prstGeom>
          </p:spPr>
        </p:pic>
        <p:pic>
          <p:nvPicPr>
            <p:cNvPr id="439" name="图片 426"/>
            <p:cNvPicPr>
              <a:picLocks noChangeAspect="1"/>
            </p:cNvPicPr>
            <p:nvPr/>
          </p:nvPicPr>
          <p:blipFill>
            <a:blip r:embed="rId15"/>
            <a:stretch>
              <a:fillRect/>
            </a:stretch>
          </p:blipFill>
          <p:spPr>
            <a:xfrm>
              <a:off x="16765" y="6565"/>
              <a:ext cx="1770" cy="884"/>
            </a:xfrm>
            <a:prstGeom prst="rect">
              <a:avLst/>
            </a:prstGeom>
          </p:spPr>
        </p:pic>
        <p:pic>
          <p:nvPicPr>
            <p:cNvPr id="440" name="图片 428"/>
            <p:cNvPicPr>
              <a:picLocks noChangeAspect="1"/>
            </p:cNvPicPr>
            <p:nvPr/>
          </p:nvPicPr>
          <p:blipFill>
            <a:blip r:embed="rId16"/>
            <a:stretch>
              <a:fillRect/>
            </a:stretch>
          </p:blipFill>
          <p:spPr>
            <a:xfrm>
              <a:off x="15086" y="7562"/>
              <a:ext cx="1138" cy="360"/>
            </a:xfrm>
            <a:prstGeom prst="rect">
              <a:avLst/>
            </a:prstGeom>
          </p:spPr>
        </p:pic>
        <p:sp>
          <p:nvSpPr>
            <p:cNvPr id="304" name="hardware-scope"/>
            <p:cNvSpPr>
              <a:spLocks noGrp="1"/>
            </p:cNvSpPr>
            <p:nvPr/>
          </p:nvSpPr>
          <p:spPr>
            <a:xfrm>
              <a:off x="15095" y="8252"/>
              <a:ext cx="3840" cy="345"/>
            </a:xfrm>
            <a:prstGeom prst="rect">
              <a:avLst/>
            </a:prstGeom>
            <a:noFill/>
            <a:ln w="0">
              <a:noFill/>
            </a:ln>
          </p:spPr>
          <p:txBody>
            <a:bodyPr wrap="none" lIns="0" tIns="0" rIns="0" bIns="0" anchor="ctr">
              <a:noAutofit/>
            </a:bodyPr>
            <a:lstStyle/>
            <a:p>
              <a:pPr algn="l">
                <a:buNone/>
                <a:defRPr sz="1200" b="0">
                  <a:solidFill>
                    <a:srgbClr val="395C6D"/>
                  </a:solidFill>
                  <a:latin typeface="Arial" panose="020B0604020202090204"/>
                  <a:ea typeface="Arial" panose="020B0604020202090204"/>
                  <a:cs typeface="Arial" panose="020B0604020202090204"/>
                </a:defRPr>
              </a:pPr>
              <a:r>
                <a:rPr sz="1200" b="0">
                  <a:solidFill>
                    <a:srgbClr val="395C6D"/>
                  </a:solidFill>
                  <a:latin typeface="Arial" panose="020B0604020202090204"/>
                  <a:ea typeface="Arial" panose="020B0604020202090204"/>
                  <a:cs typeface="Arial" panose="020B0604020202090204"/>
                </a:rPr>
                <a:t>Capabilities vary by device.</a:t>
              </a:r>
              <a:endParaRPr sz="1200" b="0">
                <a:solidFill>
                  <a:srgbClr val="395C6D"/>
                </a:solidFill>
                <a:latin typeface="Arial" panose="020B0604020202090204"/>
                <a:ea typeface="Arial" panose="020B0604020202090204"/>
                <a:cs typeface="Arial" panose="020B0604020202090204"/>
              </a:endParaRPr>
            </a:p>
          </p:txBody>
        </p:sp>
      </p:grpSp>
      <p:sp>
        <p:nvSpPr>
          <p:cNvPr id="320" name="speaker-byline"/>
          <p:cNvSpPr>
            <a:spLocks noGrp="1"/>
          </p:cNvSpPr>
          <p:nvPr/>
        </p:nvSpPr>
        <p:spPr>
          <a:xfrm>
            <a:off x="630555" y="6332855"/>
            <a:ext cx="10982325" cy="361950"/>
          </a:xfrm>
          <a:prstGeom prst="rect">
            <a:avLst/>
          </a:prstGeom>
          <a:noFill/>
          <a:ln w="0">
            <a:noFill/>
          </a:ln>
        </p:spPr>
        <p:txBody>
          <a:bodyPr wrap="none" lIns="0" tIns="0" rIns="0" bIns="0" anchor="ctr">
            <a:noAutofit/>
          </a:bodyPr>
          <a:lstStyle/>
          <a:p>
            <a:pPr algn="ctr">
              <a:buNone/>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Xiao Zhang · CEO, Dynamia · HAMi Maintainer</a:t>
            </a:r>
            <a:endParaRPr sz="1800" b="0">
              <a:solidFill>
                <a:srgbClr val="005476"/>
              </a:solidFill>
              <a:latin typeface="Arial" panose="020B0604020202090204"/>
              <a:ea typeface="Arial" panose="020B0604020202090204"/>
              <a:cs typeface="Arial" panose="020B0604020202090204"/>
            </a:endParaRPr>
          </a:p>
        </p:txBody>
      </p:sp>
      <p:cxnSp>
        <p:nvCxnSpPr>
          <p:cNvPr id="10" name="直接连接符 9"/>
          <p:cNvCxnSpPr/>
          <p:nvPr/>
        </p:nvCxnSpPr>
        <p:spPr>
          <a:xfrm>
            <a:off x="3058160" y="2948940"/>
            <a:ext cx="0" cy="204470"/>
          </a:xfrm>
          <a:prstGeom prst="line">
            <a:avLst/>
          </a:prstGeom>
          <a:ln>
            <a:solidFill>
              <a:srgbClr val="21494D"/>
            </a:solidFill>
            <a:prstDash val="sysDash"/>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3058160" y="3660140"/>
            <a:ext cx="0" cy="204470"/>
          </a:xfrm>
          <a:prstGeom prst="line">
            <a:avLst/>
          </a:prstGeom>
          <a:ln>
            <a:solidFill>
              <a:srgbClr val="21494D"/>
            </a:solidFill>
            <a:prstDash val="sysDash"/>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3058160" y="4298315"/>
            <a:ext cx="0" cy="226695"/>
          </a:xfrm>
          <a:prstGeom prst="line">
            <a:avLst/>
          </a:prstGeom>
          <a:ln>
            <a:solidFill>
              <a:srgbClr val="21494D"/>
            </a:solidFill>
            <a:prstDash val="sysDash"/>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3302000" y="4757420"/>
            <a:ext cx="554990" cy="0"/>
          </a:xfrm>
          <a:prstGeom prst="straightConnector1">
            <a:avLst/>
          </a:prstGeom>
          <a:ln>
            <a:solidFill>
              <a:srgbClr val="21494D"/>
            </a:solidFill>
            <a:prstDash val="sysDash"/>
            <a:tailEnd type="arrow"/>
          </a:ln>
        </p:spPr>
        <p:style>
          <a:lnRef idx="2">
            <a:schemeClr val="accent1"/>
          </a:lnRef>
          <a:fillRef idx="0">
            <a:srgbClr val="FFFFFF"/>
          </a:fillRef>
          <a:effectRef idx="0">
            <a:srgbClr val="FFFFFF"/>
          </a:effectRef>
          <a:fontRef idx="minor">
            <a:schemeClr val="tx1"/>
          </a:fontRef>
        </p:style>
      </p:cxnSp>
      <p:pic>
        <p:nvPicPr>
          <p:cNvPr id="15" name="图片 14" descr="dynamia-logo (彩)"/>
          <p:cNvPicPr>
            <a:picLocks noChangeAspect="1"/>
          </p:cNvPicPr>
          <p:nvPr/>
        </p:nvPicPr>
        <p:blipFill>
          <a:blip r:embed="rId17"/>
          <a:stretch>
            <a:fillRect/>
          </a:stretch>
        </p:blipFill>
        <p:spPr>
          <a:xfrm>
            <a:off x="447675" y="3250565"/>
            <a:ext cx="1812925" cy="655955"/>
          </a:xfrm>
          <a:prstGeom prst="rect">
            <a:avLst/>
          </a:prstGeom>
        </p:spPr>
      </p:pic>
      <p:cxnSp>
        <p:nvCxnSpPr>
          <p:cNvPr id="17" name="直接连接符 16"/>
          <p:cNvCxnSpPr/>
          <p:nvPr/>
        </p:nvCxnSpPr>
        <p:spPr>
          <a:xfrm flipV="1">
            <a:off x="1354455" y="1515745"/>
            <a:ext cx="0" cy="1672590"/>
          </a:xfrm>
          <a:prstGeom prst="line">
            <a:avLst/>
          </a:prstGeom>
          <a:ln w="38100">
            <a:solidFill>
              <a:srgbClr val="66B000"/>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nvCxnSpPr>
        <p:spPr>
          <a:xfrm>
            <a:off x="1353820" y="1515110"/>
            <a:ext cx="5101590" cy="0"/>
          </a:xfrm>
          <a:prstGeom prst="line">
            <a:avLst/>
          </a:prstGeom>
          <a:ln w="38100">
            <a:solidFill>
              <a:srgbClr val="66B000"/>
            </a:solidFill>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nvCxnSpPr>
        <p:spPr>
          <a:xfrm>
            <a:off x="6455410" y="1512570"/>
            <a:ext cx="0" cy="1652905"/>
          </a:xfrm>
          <a:prstGeom prst="straightConnector1">
            <a:avLst/>
          </a:prstGeom>
          <a:ln w="38100">
            <a:solidFill>
              <a:srgbClr val="66B000"/>
            </a:solidFill>
            <a:tailEnd type="arrow"/>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1932305" y="1144270"/>
            <a:ext cx="4523105" cy="368300"/>
          </a:xfrm>
          <a:prstGeom prst="rect">
            <a:avLst/>
          </a:prstGeom>
          <a:noFill/>
        </p:spPr>
        <p:txBody>
          <a:bodyPr wrap="square" rtlCol="0">
            <a:spAutoFit/>
          </a:bodyPr>
          <a:p>
            <a:r>
              <a:rPr lang="en-US" altLang="zh-CN">
                <a:solidFill>
                  <a:srgbClr val="21494D"/>
                </a:solidFill>
                <a:latin typeface="Al Bayan Plain" charset="0"/>
                <a:cs typeface="Al Bayan Plain" charset="0"/>
              </a:rPr>
              <a:t>Founds · Maintains · Drives adoption</a:t>
            </a:r>
            <a:endParaRPr lang="en-US" altLang="zh-CN">
              <a:solidFill>
                <a:srgbClr val="21494D"/>
              </a:solidFill>
              <a:latin typeface="Al Bayan Plain" charset="0"/>
              <a:cs typeface="Al Bayan Plain" charset="0"/>
            </a:endParaRPr>
          </a:p>
        </p:txBody>
      </p:sp>
      <p:sp>
        <p:nvSpPr>
          <p:cNvPr id="21" name="文本框 20"/>
          <p:cNvSpPr txBox="1"/>
          <p:nvPr/>
        </p:nvSpPr>
        <p:spPr>
          <a:xfrm>
            <a:off x="447675" y="3837305"/>
            <a:ext cx="2218055" cy="275590"/>
          </a:xfrm>
          <a:prstGeom prst="rect">
            <a:avLst/>
          </a:prstGeom>
          <a:noFill/>
        </p:spPr>
        <p:txBody>
          <a:bodyPr wrap="square" rtlCol="0">
            <a:spAutoFit/>
          </a:bodyPr>
          <a:p>
            <a:r>
              <a:rPr lang="en-US" altLang="zh-CN" sz="1200">
                <a:solidFill>
                  <a:srgbClr val="21494D"/>
                </a:solidFill>
                <a:latin typeface="Al Bayan Plain" charset="0"/>
                <a:cs typeface="Al Bayan Plain" charset="0"/>
              </a:rPr>
              <a:t>Founded by HAMi Initiators</a:t>
            </a:r>
            <a:endParaRPr lang="en-US" altLang="zh-CN" sz="1200">
              <a:solidFill>
                <a:srgbClr val="21494D"/>
              </a:solidFill>
              <a:latin typeface="Al Bayan Plain" charset="0"/>
              <a:cs typeface="Al Bayan Plain" charset="0"/>
            </a:endParaRPr>
          </a:p>
        </p:txBody>
      </p:sp>
      <p:sp>
        <p:nvSpPr>
          <p:cNvPr id="23" name="文本框 22"/>
          <p:cNvSpPr txBox="1"/>
          <p:nvPr/>
        </p:nvSpPr>
        <p:spPr>
          <a:xfrm>
            <a:off x="5563870" y="3820795"/>
            <a:ext cx="2218055" cy="275590"/>
          </a:xfrm>
          <a:prstGeom prst="rect">
            <a:avLst/>
          </a:prstGeom>
          <a:noFill/>
        </p:spPr>
        <p:txBody>
          <a:bodyPr wrap="square" rtlCol="0">
            <a:spAutoFit/>
          </a:bodyPr>
          <a:p>
            <a:r>
              <a:rPr lang="en-US" altLang="zh-CN" sz="1200">
                <a:solidFill>
                  <a:srgbClr val="21494D"/>
                </a:solidFill>
                <a:latin typeface="Al Bayan Plain" charset="0"/>
                <a:cs typeface="Al Bayan Plain" charset="0"/>
              </a:rPr>
              <a:t>CNCF Incubating </a:t>
            </a:r>
            <a:r>
              <a:rPr lang="en-US" altLang="zh-CN" sz="1200">
                <a:solidFill>
                  <a:srgbClr val="21494D"/>
                </a:solidFill>
                <a:latin typeface="Al Bayan Plain" charset="0"/>
                <a:cs typeface="Al Bayan Plain" charset="0"/>
              </a:rPr>
              <a:t>Project</a:t>
            </a:r>
            <a:endParaRPr lang="en-US" altLang="zh-CN" sz="1200">
              <a:solidFill>
                <a:srgbClr val="21494D"/>
              </a:solidFill>
              <a:latin typeface="Al Bayan Plain" charset="0"/>
              <a:cs typeface="Al Bayan Plain"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圆角矩形 8"/>
          <p:cNvSpPr/>
          <p:nvPr/>
        </p:nvSpPr>
        <p:spPr>
          <a:xfrm>
            <a:off x="810260" y="1231900"/>
            <a:ext cx="1696085" cy="438150"/>
          </a:xfrm>
          <a:prstGeom prst="roundRect">
            <a:avLst/>
          </a:prstGeom>
          <a:solidFill>
            <a:schemeClr val="tx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solidFill>
                  <a:schemeClr val="bg1"/>
                </a:solidFill>
                <a:latin typeface="Arial" panose="020B0604020202090204" pitchFamily="34" charset="0"/>
                <a:ea typeface="Arial" panose="020B0604020202090204"/>
                <a:cs typeface="Arial" panose="020B0604020202090204" pitchFamily="34" charset="0"/>
                <a:sym typeface="+mn-ea"/>
              </a:rPr>
              <a:t>C</a:t>
            </a:r>
            <a:r>
              <a:rPr b="1">
                <a:solidFill>
                  <a:schemeClr val="bg1"/>
                </a:solidFill>
                <a:latin typeface="Arial" panose="020B0604020202090204" pitchFamily="34" charset="0"/>
                <a:ea typeface="Arial" panose="020B0604020202090204"/>
                <a:cs typeface="Arial" panose="020B0604020202090204" pitchFamily="34" charset="0"/>
                <a:sym typeface="+mn-ea"/>
              </a:rPr>
              <a:t>ontributors</a:t>
            </a:r>
            <a:endParaRPr lang="zh-CN" altLang="en-US"/>
          </a:p>
        </p:txBody>
      </p:sp>
      <p:sp>
        <p:nvSpPr>
          <p:cNvPr id="7" name="直线连接符 18"/>
          <p:cNvSpPr>
            <a:spLocks noGrp="1"/>
          </p:cNvSpPr>
          <p:nvPr/>
        </p:nvSpPr>
        <p:spPr>
          <a:xfrm>
            <a:off x="617855" y="880368"/>
            <a:ext cx="10984865" cy="0"/>
          </a:xfrm>
          <a:prstGeom prst="line">
            <a:avLst/>
          </a:prstGeom>
          <a:ln w="31750">
            <a:solidFill>
              <a:srgbClr val="12D05C"/>
            </a:solidFill>
          </a:ln>
        </p:spPr>
        <p:style>
          <a:lnRef idx="0">
            <a:srgbClr val="FFFFFF"/>
          </a:lnRef>
          <a:fillRef idx="0">
            <a:srgbClr val="FFFFFF"/>
          </a:fillRef>
          <a:effectRef idx="0">
            <a:srgbClr val="FFFFFF"/>
          </a:effectRef>
          <a:fontRef idx="minor">
            <a:schemeClr val="tx1"/>
          </a:fontRef>
        </p:style>
      </p:sp>
      <p:sp>
        <p:nvSpPr>
          <p:cNvPr id="8" name="title"/>
          <p:cNvSpPr>
            <a:spLocks noGrp="1"/>
          </p:cNvSpPr>
          <p:nvPr/>
        </p:nvSpPr>
        <p:spPr>
          <a:xfrm>
            <a:off x="503558" y="296542"/>
            <a:ext cx="8239125" cy="583568"/>
          </a:xfrm>
          <a:prstGeom prst="rect">
            <a:avLst/>
          </a:prstGeom>
          <a:noFill/>
          <a:ln w="0">
            <a:noFill/>
          </a:ln>
        </p:spPr>
        <p:txBody>
          <a:bodyPr wrap="none" lIns="91440" tIns="45720" rIns="91440" bIns="45720" anchor="ctr">
            <a:noAutofit/>
          </a:bodyPr>
          <a:lstStyle/>
          <a:p>
            <a:pPr algn="l">
              <a:buNone/>
              <a:defRPr sz="3200" b="0">
                <a:solidFill>
                  <a:srgbClr val="005476"/>
                </a:solidFill>
                <a:latin typeface="Arial" panose="020B0604020202090204"/>
                <a:ea typeface="Arial" panose="020B0604020202090204"/>
                <a:cs typeface="Arial" panose="020B0604020202090204"/>
              </a:defRPr>
            </a:pPr>
            <a:r>
              <a:rPr sz="3200" b="0">
                <a:solidFill>
                  <a:srgbClr val="005476"/>
                </a:solidFill>
                <a:latin typeface="Arial" panose="020B0604020202090204"/>
                <a:ea typeface="Arial" panose="020B0604020202090204"/>
                <a:cs typeface="Arial" panose="020B0604020202090204"/>
              </a:rPr>
              <a:t>HAMi in the cloud native ecosystem</a:t>
            </a:r>
            <a:endParaRPr sz="3200" b="0">
              <a:solidFill>
                <a:srgbClr val="000000"/>
              </a:solidFill>
              <a:latin typeface="Arial" panose="020B0604020202090204"/>
              <a:ea typeface="Arial" panose="020B0604020202090204"/>
              <a:cs typeface="Arial" panose="020B0604020202090204"/>
            </a:endParaRPr>
          </a:p>
        </p:txBody>
      </p:sp>
      <p:grpSp>
        <p:nvGrpSpPr>
          <p:cNvPr id="18" name="组合 17"/>
          <p:cNvGrpSpPr/>
          <p:nvPr/>
        </p:nvGrpSpPr>
        <p:grpSpPr>
          <a:xfrm>
            <a:off x="356870" y="1711325"/>
            <a:ext cx="10805188" cy="952500"/>
            <a:chOff x="562" y="2447"/>
            <a:chExt cx="17016" cy="1500"/>
          </a:xfrm>
        </p:grpSpPr>
        <p:sp>
          <p:nvSpPr>
            <p:cNvPr id="24" name="contributors-count"/>
            <p:cNvSpPr>
              <a:spLocks noGrp="1"/>
            </p:cNvSpPr>
            <p:nvPr/>
          </p:nvSpPr>
          <p:spPr>
            <a:xfrm>
              <a:off x="562" y="2447"/>
              <a:ext cx="4020" cy="1500"/>
            </a:xfrm>
            <a:prstGeom prst="rect">
              <a:avLst/>
            </a:prstGeom>
            <a:noFill/>
            <a:ln w="0">
              <a:noFill/>
            </a:ln>
          </p:spPr>
          <p:txBody>
            <a:bodyPr wrap="none" lIns="0" tIns="0" rIns="0" bIns="0" anchor="ctr">
              <a:noAutofit/>
            </a:bodyPr>
            <a:lstStyle/>
            <a:p>
              <a:pPr algn="ctr">
                <a:buNone/>
                <a:defRPr sz="4800" b="1">
                  <a:solidFill>
                    <a:srgbClr val="56A600"/>
                  </a:solidFill>
                  <a:latin typeface="Arial" panose="020B0604020202090204"/>
                  <a:ea typeface="Arial" panose="020B0604020202090204"/>
                  <a:cs typeface="Arial" panose="020B0604020202090204"/>
                </a:defRPr>
              </a:pPr>
              <a:r>
                <a:rPr lang="en-US" sz="4800" b="1">
                  <a:solidFill>
                    <a:srgbClr val="56A600"/>
                  </a:solidFill>
                  <a:latin typeface="Arial" panose="020B0604020202090204"/>
                  <a:ea typeface="Arial" panose="020B0604020202090204"/>
                  <a:cs typeface="Arial" panose="020B0604020202090204"/>
                </a:rPr>
                <a:t>723</a:t>
              </a:r>
              <a:endParaRPr lang="en-US" sz="4800" b="1">
                <a:solidFill>
                  <a:srgbClr val="56A600"/>
                </a:solidFill>
                <a:latin typeface="Arial" panose="020B0604020202090204"/>
                <a:ea typeface="Arial" panose="020B0604020202090204"/>
                <a:cs typeface="Arial" panose="020B0604020202090204"/>
              </a:endParaRPr>
            </a:p>
          </p:txBody>
        </p:sp>
        <p:sp>
          <p:nvSpPr>
            <p:cNvPr id="26" name="organizations-count"/>
            <p:cNvSpPr>
              <a:spLocks noGrp="1"/>
            </p:cNvSpPr>
            <p:nvPr/>
          </p:nvSpPr>
          <p:spPr>
            <a:xfrm>
              <a:off x="4905" y="2658"/>
              <a:ext cx="2500" cy="990"/>
            </a:xfrm>
            <a:prstGeom prst="rect">
              <a:avLst/>
            </a:prstGeom>
            <a:noFill/>
            <a:ln w="0">
              <a:noFill/>
            </a:ln>
          </p:spPr>
          <p:txBody>
            <a:bodyPr wrap="none" lIns="0" tIns="0" rIns="0" bIns="0" anchor="ctr">
              <a:noAutofit/>
            </a:bodyPr>
            <a:lstStyle/>
            <a:p>
              <a:pPr algn="l">
                <a:buNone/>
                <a:defRPr sz="3000" b="1">
                  <a:solidFill>
                    <a:srgbClr val="005476"/>
                  </a:solidFill>
                  <a:latin typeface="Arial" panose="020B0604020202090204"/>
                  <a:ea typeface="Arial" panose="020B0604020202090204"/>
                  <a:cs typeface="Arial" panose="020B0604020202090204"/>
                </a:defRPr>
              </a:pPr>
              <a:r>
                <a:rPr lang="en-US" sz="4800" b="1">
                  <a:solidFill>
                    <a:srgbClr val="66B000"/>
                  </a:solidFill>
                  <a:latin typeface="Arial" panose="020B0604020202090204"/>
                  <a:ea typeface="Arial" panose="020B0604020202090204"/>
                  <a:cs typeface="Arial" panose="020B0604020202090204"/>
                </a:rPr>
                <a:t>1075</a:t>
              </a:r>
              <a:endParaRPr lang="en-US" sz="4800" b="1">
                <a:solidFill>
                  <a:srgbClr val="66B000"/>
                </a:solidFill>
                <a:latin typeface="Arial" panose="020B0604020202090204"/>
                <a:ea typeface="Arial" panose="020B0604020202090204"/>
                <a:cs typeface="Arial" panose="020B0604020202090204"/>
              </a:endParaRPr>
            </a:p>
          </p:txBody>
        </p:sp>
        <p:sp>
          <p:nvSpPr>
            <p:cNvPr id="28" name="country-count"/>
            <p:cNvSpPr>
              <a:spLocks noGrp="1"/>
            </p:cNvSpPr>
            <p:nvPr/>
          </p:nvSpPr>
          <p:spPr>
            <a:xfrm>
              <a:off x="9448" y="2703"/>
              <a:ext cx="1553" cy="945"/>
            </a:xfrm>
            <a:prstGeom prst="rect">
              <a:avLst/>
            </a:prstGeom>
            <a:noFill/>
            <a:ln w="0">
              <a:noFill/>
            </a:ln>
          </p:spPr>
          <p:txBody>
            <a:bodyPr wrap="none" lIns="0" tIns="0" rIns="0" bIns="0" anchor="ctr">
              <a:noAutofit/>
            </a:bodyPr>
            <a:lstStyle/>
            <a:p>
              <a:pPr algn="l">
                <a:buNone/>
                <a:defRPr sz="3000" b="1">
                  <a:solidFill>
                    <a:srgbClr val="005476"/>
                  </a:solidFill>
                  <a:latin typeface="Arial" panose="020B0604020202090204"/>
                  <a:ea typeface="Arial" panose="020B0604020202090204"/>
                  <a:cs typeface="Arial" panose="020B0604020202090204"/>
                </a:defRPr>
              </a:pPr>
              <a:r>
                <a:rPr lang="en-US" sz="4800" b="1">
                  <a:solidFill>
                    <a:srgbClr val="66B000"/>
                  </a:solidFill>
                  <a:latin typeface="Arial" panose="020B0604020202090204"/>
                  <a:ea typeface="Arial" panose="020B0604020202090204"/>
                  <a:cs typeface="Arial" panose="020B0604020202090204"/>
                </a:rPr>
                <a:t>44</a:t>
              </a:r>
              <a:endParaRPr lang="en-US" sz="4800" b="1">
                <a:solidFill>
                  <a:srgbClr val="66B000"/>
                </a:solidFill>
                <a:latin typeface="Arial" panose="020B0604020202090204"/>
                <a:ea typeface="Arial" panose="020B0604020202090204"/>
                <a:cs typeface="Arial" panose="020B0604020202090204"/>
              </a:endParaRPr>
            </a:p>
          </p:txBody>
        </p:sp>
        <p:pic>
          <p:nvPicPr>
            <p:cNvPr id="65" name="图片 65"/>
            <p:cNvPicPr>
              <a:picLocks noChangeAspect="1"/>
            </p:cNvPicPr>
            <p:nvPr/>
          </p:nvPicPr>
          <p:blipFill>
            <a:blip r:embed="rId1"/>
            <a:stretch>
              <a:fillRect/>
            </a:stretch>
          </p:blipFill>
          <p:spPr>
            <a:xfrm>
              <a:off x="13538" y="2863"/>
              <a:ext cx="4040" cy="658"/>
            </a:xfrm>
            <a:prstGeom prst="rect">
              <a:avLst/>
            </a:prstGeom>
          </p:spPr>
        </p:pic>
      </p:grpSp>
      <p:pic>
        <p:nvPicPr>
          <p:cNvPr id="46" name="图片 46"/>
          <p:cNvPicPr>
            <a:picLocks noChangeAspect="1"/>
          </p:cNvPicPr>
          <p:nvPr/>
        </p:nvPicPr>
        <p:blipFill>
          <a:blip r:embed="rId2"/>
          <a:stretch>
            <a:fillRect/>
          </a:stretch>
        </p:blipFill>
        <p:spPr>
          <a:xfrm>
            <a:off x="3097530" y="3069590"/>
            <a:ext cx="2314575" cy="390525"/>
          </a:xfrm>
          <a:prstGeom prst="rect">
            <a:avLst/>
          </a:prstGeom>
        </p:spPr>
      </p:pic>
      <p:sp>
        <p:nvSpPr>
          <p:cNvPr id="12" name="reuse-arrow"/>
          <p:cNvSpPr>
            <a:spLocks noGrp="1"/>
          </p:cNvSpPr>
          <p:nvPr/>
        </p:nvSpPr>
        <p:spPr>
          <a:xfrm>
            <a:off x="5781675" y="2964815"/>
            <a:ext cx="628650" cy="628650"/>
          </a:xfrm>
          <a:prstGeom prst="rect">
            <a:avLst/>
          </a:prstGeom>
          <a:noFill/>
          <a:ln w="0">
            <a:noFill/>
          </a:ln>
        </p:spPr>
        <p:txBody>
          <a:bodyPr wrap="none" lIns="0" tIns="0" rIns="0" bIns="0" anchor="ctr">
            <a:noAutofit/>
          </a:bodyPr>
          <a:lstStyle/>
          <a:p>
            <a:pPr algn="l">
              <a:buNone/>
              <a:defRPr sz="3200" b="0">
                <a:solidFill>
                  <a:srgbClr val="56A600"/>
                </a:solidFill>
                <a:latin typeface="Arial" panose="020B0604020202090204"/>
                <a:ea typeface="Arial" panose="020B0604020202090204"/>
                <a:cs typeface="Arial" panose="020B0604020202090204"/>
              </a:defRPr>
            </a:pPr>
            <a:r>
              <a:rPr sz="3200" b="0">
                <a:solidFill>
                  <a:srgbClr val="56A600"/>
                </a:solidFill>
                <a:latin typeface="Arial" panose="020B0604020202090204"/>
                <a:ea typeface="Arial" panose="020B0604020202090204"/>
                <a:cs typeface="Arial" panose="020B0604020202090204"/>
              </a:rPr>
              <a:t>→</a:t>
            </a:r>
            <a:endParaRPr sz="3200" b="0">
              <a:solidFill>
                <a:srgbClr val="56A600"/>
              </a:solidFill>
              <a:latin typeface="Arial" panose="020B0604020202090204"/>
              <a:ea typeface="Arial" panose="020B0604020202090204"/>
              <a:cs typeface="Arial" panose="020B0604020202090204"/>
            </a:endParaRPr>
          </a:p>
        </p:txBody>
      </p:sp>
      <p:sp>
        <p:nvSpPr>
          <p:cNvPr id="13" name="hami-core"/>
          <p:cNvSpPr>
            <a:spLocks noGrp="1"/>
          </p:cNvSpPr>
          <p:nvPr/>
        </p:nvSpPr>
        <p:spPr>
          <a:xfrm>
            <a:off x="6493510" y="2936240"/>
            <a:ext cx="3829050" cy="657225"/>
          </a:xfrm>
          <a:prstGeom prst="rect">
            <a:avLst/>
          </a:prstGeom>
          <a:noFill/>
          <a:ln w="0">
            <a:noFill/>
          </a:ln>
        </p:spPr>
        <p:txBody>
          <a:bodyPr wrap="none" lIns="0" tIns="0" rIns="0" bIns="0" anchor="ctr">
            <a:noAutofit/>
          </a:bodyPr>
          <a:lstStyle/>
          <a:p>
            <a:pPr algn="l">
              <a:buNone/>
              <a:defRPr sz="3300" b="1">
                <a:solidFill>
                  <a:srgbClr val="005476"/>
                </a:solidFill>
                <a:latin typeface="Arial" panose="020B0604020202090204"/>
                <a:ea typeface="Arial" panose="020B0604020202090204"/>
                <a:cs typeface="Arial" panose="020B0604020202090204"/>
              </a:defRPr>
            </a:pPr>
            <a:r>
              <a:rPr sz="3300" b="1">
                <a:solidFill>
                  <a:srgbClr val="005476"/>
                </a:solidFill>
                <a:latin typeface="Arial" panose="020B0604020202090204"/>
                <a:ea typeface="Arial" panose="020B0604020202090204"/>
                <a:cs typeface="Arial" panose="020B0604020202090204"/>
              </a:rPr>
              <a:t>HAMi-core</a:t>
            </a:r>
            <a:endParaRPr sz="3500" b="1">
              <a:solidFill>
                <a:srgbClr val="005476"/>
              </a:solidFill>
              <a:latin typeface="Arial" panose="020B0604020202090204"/>
              <a:ea typeface="Arial" panose="020B0604020202090204"/>
              <a:cs typeface="Arial" panose="020B0604020202090204"/>
            </a:endParaRPr>
          </a:p>
        </p:txBody>
      </p:sp>
      <p:sp>
        <p:nvSpPr>
          <p:cNvPr id="14" name="integration-detail"/>
          <p:cNvSpPr>
            <a:spLocks noGrp="1"/>
          </p:cNvSpPr>
          <p:nvPr/>
        </p:nvSpPr>
        <p:spPr>
          <a:xfrm>
            <a:off x="4201795" y="3585210"/>
            <a:ext cx="7400925" cy="371475"/>
          </a:xfrm>
          <a:prstGeom prst="rect">
            <a:avLst/>
          </a:prstGeom>
          <a:noFill/>
          <a:ln w="0">
            <a:noFill/>
          </a:ln>
        </p:spPr>
        <p:txBody>
          <a:bodyPr wrap="none" lIns="0" tIns="0" rIns="0" bIns="0" anchor="ctr">
            <a:noAutofit/>
          </a:bodyPr>
          <a:lstStyle/>
          <a:p>
            <a:pPr algn="l">
              <a:buNone/>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Per-container GPU memory limits</a:t>
            </a:r>
            <a:endParaRPr sz="2000" b="0">
              <a:solidFill>
                <a:srgbClr val="005476"/>
              </a:solidFill>
              <a:latin typeface="Arial" panose="020B0604020202090204"/>
              <a:ea typeface="Arial" panose="020B0604020202090204"/>
              <a:cs typeface="Arial" panose="020B0604020202090204"/>
            </a:endParaRPr>
          </a:p>
        </p:txBody>
      </p:sp>
      <p:sp>
        <p:nvSpPr>
          <p:cNvPr id="15" name="scheduler-heading"/>
          <p:cNvSpPr>
            <a:spLocks noGrp="1"/>
          </p:cNvSpPr>
          <p:nvPr/>
        </p:nvSpPr>
        <p:spPr>
          <a:xfrm>
            <a:off x="519430" y="4417695"/>
            <a:ext cx="7400925" cy="333375"/>
          </a:xfrm>
          <a:prstGeom prst="rect">
            <a:avLst/>
          </a:prstGeom>
          <a:noFill/>
          <a:ln w="0">
            <a:noFill/>
          </a:ln>
        </p:spPr>
        <p:txBody>
          <a:bodyPr wrap="none" lIns="0" tIns="0" rIns="0" bIns="0" anchor="ctr">
            <a:noAutofit/>
          </a:bodyPr>
          <a:lstStyle/>
          <a:p>
            <a:pPr algn="l">
              <a:buNone/>
              <a:defRPr sz="2100" b="1">
                <a:solidFill>
                  <a:srgbClr val="005476"/>
                </a:solidFill>
                <a:latin typeface="Arial" panose="020B0604020202090204"/>
                <a:ea typeface="Arial" panose="020B0604020202090204"/>
                <a:cs typeface="Arial" panose="020B0604020202090204"/>
              </a:defRPr>
            </a:pPr>
            <a:r>
              <a:rPr sz="2100" b="1">
                <a:solidFill>
                  <a:srgbClr val="005476"/>
                </a:solidFill>
                <a:latin typeface="Arial" panose="020B0604020202090204"/>
                <a:ea typeface="Arial" panose="020B0604020202090204"/>
                <a:cs typeface="Arial" panose="020B0604020202090204"/>
              </a:rPr>
              <a:t>Schedulers</a:t>
            </a:r>
            <a:endParaRPr sz="1900" b="1">
              <a:solidFill>
                <a:srgbClr val="005476"/>
              </a:solidFill>
              <a:latin typeface="Arial" panose="020B0604020202090204"/>
              <a:ea typeface="Arial" panose="020B0604020202090204"/>
              <a:cs typeface="Arial" panose="020B0604020202090204"/>
            </a:endParaRPr>
          </a:p>
        </p:txBody>
      </p:sp>
      <p:pic>
        <p:nvPicPr>
          <p:cNvPr id="51" name="图片 51"/>
          <p:cNvPicPr>
            <a:picLocks noChangeAspect="1"/>
          </p:cNvPicPr>
          <p:nvPr/>
        </p:nvPicPr>
        <p:blipFill>
          <a:blip r:embed="rId3"/>
          <a:stretch>
            <a:fillRect/>
          </a:stretch>
        </p:blipFill>
        <p:spPr>
          <a:xfrm>
            <a:off x="533400" y="4923790"/>
            <a:ext cx="1750060" cy="298450"/>
          </a:xfrm>
          <a:prstGeom prst="rect">
            <a:avLst/>
          </a:prstGeom>
        </p:spPr>
      </p:pic>
      <p:pic>
        <p:nvPicPr>
          <p:cNvPr id="52" name="图片 52"/>
          <p:cNvPicPr>
            <a:picLocks noChangeAspect="1"/>
          </p:cNvPicPr>
          <p:nvPr/>
        </p:nvPicPr>
        <p:blipFill>
          <a:blip r:embed="rId4"/>
          <a:stretch>
            <a:fillRect/>
          </a:stretch>
        </p:blipFill>
        <p:spPr>
          <a:xfrm>
            <a:off x="2588260" y="4890135"/>
            <a:ext cx="1729105" cy="366395"/>
          </a:xfrm>
          <a:prstGeom prst="rect">
            <a:avLst/>
          </a:prstGeom>
        </p:spPr>
      </p:pic>
      <p:pic>
        <p:nvPicPr>
          <p:cNvPr id="53" name="图片 53"/>
          <p:cNvPicPr>
            <a:picLocks noChangeAspect="1"/>
          </p:cNvPicPr>
          <p:nvPr/>
        </p:nvPicPr>
        <p:blipFill>
          <a:blip r:embed="rId5"/>
          <a:stretch>
            <a:fillRect/>
          </a:stretch>
        </p:blipFill>
        <p:spPr>
          <a:xfrm>
            <a:off x="4623435" y="4864735"/>
            <a:ext cx="1342390" cy="450850"/>
          </a:xfrm>
          <a:prstGeom prst="rect">
            <a:avLst/>
          </a:prstGeom>
        </p:spPr>
      </p:pic>
      <p:sp>
        <p:nvSpPr>
          <p:cNvPr id="19" name="platform-heading"/>
          <p:cNvSpPr>
            <a:spLocks noGrp="1"/>
          </p:cNvSpPr>
          <p:nvPr/>
        </p:nvSpPr>
        <p:spPr>
          <a:xfrm>
            <a:off x="8978900" y="5507990"/>
            <a:ext cx="2981960" cy="294640"/>
          </a:xfrm>
          <a:prstGeom prst="rect">
            <a:avLst/>
          </a:prstGeom>
          <a:noFill/>
          <a:ln w="0">
            <a:noFill/>
          </a:ln>
        </p:spPr>
        <p:txBody>
          <a:bodyPr wrap="none" lIns="0" tIns="0" rIns="0" bIns="0" anchor="ctr">
            <a:noAutofit/>
          </a:bodyPr>
          <a:lstStyle/>
          <a:p>
            <a:pPr algn="l">
              <a:buNone/>
              <a:defRPr sz="2100" b="1">
                <a:solidFill>
                  <a:srgbClr val="005476"/>
                </a:solidFill>
                <a:latin typeface="Arial" panose="020B0604020202090204"/>
                <a:ea typeface="Arial" panose="020B0604020202090204"/>
                <a:cs typeface="Arial" panose="020B0604020202090204"/>
              </a:defRPr>
            </a:pPr>
            <a:r>
              <a:rPr sz="2100" b="1">
                <a:solidFill>
                  <a:srgbClr val="005476"/>
                </a:solidFill>
                <a:latin typeface="Arial" panose="020B0604020202090204"/>
                <a:ea typeface="Arial" panose="020B0604020202090204"/>
                <a:cs typeface="Arial" panose="020B0604020202090204"/>
              </a:rPr>
              <a:t>Cloud &amp; AI platforms</a:t>
            </a:r>
            <a:endParaRPr sz="1900" b="1">
              <a:solidFill>
                <a:srgbClr val="005476"/>
              </a:solidFill>
              <a:latin typeface="Arial" panose="020B0604020202090204"/>
              <a:ea typeface="Arial" panose="020B0604020202090204"/>
              <a:cs typeface="Arial" panose="020B0604020202090204"/>
            </a:endParaRPr>
          </a:p>
        </p:txBody>
      </p:sp>
      <p:pic>
        <p:nvPicPr>
          <p:cNvPr id="55" name="图片 55"/>
          <p:cNvPicPr>
            <a:picLocks noChangeAspect="1"/>
          </p:cNvPicPr>
          <p:nvPr/>
        </p:nvPicPr>
        <p:blipFill>
          <a:blip r:embed="rId6"/>
          <a:stretch>
            <a:fillRect/>
          </a:stretch>
        </p:blipFill>
        <p:spPr>
          <a:xfrm>
            <a:off x="6278245" y="6073775"/>
            <a:ext cx="1322070" cy="294640"/>
          </a:xfrm>
          <a:prstGeom prst="rect">
            <a:avLst/>
          </a:prstGeom>
        </p:spPr>
      </p:pic>
      <p:pic>
        <p:nvPicPr>
          <p:cNvPr id="2" name="图片 1" descr="ebf138a97e44dab96aaa56d4082d8ed1"/>
          <p:cNvPicPr>
            <a:picLocks noChangeAspect="1"/>
          </p:cNvPicPr>
          <p:nvPr/>
        </p:nvPicPr>
        <p:blipFill>
          <a:blip r:embed="rId7"/>
          <a:stretch>
            <a:fillRect/>
          </a:stretch>
        </p:blipFill>
        <p:spPr>
          <a:xfrm>
            <a:off x="10389235" y="5842000"/>
            <a:ext cx="1342390" cy="715645"/>
          </a:xfrm>
          <a:prstGeom prst="rect">
            <a:avLst/>
          </a:prstGeom>
        </p:spPr>
      </p:pic>
      <p:pic>
        <p:nvPicPr>
          <p:cNvPr id="3" name="图片 2" descr="daocloud"/>
          <p:cNvPicPr>
            <a:picLocks noChangeAspect="1"/>
          </p:cNvPicPr>
          <p:nvPr/>
        </p:nvPicPr>
        <p:blipFill>
          <a:blip r:embed="rId8"/>
          <a:stretch>
            <a:fillRect/>
          </a:stretch>
        </p:blipFill>
        <p:spPr>
          <a:xfrm>
            <a:off x="8042910" y="5951220"/>
            <a:ext cx="1835785" cy="560705"/>
          </a:xfrm>
          <a:prstGeom prst="rect">
            <a:avLst/>
          </a:prstGeom>
        </p:spPr>
      </p:pic>
      <p:sp>
        <p:nvSpPr>
          <p:cNvPr id="5" name="矩形 4"/>
          <p:cNvSpPr/>
          <p:nvPr/>
        </p:nvSpPr>
        <p:spPr>
          <a:xfrm>
            <a:off x="313055" y="4324350"/>
            <a:ext cx="6181090" cy="1282700"/>
          </a:xfrm>
          <a:prstGeom prst="rect">
            <a:avLst/>
          </a:prstGeom>
          <a:noFill/>
          <a:ln w="25400">
            <a:solidFill>
              <a:srgbClr val="92D05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5819140" y="5336540"/>
            <a:ext cx="6181090" cy="1237615"/>
          </a:xfrm>
          <a:prstGeom prst="rect">
            <a:avLst/>
          </a:prstGeom>
          <a:noFill/>
          <a:ln w="25400">
            <a:solidFill>
              <a:srgbClr val="92D05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圆角矩形 9"/>
          <p:cNvSpPr/>
          <p:nvPr/>
        </p:nvSpPr>
        <p:spPr>
          <a:xfrm>
            <a:off x="2909570" y="1223010"/>
            <a:ext cx="1835785" cy="438150"/>
          </a:xfrm>
          <a:prstGeom prst="roundRect">
            <a:avLst/>
          </a:prstGeom>
          <a:solidFill>
            <a:schemeClr val="tx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buNone/>
              <a:defRPr sz="1800" b="0">
                <a:solidFill>
                  <a:srgbClr val="005476"/>
                </a:solidFill>
                <a:latin typeface="Arial" panose="020B0604020202090204"/>
                <a:ea typeface="Arial" panose="020B0604020202090204"/>
                <a:cs typeface="Arial" panose="020B0604020202090204"/>
              </a:defRPr>
            </a:pPr>
            <a:r>
              <a:rPr lang="en-US" b="1">
                <a:solidFill>
                  <a:schemeClr val="bg1"/>
                </a:solidFill>
                <a:latin typeface="Arial" panose="020B0604020202090204" pitchFamily="34" charset="0"/>
                <a:ea typeface="Arial" panose="020B0604020202090204"/>
                <a:cs typeface="Arial" panose="020B0604020202090204" pitchFamily="34" charset="0"/>
                <a:sym typeface="+mn-ea"/>
              </a:rPr>
              <a:t>O</a:t>
            </a:r>
            <a:r>
              <a:rPr b="1">
                <a:solidFill>
                  <a:schemeClr val="bg1"/>
                </a:solidFill>
                <a:latin typeface="Arial" panose="020B0604020202090204" pitchFamily="34" charset="0"/>
                <a:ea typeface="Arial" panose="020B0604020202090204"/>
                <a:cs typeface="Arial" panose="020B0604020202090204" pitchFamily="34" charset="0"/>
                <a:sym typeface="+mn-ea"/>
              </a:rPr>
              <a:t>rganizations</a:t>
            </a:r>
            <a:endParaRPr lang="zh-CN" altLang="en-US" b="1">
              <a:solidFill>
                <a:schemeClr val="bg1"/>
              </a:solidFill>
              <a:latin typeface="Arial" panose="020B0604020202090204" pitchFamily="34" charset="0"/>
              <a:ea typeface="Arial" panose="020B0604020202090204"/>
              <a:cs typeface="Arial" panose="020B0604020202090204" pitchFamily="34" charset="0"/>
              <a:sym typeface="+mn-ea"/>
            </a:endParaRPr>
          </a:p>
        </p:txBody>
      </p:sp>
      <p:sp>
        <p:nvSpPr>
          <p:cNvPr id="11" name="圆角矩形 10"/>
          <p:cNvSpPr/>
          <p:nvPr/>
        </p:nvSpPr>
        <p:spPr>
          <a:xfrm>
            <a:off x="5147310" y="1230630"/>
            <a:ext cx="2690495" cy="438150"/>
          </a:xfrm>
          <a:prstGeom prst="roundRect">
            <a:avLst/>
          </a:prstGeom>
          <a:solidFill>
            <a:schemeClr val="tx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buNone/>
              <a:defRPr sz="1500" b="0">
                <a:solidFill>
                  <a:srgbClr val="005476"/>
                </a:solidFill>
                <a:latin typeface="Arial" panose="020B0604020202090204"/>
                <a:ea typeface="Arial" panose="020B0604020202090204"/>
                <a:cs typeface="Arial" panose="020B0604020202090204"/>
              </a:defRPr>
            </a:pPr>
            <a:r>
              <a:rPr lang="en-US" sz="1800" b="1">
                <a:solidFill>
                  <a:schemeClr val="bg1"/>
                </a:solidFill>
                <a:latin typeface="Arial" panose="020B0604020202090204" pitchFamily="34" charset="0"/>
                <a:cs typeface="Arial" panose="020B0604020202090204" pitchFamily="34" charset="0"/>
                <a:sym typeface="+mn-ea"/>
              </a:rPr>
              <a:t>C</a:t>
            </a:r>
            <a:r>
              <a:rPr sz="1800" b="1">
                <a:solidFill>
                  <a:schemeClr val="bg1"/>
                </a:solidFill>
                <a:latin typeface="Arial" panose="020B0604020202090204" pitchFamily="34" charset="0"/>
                <a:cs typeface="Arial" panose="020B0604020202090204" pitchFamily="34" charset="0"/>
                <a:sym typeface="+mn-ea"/>
              </a:rPr>
              <a:t>ountries </a:t>
            </a:r>
            <a:r>
              <a:rPr lang="en-US" sz="1800" b="1">
                <a:solidFill>
                  <a:schemeClr val="bg1"/>
                </a:solidFill>
                <a:latin typeface="Arial" panose="020B0604020202090204" pitchFamily="34" charset="0"/>
                <a:cs typeface="Arial" panose="020B0604020202090204" pitchFamily="34" charset="0"/>
                <a:sym typeface="+mn-ea"/>
              </a:rPr>
              <a:t>a</a:t>
            </a:r>
            <a:r>
              <a:rPr sz="1800" b="1">
                <a:solidFill>
                  <a:schemeClr val="bg1"/>
                </a:solidFill>
                <a:latin typeface="Arial" panose="020B0604020202090204" pitchFamily="34" charset="0"/>
                <a:cs typeface="Arial" panose="020B0604020202090204" pitchFamily="34" charset="0"/>
                <a:sym typeface="+mn-ea"/>
              </a:rPr>
              <a:t>nd </a:t>
            </a:r>
            <a:r>
              <a:rPr lang="en-US" sz="1800" b="1">
                <a:solidFill>
                  <a:schemeClr val="bg1"/>
                </a:solidFill>
                <a:latin typeface="Arial" panose="020B0604020202090204" pitchFamily="34" charset="0"/>
                <a:cs typeface="Arial" panose="020B0604020202090204" pitchFamily="34" charset="0"/>
                <a:sym typeface="+mn-ea"/>
              </a:rPr>
              <a:t>r</a:t>
            </a:r>
            <a:r>
              <a:rPr sz="1800" b="1">
                <a:solidFill>
                  <a:schemeClr val="bg1"/>
                </a:solidFill>
                <a:latin typeface="Arial" panose="020B0604020202090204" pitchFamily="34" charset="0"/>
                <a:cs typeface="Arial" panose="020B0604020202090204" pitchFamily="34" charset="0"/>
                <a:sym typeface="+mn-ea"/>
              </a:rPr>
              <a:t>egions</a:t>
            </a:r>
            <a:endParaRPr lang="zh-CN" altLang="en-US" b="1">
              <a:solidFill>
                <a:schemeClr val="bg1"/>
              </a:solidFill>
              <a:latin typeface="Arial" panose="020B0604020202090204" pitchFamily="34" charset="0"/>
              <a:ea typeface="Arial" panose="020B0604020202090204"/>
              <a:cs typeface="Arial" panose="020B0604020202090204" pitchFamily="34" charset="0"/>
              <a:sym typeface="+mn-ea"/>
            </a:endParaRPr>
          </a:p>
        </p:txBody>
      </p:sp>
      <p:sp>
        <p:nvSpPr>
          <p:cNvPr id="17" name="圆角矩形 16"/>
          <p:cNvSpPr/>
          <p:nvPr/>
        </p:nvSpPr>
        <p:spPr>
          <a:xfrm>
            <a:off x="8202930" y="1237615"/>
            <a:ext cx="3353435" cy="438150"/>
          </a:xfrm>
          <a:prstGeom prst="roundRect">
            <a:avLst/>
          </a:prstGeom>
          <a:solidFill>
            <a:schemeClr val="tx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buNone/>
              <a:defRPr sz="1500" b="0">
                <a:solidFill>
                  <a:srgbClr val="395C6D"/>
                </a:solidFill>
                <a:latin typeface="Arial" panose="020B0604020202090204"/>
                <a:ea typeface="Arial" panose="020B0604020202090204"/>
                <a:cs typeface="Arial" panose="020B0604020202090204"/>
              </a:defRPr>
            </a:pPr>
            <a:r>
              <a:rPr sz="1800" b="1">
                <a:solidFill>
                  <a:schemeClr val="bg1"/>
                </a:solidFill>
                <a:latin typeface="Arial" panose="020B0604020202090204" pitchFamily="34" charset="0"/>
                <a:cs typeface="Arial" panose="020B0604020202090204" pitchFamily="34" charset="0"/>
                <a:sym typeface="+mn-ea"/>
              </a:rPr>
              <a:t>Incubating since July 2026</a:t>
            </a:r>
            <a:endParaRPr lang="zh-CN" altLang="en-US" sz="1800" b="1">
              <a:solidFill>
                <a:schemeClr val="bg1"/>
              </a:solidFill>
              <a:latin typeface="Arial" panose="020B0604020202090204" pitchFamily="34" charset="0"/>
              <a:ea typeface="Arial" panose="020B0604020202090204"/>
              <a:cs typeface="Arial" panose="020B0604020202090204" pitchFamily="34" charset="0"/>
              <a:sym typeface="+mn-ea"/>
            </a:endParaRPr>
          </a:p>
        </p:txBody>
      </p:sp>
      <p:pic>
        <p:nvPicPr>
          <p:cNvPr id="338" name="图片 154"/>
          <p:cNvPicPr>
            <a:picLocks noChangeAspect="1"/>
          </p:cNvPicPr>
          <p:nvPr/>
        </p:nvPicPr>
        <p:blipFill>
          <a:blip r:embed="rId9"/>
          <a:stretch>
            <a:fillRect/>
          </a:stretch>
        </p:blipFill>
        <p:spPr>
          <a:xfrm>
            <a:off x="9277350" y="440690"/>
            <a:ext cx="2364740" cy="342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线连接符 18"/>
          <p:cNvSpPr>
            <a:spLocks noGrp="1"/>
          </p:cNvSpPr>
          <p:nvPr/>
        </p:nvSpPr>
        <p:spPr>
          <a:xfrm>
            <a:off x="617855" y="880368"/>
            <a:ext cx="10984865" cy="0"/>
          </a:xfrm>
          <a:prstGeom prst="line">
            <a:avLst/>
          </a:prstGeom>
          <a:ln w="31750">
            <a:solidFill>
              <a:srgbClr val="12D05C"/>
            </a:solidFill>
          </a:ln>
        </p:spPr>
        <p:style>
          <a:lnRef idx="0">
            <a:srgbClr val="FFFFFF"/>
          </a:lnRef>
          <a:fillRef idx="0">
            <a:srgbClr val="FFFFFF"/>
          </a:fillRef>
          <a:effectRef idx="0">
            <a:srgbClr val="FFFFFF"/>
          </a:effectRef>
          <a:fontRef idx="minor">
            <a:schemeClr val="tx1"/>
          </a:fontRef>
        </p:style>
      </p:sp>
      <p:sp>
        <p:nvSpPr>
          <p:cNvPr id="8" name="title"/>
          <p:cNvSpPr>
            <a:spLocks noGrp="1"/>
          </p:cNvSpPr>
          <p:nvPr/>
        </p:nvSpPr>
        <p:spPr>
          <a:xfrm>
            <a:off x="503558" y="296542"/>
            <a:ext cx="8239125" cy="583568"/>
          </a:xfrm>
          <a:prstGeom prst="rect">
            <a:avLst/>
          </a:prstGeom>
          <a:noFill/>
          <a:ln w="0">
            <a:noFill/>
          </a:ln>
        </p:spPr>
        <p:txBody>
          <a:bodyPr wrap="none" lIns="91440" tIns="45720" rIns="91440" bIns="45720" anchor="ctr">
            <a:noAutofit/>
          </a:bodyPr>
          <a:lstStyle/>
          <a:p>
            <a:pPr algn="l">
              <a:buNone/>
              <a:defRPr sz="3200" b="0">
                <a:solidFill>
                  <a:srgbClr val="005476"/>
                </a:solidFill>
                <a:latin typeface="Arial" panose="020B0604020202090204"/>
                <a:ea typeface="Arial" panose="020B0604020202090204"/>
                <a:cs typeface="Arial" panose="020B0604020202090204"/>
              </a:defRPr>
            </a:pPr>
            <a:r>
              <a:rPr sz="3200" b="0">
                <a:solidFill>
                  <a:srgbClr val="005476"/>
                </a:solidFill>
                <a:latin typeface="Arial" panose="020B0604020202090204"/>
                <a:ea typeface="Arial" panose="020B0604020202090204"/>
                <a:cs typeface="Arial" panose="020B0604020202090204"/>
              </a:rPr>
              <a:t>HAMi in production</a:t>
            </a:r>
            <a:endParaRPr sz="3200" b="0">
              <a:solidFill>
                <a:srgbClr val="000000"/>
              </a:solidFill>
              <a:latin typeface="Arial" panose="020B0604020202090204"/>
              <a:ea typeface="Arial" panose="020B0604020202090204"/>
              <a:cs typeface="Arial" panose="020B0604020202090204"/>
            </a:endParaRPr>
          </a:p>
        </p:txBody>
      </p:sp>
      <p:pic>
        <p:nvPicPr>
          <p:cNvPr id="117" name="图片 116"/>
          <p:cNvPicPr>
            <a:picLocks noChangeAspect="1"/>
          </p:cNvPicPr>
          <p:nvPr/>
        </p:nvPicPr>
        <p:blipFill>
          <a:blip r:embed="rId1"/>
          <a:stretch>
            <a:fillRect/>
          </a:stretch>
        </p:blipFill>
        <p:spPr>
          <a:xfrm>
            <a:off x="3459602" y="1248728"/>
            <a:ext cx="2332745" cy="583563"/>
          </a:xfrm>
          <a:prstGeom prst="rect">
            <a:avLst/>
          </a:prstGeom>
        </p:spPr>
      </p:pic>
      <p:sp>
        <p:nvSpPr>
          <p:cNvPr id="76" name="cmb-result"/>
          <p:cNvSpPr>
            <a:spLocks noGrp="1"/>
          </p:cNvSpPr>
          <p:nvPr/>
        </p:nvSpPr>
        <p:spPr>
          <a:xfrm>
            <a:off x="6119495" y="1014095"/>
            <a:ext cx="4572000" cy="1000125"/>
          </a:xfrm>
          <a:prstGeom prst="rect">
            <a:avLst/>
          </a:prstGeom>
          <a:noFill/>
          <a:ln w="0">
            <a:noFill/>
          </a:ln>
        </p:spPr>
        <p:txBody>
          <a:bodyPr wrap="none" lIns="0" tIns="0" rIns="0" bIns="0" anchor="ctr">
            <a:noAutofit/>
          </a:bodyPr>
          <a:lstStyle/>
          <a:p>
            <a:pPr algn="l">
              <a:buNone/>
              <a:defRPr sz="6600" b="1">
                <a:solidFill>
                  <a:srgbClr val="56A600"/>
                </a:solidFill>
                <a:latin typeface="Arial" panose="020B0604020202090204"/>
                <a:ea typeface="Arial" panose="020B0604020202090204"/>
                <a:cs typeface="Arial" panose="020B0604020202090204"/>
              </a:defRPr>
            </a:pPr>
            <a:r>
              <a:rPr sz="6600" b="1">
                <a:solidFill>
                  <a:srgbClr val="56A600"/>
                </a:solidFill>
                <a:latin typeface="Arial" panose="020B0604020202090204"/>
                <a:ea typeface="Arial" panose="020B0604020202090204"/>
                <a:cs typeface="Arial" panose="020B0604020202090204"/>
              </a:rPr>
              <a:t>+46.7%</a:t>
            </a:r>
            <a:endParaRPr sz="6600" b="1">
              <a:solidFill>
                <a:srgbClr val="56A600"/>
              </a:solidFill>
              <a:latin typeface="Arial" panose="020B0604020202090204"/>
              <a:ea typeface="Arial" panose="020B0604020202090204"/>
              <a:cs typeface="Arial" panose="020B0604020202090204"/>
            </a:endParaRPr>
          </a:p>
        </p:txBody>
      </p:sp>
      <p:sp>
        <p:nvSpPr>
          <p:cNvPr id="77" name="cmb-metric"/>
          <p:cNvSpPr>
            <a:spLocks noGrp="1"/>
          </p:cNvSpPr>
          <p:nvPr/>
        </p:nvSpPr>
        <p:spPr>
          <a:xfrm>
            <a:off x="4471035" y="2058035"/>
            <a:ext cx="4714875" cy="323850"/>
          </a:xfrm>
          <a:prstGeom prst="rect">
            <a:avLst/>
          </a:prstGeom>
          <a:noFill/>
          <a:ln w="0">
            <a:noFill/>
          </a:ln>
        </p:spPr>
        <p:txBody>
          <a:bodyPr wrap="none" lIns="0" tIns="0" rIns="0" bIns="0" anchor="ctr">
            <a:noAutofit/>
          </a:bodyPr>
          <a:lstStyle/>
          <a:p>
            <a:pPr algn="l">
              <a:buNone/>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Single-card inference throughput</a:t>
            </a:r>
            <a:endParaRPr sz="1800" b="0">
              <a:solidFill>
                <a:srgbClr val="005476"/>
              </a:solidFill>
              <a:latin typeface="Arial" panose="020B0604020202090204"/>
              <a:ea typeface="Arial" panose="020B0604020202090204"/>
              <a:cs typeface="Arial" panose="020B0604020202090204"/>
            </a:endParaRPr>
          </a:p>
        </p:txBody>
      </p:sp>
      <p:sp>
        <p:nvSpPr>
          <p:cNvPr id="78" name="cmb-scope"/>
          <p:cNvSpPr>
            <a:spLocks noGrp="1"/>
          </p:cNvSpPr>
          <p:nvPr/>
        </p:nvSpPr>
        <p:spPr>
          <a:xfrm>
            <a:off x="5273675" y="2345055"/>
            <a:ext cx="4714875" cy="266700"/>
          </a:xfrm>
          <a:prstGeom prst="rect">
            <a:avLst/>
          </a:prstGeom>
          <a:noFill/>
          <a:ln w="0">
            <a:noFill/>
          </a:ln>
        </p:spPr>
        <p:txBody>
          <a:bodyPr wrap="none" lIns="0" tIns="0" rIns="0" bIns="0" anchor="ctr">
            <a:noAutofit/>
          </a:bodyPr>
          <a:lstStyle/>
          <a:p>
            <a:pPr algn="l">
              <a:buNone/>
              <a:defRPr sz="1500" b="0">
                <a:solidFill>
                  <a:srgbClr val="395C6D"/>
                </a:solidFill>
                <a:latin typeface="Arial" panose="020B0604020202090204"/>
                <a:ea typeface="Arial" panose="020B0604020202090204"/>
                <a:cs typeface="Arial" panose="020B0604020202090204"/>
              </a:defRPr>
            </a:pPr>
            <a:r>
              <a:rPr sz="1500" b="0">
                <a:solidFill>
                  <a:srgbClr val="395C6D"/>
                </a:solidFill>
                <a:latin typeface="Arial" panose="020B0604020202090204"/>
                <a:ea typeface="Arial" panose="020B0604020202090204"/>
                <a:cs typeface="Arial" panose="020B0604020202090204"/>
              </a:rPr>
              <a:t>ResNet</a:t>
            </a:r>
            <a:r>
              <a:rPr lang="en-US" sz="1500" b="0">
                <a:solidFill>
                  <a:srgbClr val="395C6D"/>
                </a:solidFill>
                <a:latin typeface="Arial" panose="020B0604020202090204"/>
                <a:ea typeface="Arial" panose="020B0604020202090204"/>
                <a:cs typeface="Arial" panose="020B0604020202090204"/>
              </a:rPr>
              <a:t> </a:t>
            </a:r>
            <a:r>
              <a:rPr sz="1500" b="0">
                <a:solidFill>
                  <a:srgbClr val="395C6D"/>
                </a:solidFill>
                <a:latin typeface="Arial" panose="020B0604020202090204"/>
                <a:ea typeface="Arial" panose="020B0604020202090204"/>
                <a:cs typeface="Arial" panose="020B0604020202090204"/>
              </a:rPr>
              <a:t>50 · batch 32</a:t>
            </a:r>
            <a:endParaRPr sz="1500" b="0">
              <a:solidFill>
                <a:srgbClr val="395C6D"/>
              </a:solidFill>
              <a:latin typeface="Arial" panose="020B0604020202090204"/>
              <a:ea typeface="Arial" panose="020B0604020202090204"/>
              <a:cs typeface="Arial" panose="020B0604020202090204"/>
            </a:endParaRPr>
          </a:p>
        </p:txBody>
      </p:sp>
      <p:grpSp>
        <p:nvGrpSpPr>
          <p:cNvPr id="5" name="组合 4"/>
          <p:cNvGrpSpPr/>
          <p:nvPr/>
        </p:nvGrpSpPr>
        <p:grpSpPr>
          <a:xfrm>
            <a:off x="3714115" y="5107940"/>
            <a:ext cx="7886065" cy="1391920"/>
            <a:chOff x="7955" y="7865"/>
            <a:chExt cx="9928" cy="1752"/>
          </a:xfrm>
        </p:grpSpPr>
        <p:pic>
          <p:nvPicPr>
            <p:cNvPr id="131" name="图片 130"/>
            <p:cNvPicPr>
              <a:picLocks noChangeAspect="1"/>
            </p:cNvPicPr>
            <p:nvPr/>
          </p:nvPicPr>
          <p:blipFill>
            <a:blip r:embed="rId2"/>
            <a:stretch>
              <a:fillRect/>
            </a:stretch>
          </p:blipFill>
          <p:spPr>
            <a:xfrm>
              <a:off x="9444" y="7946"/>
              <a:ext cx="1176" cy="405"/>
            </a:xfrm>
            <a:prstGeom prst="rect">
              <a:avLst/>
            </a:prstGeom>
          </p:spPr>
        </p:pic>
        <p:pic>
          <p:nvPicPr>
            <p:cNvPr id="132" name="图片 131"/>
            <p:cNvPicPr>
              <a:picLocks noChangeAspect="1"/>
            </p:cNvPicPr>
            <p:nvPr/>
          </p:nvPicPr>
          <p:blipFill>
            <a:blip r:embed="rId3"/>
            <a:stretch>
              <a:fillRect/>
            </a:stretch>
          </p:blipFill>
          <p:spPr>
            <a:xfrm>
              <a:off x="10925" y="7972"/>
              <a:ext cx="1173" cy="405"/>
            </a:xfrm>
            <a:prstGeom prst="rect">
              <a:avLst/>
            </a:prstGeom>
          </p:spPr>
        </p:pic>
        <p:pic>
          <p:nvPicPr>
            <p:cNvPr id="133" name="图片 132"/>
            <p:cNvPicPr>
              <a:picLocks noChangeAspect="1"/>
            </p:cNvPicPr>
            <p:nvPr/>
          </p:nvPicPr>
          <p:blipFill>
            <a:blip r:embed="rId4"/>
            <a:stretch>
              <a:fillRect/>
            </a:stretch>
          </p:blipFill>
          <p:spPr>
            <a:xfrm>
              <a:off x="12403" y="7975"/>
              <a:ext cx="1955" cy="294"/>
            </a:xfrm>
            <a:prstGeom prst="rect">
              <a:avLst/>
            </a:prstGeom>
          </p:spPr>
        </p:pic>
        <p:pic>
          <p:nvPicPr>
            <p:cNvPr id="134" name="图片 133"/>
            <p:cNvPicPr>
              <a:picLocks noChangeAspect="1"/>
            </p:cNvPicPr>
            <p:nvPr/>
          </p:nvPicPr>
          <p:blipFill>
            <a:blip r:embed="rId5"/>
            <a:stretch>
              <a:fillRect/>
            </a:stretch>
          </p:blipFill>
          <p:spPr>
            <a:xfrm>
              <a:off x="14663" y="7941"/>
              <a:ext cx="1137" cy="415"/>
            </a:xfrm>
            <a:prstGeom prst="rect">
              <a:avLst/>
            </a:prstGeom>
          </p:spPr>
        </p:pic>
        <p:pic>
          <p:nvPicPr>
            <p:cNvPr id="135" name="图片 134"/>
            <p:cNvPicPr>
              <a:picLocks noChangeAspect="1"/>
            </p:cNvPicPr>
            <p:nvPr/>
          </p:nvPicPr>
          <p:blipFill>
            <a:blip r:embed="rId6"/>
            <a:stretch>
              <a:fillRect/>
            </a:stretch>
          </p:blipFill>
          <p:spPr>
            <a:xfrm>
              <a:off x="7955" y="7923"/>
              <a:ext cx="1249" cy="420"/>
            </a:xfrm>
            <a:prstGeom prst="rect">
              <a:avLst/>
            </a:prstGeom>
          </p:spPr>
        </p:pic>
        <p:pic>
          <p:nvPicPr>
            <p:cNvPr id="136" name="图片 135"/>
            <p:cNvPicPr>
              <a:picLocks noChangeAspect="1"/>
            </p:cNvPicPr>
            <p:nvPr/>
          </p:nvPicPr>
          <p:blipFill>
            <a:blip r:embed="rId7"/>
            <a:stretch>
              <a:fillRect/>
            </a:stretch>
          </p:blipFill>
          <p:spPr>
            <a:xfrm>
              <a:off x="11265" y="8558"/>
              <a:ext cx="1249" cy="405"/>
            </a:xfrm>
            <a:prstGeom prst="rect">
              <a:avLst/>
            </a:prstGeom>
          </p:spPr>
        </p:pic>
        <p:pic>
          <p:nvPicPr>
            <p:cNvPr id="137" name="图片 136"/>
            <p:cNvPicPr>
              <a:picLocks noChangeAspect="1"/>
            </p:cNvPicPr>
            <p:nvPr/>
          </p:nvPicPr>
          <p:blipFill>
            <a:blip r:embed="rId8"/>
            <a:stretch>
              <a:fillRect/>
            </a:stretch>
          </p:blipFill>
          <p:spPr>
            <a:xfrm>
              <a:off x="12674" y="8620"/>
              <a:ext cx="1950" cy="301"/>
            </a:xfrm>
            <a:prstGeom prst="rect">
              <a:avLst/>
            </a:prstGeom>
          </p:spPr>
        </p:pic>
        <p:pic>
          <p:nvPicPr>
            <p:cNvPr id="138" name="图片 137"/>
            <p:cNvPicPr>
              <a:picLocks noChangeAspect="1"/>
            </p:cNvPicPr>
            <p:nvPr/>
          </p:nvPicPr>
          <p:blipFill>
            <a:blip r:embed="rId9"/>
            <a:stretch>
              <a:fillRect/>
            </a:stretch>
          </p:blipFill>
          <p:spPr>
            <a:xfrm>
              <a:off x="14874" y="8529"/>
              <a:ext cx="747" cy="416"/>
            </a:xfrm>
            <a:prstGeom prst="rect">
              <a:avLst/>
            </a:prstGeom>
          </p:spPr>
        </p:pic>
        <p:pic>
          <p:nvPicPr>
            <p:cNvPr id="139" name="图片 138"/>
            <p:cNvPicPr>
              <a:picLocks noChangeAspect="1"/>
            </p:cNvPicPr>
            <p:nvPr/>
          </p:nvPicPr>
          <p:blipFill>
            <a:blip r:embed="rId10"/>
            <a:stretch>
              <a:fillRect/>
            </a:stretch>
          </p:blipFill>
          <p:spPr>
            <a:xfrm>
              <a:off x="16105" y="7865"/>
              <a:ext cx="1328" cy="405"/>
            </a:xfrm>
            <a:prstGeom prst="rect">
              <a:avLst/>
            </a:prstGeom>
          </p:spPr>
        </p:pic>
        <p:pic>
          <p:nvPicPr>
            <p:cNvPr id="140" name="图片 139"/>
            <p:cNvPicPr>
              <a:picLocks noChangeAspect="1"/>
            </p:cNvPicPr>
            <p:nvPr/>
          </p:nvPicPr>
          <p:blipFill>
            <a:blip r:embed="rId11"/>
            <a:stretch>
              <a:fillRect/>
            </a:stretch>
          </p:blipFill>
          <p:spPr>
            <a:xfrm>
              <a:off x="7968" y="8619"/>
              <a:ext cx="1641" cy="405"/>
            </a:xfrm>
            <a:prstGeom prst="rect">
              <a:avLst/>
            </a:prstGeom>
          </p:spPr>
        </p:pic>
        <p:pic>
          <p:nvPicPr>
            <p:cNvPr id="141" name="图片 140"/>
            <p:cNvPicPr>
              <a:picLocks noChangeAspect="1"/>
            </p:cNvPicPr>
            <p:nvPr/>
          </p:nvPicPr>
          <p:blipFill>
            <a:blip r:embed="rId12"/>
            <a:stretch>
              <a:fillRect/>
            </a:stretch>
          </p:blipFill>
          <p:spPr>
            <a:xfrm>
              <a:off x="9722" y="8594"/>
              <a:ext cx="1391" cy="405"/>
            </a:xfrm>
            <a:prstGeom prst="rect">
              <a:avLst/>
            </a:prstGeom>
          </p:spPr>
        </p:pic>
        <p:pic>
          <p:nvPicPr>
            <p:cNvPr id="142" name="图片 141"/>
            <p:cNvPicPr>
              <a:picLocks noChangeAspect="1"/>
            </p:cNvPicPr>
            <p:nvPr/>
          </p:nvPicPr>
          <p:blipFill>
            <a:blip r:embed="rId13"/>
            <a:stretch>
              <a:fillRect/>
            </a:stretch>
          </p:blipFill>
          <p:spPr>
            <a:xfrm>
              <a:off x="9892" y="9281"/>
              <a:ext cx="1249" cy="311"/>
            </a:xfrm>
            <a:prstGeom prst="rect">
              <a:avLst/>
            </a:prstGeom>
          </p:spPr>
        </p:pic>
        <p:pic>
          <p:nvPicPr>
            <p:cNvPr id="143" name="图片 142"/>
            <p:cNvPicPr>
              <a:picLocks noChangeAspect="1"/>
            </p:cNvPicPr>
            <p:nvPr/>
          </p:nvPicPr>
          <p:blipFill>
            <a:blip r:embed="rId14"/>
            <a:stretch>
              <a:fillRect/>
            </a:stretch>
          </p:blipFill>
          <p:spPr>
            <a:xfrm>
              <a:off x="11354" y="9199"/>
              <a:ext cx="1346" cy="405"/>
            </a:xfrm>
            <a:prstGeom prst="rect">
              <a:avLst/>
            </a:prstGeom>
          </p:spPr>
        </p:pic>
        <p:pic>
          <p:nvPicPr>
            <p:cNvPr id="144" name="图片 143"/>
            <p:cNvPicPr>
              <a:picLocks noChangeAspect="1"/>
            </p:cNvPicPr>
            <p:nvPr/>
          </p:nvPicPr>
          <p:blipFill>
            <a:blip r:embed="rId15"/>
            <a:stretch>
              <a:fillRect/>
            </a:stretch>
          </p:blipFill>
          <p:spPr>
            <a:xfrm>
              <a:off x="16002" y="8620"/>
              <a:ext cx="669" cy="405"/>
            </a:xfrm>
            <a:prstGeom prst="rect">
              <a:avLst/>
            </a:prstGeom>
          </p:spPr>
        </p:pic>
        <p:pic>
          <p:nvPicPr>
            <p:cNvPr id="145" name="图片 144"/>
            <p:cNvPicPr>
              <a:picLocks noChangeAspect="1"/>
            </p:cNvPicPr>
            <p:nvPr/>
          </p:nvPicPr>
          <p:blipFill>
            <a:blip r:embed="rId16"/>
            <a:stretch>
              <a:fillRect/>
            </a:stretch>
          </p:blipFill>
          <p:spPr>
            <a:xfrm>
              <a:off x="16105" y="9198"/>
              <a:ext cx="1778" cy="405"/>
            </a:xfrm>
            <a:prstGeom prst="rect">
              <a:avLst/>
            </a:prstGeom>
          </p:spPr>
        </p:pic>
        <p:pic>
          <p:nvPicPr>
            <p:cNvPr id="146" name="图片 145"/>
            <p:cNvPicPr>
              <a:picLocks noChangeAspect="1"/>
            </p:cNvPicPr>
            <p:nvPr/>
          </p:nvPicPr>
          <p:blipFill>
            <a:blip r:embed="rId17"/>
            <a:stretch>
              <a:fillRect/>
            </a:stretch>
          </p:blipFill>
          <p:spPr>
            <a:xfrm>
              <a:off x="7968" y="9213"/>
              <a:ext cx="1610" cy="405"/>
            </a:xfrm>
            <a:prstGeom prst="rect">
              <a:avLst/>
            </a:prstGeom>
          </p:spPr>
        </p:pic>
        <p:pic>
          <p:nvPicPr>
            <p:cNvPr id="147" name="图片 146"/>
            <p:cNvPicPr>
              <a:picLocks noChangeAspect="1"/>
            </p:cNvPicPr>
            <p:nvPr/>
          </p:nvPicPr>
          <p:blipFill>
            <a:blip r:embed="rId18"/>
            <a:stretch>
              <a:fillRect/>
            </a:stretch>
          </p:blipFill>
          <p:spPr>
            <a:xfrm>
              <a:off x="14358" y="9219"/>
              <a:ext cx="1640" cy="316"/>
            </a:xfrm>
            <a:prstGeom prst="rect">
              <a:avLst/>
            </a:prstGeom>
          </p:spPr>
        </p:pic>
        <p:pic>
          <p:nvPicPr>
            <p:cNvPr id="149" name="图片 148"/>
            <p:cNvPicPr>
              <a:picLocks noChangeAspect="1"/>
            </p:cNvPicPr>
            <p:nvPr/>
          </p:nvPicPr>
          <p:blipFill>
            <a:blip r:embed="rId19"/>
            <a:stretch>
              <a:fillRect/>
            </a:stretch>
          </p:blipFill>
          <p:spPr>
            <a:xfrm>
              <a:off x="12830" y="9151"/>
              <a:ext cx="1238" cy="405"/>
            </a:xfrm>
            <a:prstGeom prst="rect">
              <a:avLst/>
            </a:prstGeom>
          </p:spPr>
        </p:pic>
        <p:pic>
          <p:nvPicPr>
            <p:cNvPr id="150" name="图片 149"/>
            <p:cNvPicPr>
              <a:picLocks noChangeAspect="1"/>
            </p:cNvPicPr>
            <p:nvPr/>
          </p:nvPicPr>
          <p:blipFill>
            <a:blip r:embed="rId20"/>
            <a:stretch>
              <a:fillRect/>
            </a:stretch>
          </p:blipFill>
          <p:spPr>
            <a:xfrm>
              <a:off x="16983" y="8562"/>
              <a:ext cx="818" cy="405"/>
            </a:xfrm>
            <a:prstGeom prst="rect">
              <a:avLst/>
            </a:prstGeom>
          </p:spPr>
        </p:pic>
      </p:grpSp>
      <p:sp>
        <p:nvSpPr>
          <p:cNvPr id="10" name="圆角矩形 9"/>
          <p:cNvSpPr/>
          <p:nvPr/>
        </p:nvSpPr>
        <p:spPr>
          <a:xfrm>
            <a:off x="787400" y="5553075"/>
            <a:ext cx="2298065" cy="423545"/>
          </a:xfrm>
          <a:prstGeom prst="roundRect">
            <a:avLst/>
          </a:prstGeom>
          <a:solidFill>
            <a:schemeClr val="tx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buNone/>
              <a:defRPr sz="1800" b="0">
                <a:solidFill>
                  <a:srgbClr val="005476"/>
                </a:solidFill>
                <a:latin typeface="Arial" panose="020B0604020202090204"/>
                <a:ea typeface="Arial" panose="020B0604020202090204"/>
                <a:cs typeface="Arial" panose="020B0604020202090204"/>
              </a:defRPr>
            </a:pPr>
            <a:r>
              <a:rPr b="1">
                <a:solidFill>
                  <a:schemeClr val="bg1"/>
                </a:solidFill>
                <a:latin typeface="Arial" panose="020B0604020202090204" pitchFamily="34" charset="0"/>
                <a:cs typeface="Arial" panose="020B0604020202090204" pitchFamily="34" charset="0"/>
                <a:sym typeface="+mn-ea"/>
              </a:rPr>
              <a:t>HAMi adopters</a:t>
            </a:r>
            <a:endParaRPr lang="zh-CN" altLang="en-US" b="1">
              <a:solidFill>
                <a:schemeClr val="bg1"/>
              </a:solidFill>
              <a:latin typeface="Arial" panose="020B0604020202090204" pitchFamily="34" charset="0"/>
              <a:ea typeface="Arial" panose="020B0604020202090204"/>
              <a:cs typeface="Arial" panose="020B0604020202090204" pitchFamily="34" charset="0"/>
              <a:sym typeface="+mn-ea"/>
            </a:endParaRPr>
          </a:p>
        </p:txBody>
      </p:sp>
      <p:grpSp>
        <p:nvGrpSpPr>
          <p:cNvPr id="12" name="组合 11"/>
          <p:cNvGrpSpPr/>
          <p:nvPr/>
        </p:nvGrpSpPr>
        <p:grpSpPr>
          <a:xfrm>
            <a:off x="787400" y="3004820"/>
            <a:ext cx="12179300" cy="1679575"/>
            <a:chOff x="1240" y="4634"/>
            <a:chExt cx="19180" cy="2645"/>
          </a:xfrm>
        </p:grpSpPr>
        <p:pic>
          <p:nvPicPr>
            <p:cNvPr id="121" name="图片 120"/>
            <p:cNvPicPr>
              <a:picLocks noChangeAspect="1"/>
            </p:cNvPicPr>
            <p:nvPr/>
          </p:nvPicPr>
          <p:blipFill>
            <a:blip r:embed="rId21"/>
            <a:stretch>
              <a:fillRect/>
            </a:stretch>
          </p:blipFill>
          <p:spPr>
            <a:xfrm>
              <a:off x="8269" y="4634"/>
              <a:ext cx="2127" cy="749"/>
            </a:xfrm>
            <a:prstGeom prst="rect">
              <a:avLst/>
            </a:prstGeom>
          </p:spPr>
        </p:pic>
        <p:sp>
          <p:nvSpPr>
            <p:cNvPr id="80" name="case-nio-metric"/>
            <p:cNvSpPr>
              <a:spLocks noGrp="1"/>
            </p:cNvSpPr>
            <p:nvPr/>
          </p:nvSpPr>
          <p:spPr>
            <a:xfrm>
              <a:off x="1240" y="5545"/>
              <a:ext cx="4609" cy="786"/>
            </a:xfrm>
            <a:prstGeom prst="rect">
              <a:avLst/>
            </a:prstGeom>
            <a:noFill/>
            <a:ln w="0">
              <a:noFill/>
            </a:ln>
          </p:spPr>
          <p:txBody>
            <a:bodyPr wrap="none" lIns="0" tIns="0" rIns="0" bIns="0" anchor="ctr">
              <a:noAutofit/>
            </a:bodyPr>
            <a:lstStyle/>
            <a:p>
              <a:pPr algn="l">
                <a:buClrTx/>
                <a:buSzTx/>
                <a:buFontTx/>
                <a:buNone/>
                <a:defRPr sz="1800" b="1">
                  <a:solidFill>
                    <a:srgbClr val="005476"/>
                  </a:solidFill>
                  <a:latin typeface="Arial" panose="020B0604020202090204"/>
                  <a:ea typeface="Arial" panose="020B0604020202090204"/>
                  <a:cs typeface="Arial" panose="020B0604020202090204"/>
                </a:defRPr>
              </a:pPr>
              <a:r>
                <a:rPr sz="2800" b="1">
                  <a:latin typeface="Arial" panose="020B0604020202090204"/>
                  <a:ea typeface="Arial" panose="020B0604020202090204"/>
                  <a:cs typeface="Arial" panose="020B0604020202090204"/>
                </a:rPr>
                <a:t>30%</a:t>
              </a:r>
              <a:r>
                <a:rPr b="1">
                  <a:latin typeface="Arial" panose="020B0604020202090204"/>
                  <a:ea typeface="Arial" panose="020B0604020202090204"/>
                  <a:cs typeface="Arial" panose="020B0604020202090204"/>
                </a:rPr>
                <a:t> fewer GPU hours</a:t>
              </a:r>
              <a:endParaRPr b="1">
                <a:latin typeface="Arial" panose="020B0604020202090204"/>
                <a:ea typeface="Arial" panose="020B0604020202090204"/>
                <a:cs typeface="Arial" panose="020B0604020202090204"/>
              </a:endParaRPr>
            </a:p>
          </p:txBody>
        </p:sp>
        <p:sp>
          <p:nvSpPr>
            <p:cNvPr id="81" name="case-nio-scope"/>
            <p:cNvSpPr>
              <a:spLocks noGrp="1"/>
            </p:cNvSpPr>
            <p:nvPr/>
          </p:nvSpPr>
          <p:spPr>
            <a:xfrm>
              <a:off x="2032" y="6561"/>
              <a:ext cx="6000" cy="435"/>
            </a:xfrm>
            <a:prstGeom prst="rect">
              <a:avLst/>
            </a:prstGeom>
            <a:noFill/>
            <a:ln w="0">
              <a:noFill/>
            </a:ln>
          </p:spPr>
          <p:txBody>
            <a:bodyPr wrap="none" lIns="0" tIns="0" rIns="0" bIns="0" anchor="ctr">
              <a:noAutofit/>
            </a:bodyPr>
            <a:lstStyle/>
            <a:p>
              <a:pPr algn="l">
                <a:buClrTx/>
                <a:buSzTx/>
                <a:buFontTx/>
                <a:buNone/>
                <a:defRPr sz="1800" b="1">
                  <a:solidFill>
                    <a:srgbClr val="005476"/>
                  </a:solidFill>
                  <a:latin typeface="Arial" panose="020B0604020202090204"/>
                  <a:ea typeface="Arial" panose="020B0604020202090204"/>
                  <a:cs typeface="Arial" panose="020B0604020202090204"/>
                </a:defRPr>
              </a:pPr>
              <a:r>
                <a:rPr sz="1400" b="0">
                  <a:latin typeface="Arial" panose="020B0604020202090204"/>
                  <a:ea typeface="Arial" panose="020B0604020202090204"/>
                  <a:cs typeface="Arial" panose="020B0604020202090204"/>
                </a:rPr>
                <a:t>Driving simulation</a:t>
              </a:r>
              <a:endParaRPr sz="1400" b="0">
                <a:latin typeface="Arial" panose="020B0604020202090204"/>
                <a:ea typeface="Arial" panose="020B0604020202090204"/>
                <a:cs typeface="Arial" panose="020B0604020202090204"/>
              </a:endParaRPr>
            </a:p>
          </p:txBody>
        </p:sp>
        <p:pic>
          <p:nvPicPr>
            <p:cNvPr id="124" name="图片 123"/>
            <p:cNvPicPr>
              <a:picLocks noChangeAspect="1"/>
            </p:cNvPicPr>
            <p:nvPr/>
          </p:nvPicPr>
          <p:blipFill>
            <a:blip r:embed="rId22"/>
            <a:stretch>
              <a:fillRect/>
            </a:stretch>
          </p:blipFill>
          <p:spPr>
            <a:xfrm>
              <a:off x="2063" y="4760"/>
              <a:ext cx="2646" cy="633"/>
            </a:xfrm>
            <a:prstGeom prst="rect">
              <a:avLst/>
            </a:prstGeom>
          </p:spPr>
        </p:pic>
        <p:sp>
          <p:nvSpPr>
            <p:cNvPr id="83" name="case-snow-metric"/>
            <p:cNvSpPr>
              <a:spLocks noGrp="1"/>
            </p:cNvSpPr>
            <p:nvPr/>
          </p:nvSpPr>
          <p:spPr>
            <a:xfrm>
              <a:off x="7809" y="5691"/>
              <a:ext cx="6000" cy="510"/>
            </a:xfrm>
            <a:prstGeom prst="rect">
              <a:avLst/>
            </a:prstGeom>
            <a:noFill/>
            <a:ln w="0">
              <a:noFill/>
            </a:ln>
          </p:spPr>
          <p:txBody>
            <a:bodyPr wrap="none" lIns="0" tIns="0" rIns="0" bIns="0" anchor="ctr">
              <a:noAutofit/>
            </a:bodyPr>
            <a:lstStyle/>
            <a:p>
              <a:pPr algn="l">
                <a:buNone/>
                <a:defRPr sz="1800" b="1">
                  <a:solidFill>
                    <a:srgbClr val="005476"/>
                  </a:solidFill>
                  <a:latin typeface="Arial" panose="020B0604020202090204"/>
                  <a:ea typeface="Arial" panose="020B0604020202090204"/>
                  <a:cs typeface="Arial" panose="020B0604020202090204"/>
                </a:defRPr>
              </a:pPr>
              <a:r>
                <a:rPr sz="2800" b="1">
                  <a:solidFill>
                    <a:srgbClr val="005476"/>
                  </a:solidFill>
                  <a:latin typeface="Arial" panose="020B0604020202090204"/>
                  <a:ea typeface="Arial" panose="020B0604020202090204"/>
                  <a:cs typeface="Arial" panose="020B0604020202090204"/>
                </a:rPr>
                <a:t>50% </a:t>
              </a:r>
              <a:r>
                <a:rPr sz="1800" b="1">
                  <a:solidFill>
                    <a:srgbClr val="005476"/>
                  </a:solidFill>
                  <a:latin typeface="Arial" panose="020B0604020202090204"/>
                  <a:ea typeface="Arial" panose="020B0604020202090204"/>
                  <a:cs typeface="Arial" panose="020B0604020202090204"/>
                </a:rPr>
                <a:t>fewer GPUs</a:t>
              </a:r>
              <a:endParaRPr sz="1800" b="1">
                <a:solidFill>
                  <a:srgbClr val="005476"/>
                </a:solidFill>
                <a:latin typeface="Arial" panose="020B0604020202090204"/>
                <a:ea typeface="Arial" panose="020B0604020202090204"/>
                <a:cs typeface="Arial" panose="020B0604020202090204"/>
              </a:endParaRPr>
            </a:p>
          </p:txBody>
        </p:sp>
        <p:sp>
          <p:nvSpPr>
            <p:cNvPr id="84" name="case-snow-scope"/>
            <p:cNvSpPr>
              <a:spLocks noGrp="1"/>
            </p:cNvSpPr>
            <p:nvPr/>
          </p:nvSpPr>
          <p:spPr>
            <a:xfrm>
              <a:off x="7711" y="6561"/>
              <a:ext cx="6000" cy="435"/>
            </a:xfrm>
            <a:prstGeom prst="rect">
              <a:avLst/>
            </a:prstGeom>
            <a:noFill/>
            <a:ln w="0">
              <a:noFill/>
            </a:ln>
          </p:spPr>
          <p:txBody>
            <a:bodyPr wrap="none" lIns="0" tIns="0" rIns="0" bIns="0" anchor="ctr">
              <a:noAutofit/>
            </a:bodyPr>
            <a:lstStyle/>
            <a:p>
              <a:pPr algn="l">
                <a:buNone/>
                <a:defRPr sz="1500" b="0">
                  <a:solidFill>
                    <a:srgbClr val="395C6D"/>
                  </a:solidFill>
                  <a:latin typeface="Arial" panose="020B0604020202090204"/>
                  <a:ea typeface="Arial" panose="020B0604020202090204"/>
                  <a:cs typeface="Arial" panose="020B0604020202090204"/>
                </a:defRPr>
              </a:pPr>
              <a:r>
                <a:rPr sz="1500" b="0">
                  <a:solidFill>
                    <a:srgbClr val="395C6D"/>
                  </a:solidFill>
                  <a:latin typeface="Arial" panose="020B0604020202090204"/>
                  <a:ea typeface="Arial" panose="020B0604020202090204"/>
                  <a:cs typeface="Arial" panose="020B0604020202090204"/>
                </a:rPr>
                <a:t>Train-to-inference pipelines</a:t>
              </a:r>
              <a:endParaRPr sz="1500" b="0">
                <a:solidFill>
                  <a:srgbClr val="395C6D"/>
                </a:solidFill>
                <a:latin typeface="Arial" panose="020B0604020202090204"/>
                <a:ea typeface="Arial" panose="020B0604020202090204"/>
                <a:cs typeface="Arial" panose="020B0604020202090204"/>
              </a:endParaRPr>
            </a:p>
          </p:txBody>
        </p:sp>
        <p:pic>
          <p:nvPicPr>
            <p:cNvPr id="127" name="图片 126"/>
            <p:cNvPicPr>
              <a:picLocks noChangeAspect="1"/>
            </p:cNvPicPr>
            <p:nvPr/>
          </p:nvPicPr>
          <p:blipFill>
            <a:blip r:embed="rId23"/>
            <a:stretch>
              <a:fillRect/>
            </a:stretch>
          </p:blipFill>
          <p:spPr>
            <a:xfrm>
              <a:off x="14247" y="4725"/>
              <a:ext cx="2590" cy="787"/>
            </a:xfrm>
            <a:prstGeom prst="rect">
              <a:avLst/>
            </a:prstGeom>
          </p:spPr>
        </p:pic>
        <p:sp>
          <p:nvSpPr>
            <p:cNvPr id="86" name="case-prep-metric"/>
            <p:cNvSpPr>
              <a:spLocks noGrp="1"/>
            </p:cNvSpPr>
            <p:nvPr/>
          </p:nvSpPr>
          <p:spPr>
            <a:xfrm>
              <a:off x="13200" y="5706"/>
              <a:ext cx="6000" cy="510"/>
            </a:xfrm>
            <a:prstGeom prst="rect">
              <a:avLst/>
            </a:prstGeom>
            <a:noFill/>
            <a:ln w="0">
              <a:noFill/>
            </a:ln>
          </p:spPr>
          <p:txBody>
            <a:bodyPr wrap="none" lIns="0" tIns="0" rIns="0" bIns="0" anchor="ctr">
              <a:noAutofit/>
            </a:bodyPr>
            <a:lstStyle/>
            <a:p>
              <a:pPr algn="l">
                <a:buNone/>
                <a:defRPr sz="1800" b="1">
                  <a:solidFill>
                    <a:srgbClr val="005476"/>
                  </a:solidFill>
                  <a:latin typeface="Arial" panose="020B0604020202090204"/>
                  <a:ea typeface="Arial" panose="020B0604020202090204"/>
                  <a:cs typeface="Arial" panose="020B0604020202090204"/>
                </a:defRPr>
              </a:pPr>
              <a:r>
                <a:rPr sz="2800" b="1">
                  <a:solidFill>
                    <a:srgbClr val="005476"/>
                  </a:solidFill>
                  <a:latin typeface="Arial" panose="020B0604020202090204"/>
                  <a:ea typeface="Arial" panose="020B0604020202090204"/>
                  <a:cs typeface="Arial" panose="020B0604020202090204"/>
                </a:rPr>
                <a:t>90% </a:t>
              </a:r>
              <a:r>
                <a:rPr sz="1800" b="1">
                  <a:solidFill>
                    <a:srgbClr val="005476"/>
                  </a:solidFill>
                  <a:latin typeface="Arial" panose="020B0604020202090204"/>
                  <a:ea typeface="Arial" panose="020B0604020202090204"/>
                  <a:cs typeface="Arial" panose="020B0604020202090204"/>
                </a:rPr>
                <a:t>of GPU infrastructure</a:t>
              </a:r>
              <a:endParaRPr sz="1800" b="1">
                <a:solidFill>
                  <a:srgbClr val="005476"/>
                </a:solidFill>
                <a:latin typeface="Arial" panose="020B0604020202090204"/>
                <a:ea typeface="Arial" panose="020B0604020202090204"/>
                <a:cs typeface="Arial" panose="020B0604020202090204"/>
              </a:endParaRPr>
            </a:p>
          </p:txBody>
        </p:sp>
        <p:sp>
          <p:nvSpPr>
            <p:cNvPr id="87" name="case-prep-scope"/>
            <p:cNvSpPr>
              <a:spLocks noGrp="1"/>
            </p:cNvSpPr>
            <p:nvPr/>
          </p:nvSpPr>
          <p:spPr>
            <a:xfrm>
              <a:off x="14420" y="6555"/>
              <a:ext cx="6000" cy="435"/>
            </a:xfrm>
            <a:prstGeom prst="rect">
              <a:avLst/>
            </a:prstGeom>
            <a:noFill/>
            <a:ln w="0">
              <a:noFill/>
            </a:ln>
          </p:spPr>
          <p:txBody>
            <a:bodyPr wrap="none" lIns="0" tIns="0" rIns="0" bIns="0" anchor="ctr">
              <a:noAutofit/>
            </a:bodyPr>
            <a:lstStyle/>
            <a:p>
              <a:pPr algn="l">
                <a:buNone/>
                <a:defRPr sz="1500" b="0">
                  <a:solidFill>
                    <a:srgbClr val="395C6D"/>
                  </a:solidFill>
                  <a:latin typeface="Arial" panose="020B0604020202090204"/>
                  <a:ea typeface="Arial" panose="020B0604020202090204"/>
                  <a:cs typeface="Arial" panose="020B0604020202090204"/>
                </a:defRPr>
              </a:pPr>
              <a:r>
                <a:rPr sz="1500" b="0">
                  <a:solidFill>
                    <a:srgbClr val="395C6D"/>
                  </a:solidFill>
                  <a:latin typeface="Arial" panose="020B0604020202090204"/>
                  <a:ea typeface="Arial" panose="020B0604020202090204"/>
                  <a:cs typeface="Arial" panose="020B0604020202090204"/>
                </a:rPr>
                <a:t>Managed by HAMi</a:t>
              </a:r>
              <a:endParaRPr sz="1500" b="0">
                <a:solidFill>
                  <a:srgbClr val="395C6D"/>
                </a:solidFill>
                <a:latin typeface="Arial" panose="020B0604020202090204"/>
                <a:ea typeface="Arial" panose="020B0604020202090204"/>
                <a:cs typeface="Arial" panose="020B0604020202090204"/>
              </a:endParaRPr>
            </a:p>
          </p:txBody>
        </p:sp>
        <p:cxnSp>
          <p:nvCxnSpPr>
            <p:cNvPr id="9" name="直接连接符 8"/>
            <p:cNvCxnSpPr/>
            <p:nvPr/>
          </p:nvCxnSpPr>
          <p:spPr>
            <a:xfrm>
              <a:off x="6583" y="4676"/>
              <a:ext cx="0" cy="2603"/>
            </a:xfrm>
            <a:prstGeom prst="line">
              <a:avLst/>
            </a:prstGeom>
            <a:ln>
              <a:solidFill>
                <a:srgbClr val="21494D"/>
              </a:solidFill>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12176" y="4671"/>
              <a:ext cx="0" cy="2603"/>
            </a:xfrm>
            <a:prstGeom prst="line">
              <a:avLst/>
            </a:prstGeom>
            <a:ln>
              <a:solidFill>
                <a:srgbClr val="21494D"/>
              </a:solidFill>
            </a:ln>
          </p:spPr>
          <p:style>
            <a:lnRef idx="2">
              <a:schemeClr val="accent1"/>
            </a:lnRef>
            <a:fillRef idx="0">
              <a:srgbClr val="FFFFFF"/>
            </a:fillRef>
            <a:effectRef idx="0">
              <a:srgbClr val="FFFFFF"/>
            </a:effectRef>
            <a:fontRef idx="minor">
              <a:schemeClr val="tx1"/>
            </a:fontRef>
          </p:style>
        </p:cxnSp>
      </p:grpSp>
      <p:pic>
        <p:nvPicPr>
          <p:cNvPr id="338" name="图片 154"/>
          <p:cNvPicPr>
            <a:picLocks noChangeAspect="1"/>
          </p:cNvPicPr>
          <p:nvPr/>
        </p:nvPicPr>
        <p:blipFill>
          <a:blip r:embed="rId24"/>
          <a:stretch>
            <a:fillRect/>
          </a:stretch>
        </p:blipFill>
        <p:spPr>
          <a:xfrm>
            <a:off x="9277350" y="440690"/>
            <a:ext cx="2364740" cy="342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线连接符 18"/>
          <p:cNvSpPr>
            <a:spLocks noGrp="1"/>
          </p:cNvSpPr>
          <p:nvPr/>
        </p:nvSpPr>
        <p:spPr>
          <a:xfrm>
            <a:off x="617855" y="880368"/>
            <a:ext cx="10984865" cy="0"/>
          </a:xfrm>
          <a:prstGeom prst="line">
            <a:avLst/>
          </a:prstGeom>
          <a:ln w="31750">
            <a:solidFill>
              <a:srgbClr val="12D05C"/>
            </a:solidFill>
          </a:ln>
        </p:spPr>
        <p:style>
          <a:lnRef idx="0">
            <a:srgbClr val="FFFFFF"/>
          </a:lnRef>
          <a:fillRef idx="0">
            <a:srgbClr val="FFFFFF"/>
          </a:fillRef>
          <a:effectRef idx="0">
            <a:srgbClr val="FFFFFF"/>
          </a:effectRef>
          <a:fontRef idx="minor">
            <a:schemeClr val="tx1"/>
          </a:fontRef>
        </p:style>
      </p:sp>
      <p:sp>
        <p:nvSpPr>
          <p:cNvPr id="8" name="title"/>
          <p:cNvSpPr>
            <a:spLocks noGrp="1"/>
          </p:cNvSpPr>
          <p:nvPr/>
        </p:nvSpPr>
        <p:spPr>
          <a:xfrm>
            <a:off x="503558" y="296542"/>
            <a:ext cx="8239125" cy="583568"/>
          </a:xfrm>
          <a:prstGeom prst="rect">
            <a:avLst/>
          </a:prstGeom>
          <a:noFill/>
          <a:ln w="0">
            <a:noFill/>
          </a:ln>
        </p:spPr>
        <p:txBody>
          <a:bodyPr wrap="none" lIns="91440" tIns="45720" rIns="91440" bIns="45720" anchor="ctr">
            <a:noAutofit/>
          </a:bodyPr>
          <a:lstStyle/>
          <a:p>
            <a:pPr algn="l">
              <a:buNone/>
              <a:defRPr sz="3200" b="0">
                <a:solidFill>
                  <a:srgbClr val="005476"/>
                </a:solidFill>
                <a:latin typeface="Arial" panose="020B0604020202090204"/>
                <a:ea typeface="Arial" panose="020B0604020202090204"/>
                <a:cs typeface="Arial" panose="020B0604020202090204"/>
              </a:defRPr>
            </a:pPr>
            <a:r>
              <a:rPr sz="3200" b="0">
                <a:solidFill>
                  <a:srgbClr val="005476"/>
                </a:solidFill>
                <a:latin typeface="Arial" panose="020B0604020202090204"/>
                <a:ea typeface="Arial" panose="020B0604020202090204"/>
                <a:cs typeface="Arial" panose="020B0604020202090204"/>
              </a:rPr>
              <a:t>Dynamia’s engineering contributions</a:t>
            </a:r>
            <a:endParaRPr sz="3200" b="0">
              <a:solidFill>
                <a:srgbClr val="000000"/>
              </a:solidFill>
              <a:latin typeface="Arial" panose="020B0604020202090204"/>
              <a:ea typeface="Arial" panose="020B0604020202090204"/>
              <a:cs typeface="Arial" panose="020B0604020202090204"/>
            </a:endParaRPr>
          </a:p>
        </p:txBody>
      </p:sp>
      <p:pic>
        <p:nvPicPr>
          <p:cNvPr id="45" name="图片 29"/>
          <p:cNvPicPr>
            <a:picLocks noChangeAspect="1"/>
          </p:cNvPicPr>
          <p:nvPr/>
        </p:nvPicPr>
        <p:blipFill>
          <a:blip r:embed="rId1"/>
          <a:stretch>
            <a:fillRect/>
          </a:stretch>
        </p:blipFill>
        <p:spPr>
          <a:xfrm>
            <a:off x="619125" y="1552575"/>
            <a:ext cx="1619250" cy="494263"/>
          </a:xfrm>
          <a:prstGeom prst="rect">
            <a:avLst/>
          </a:prstGeom>
        </p:spPr>
      </p:pic>
      <p:sp>
        <p:nvSpPr>
          <p:cNvPr id="24" name="metax-contribution"/>
          <p:cNvSpPr>
            <a:spLocks noGrp="1"/>
          </p:cNvSpPr>
          <p:nvPr/>
        </p:nvSpPr>
        <p:spPr>
          <a:xfrm>
            <a:off x="2619375" y="1419225"/>
            <a:ext cx="3171825" cy="323850"/>
          </a:xfrm>
          <a:prstGeom prst="rect">
            <a:avLst/>
          </a:prstGeom>
          <a:noFill/>
          <a:ln w="0">
            <a:noFill/>
          </a:ln>
        </p:spPr>
        <p:txBody>
          <a:bodyPr wrap="none" lIns="0" tIns="0" rIns="0" bIns="0" anchor="ctr">
            <a:noAutofit/>
          </a:bodyPr>
          <a:lstStyle/>
          <a:p>
            <a:pPr algn="l">
              <a:defRPr sz="1800" b="1">
                <a:solidFill>
                  <a:srgbClr val="56A600"/>
                </a:solidFill>
                <a:latin typeface="Arial" panose="020B0604020202090204"/>
                <a:ea typeface="Arial" panose="020B0604020202090204"/>
                <a:cs typeface="Arial" panose="020B0604020202090204"/>
              </a:defRPr>
            </a:pPr>
            <a:r>
              <a:rPr sz="1800" b="1">
                <a:solidFill>
                  <a:srgbClr val="56A600"/>
                </a:solidFill>
                <a:latin typeface="Arial" panose="020B0604020202090204"/>
                <a:ea typeface="Arial" panose="020B0604020202090204"/>
                <a:cs typeface="Arial" panose="020B0604020202090204"/>
              </a:rPr>
              <a:t>MetaX integration</a:t>
            </a:r>
            <a:endParaRPr sz="1800" b="1">
              <a:solidFill>
                <a:srgbClr val="56A600"/>
              </a:solidFill>
              <a:latin typeface="Arial" panose="020B0604020202090204"/>
              <a:ea typeface="Arial" panose="020B0604020202090204"/>
              <a:cs typeface="Arial" panose="020B0604020202090204"/>
            </a:endParaRPr>
          </a:p>
        </p:txBody>
      </p:sp>
      <p:sp>
        <p:nvSpPr>
          <p:cNvPr id="25" name="metax-detail"/>
          <p:cNvSpPr>
            <a:spLocks noGrp="1"/>
          </p:cNvSpPr>
          <p:nvPr/>
        </p:nvSpPr>
        <p:spPr>
          <a:xfrm>
            <a:off x="2619375" y="1800225"/>
            <a:ext cx="3429000" cy="276225"/>
          </a:xfrm>
          <a:prstGeom prst="rect">
            <a:avLst/>
          </a:prstGeom>
          <a:noFill/>
          <a:ln w="0">
            <a:noFill/>
          </a:ln>
        </p:spPr>
        <p:txBody>
          <a:bodyPr wrap="none" lIns="0" tIns="0" rIns="0" bIns="0" anchor="ctr">
            <a:noAutofit/>
          </a:bodyPr>
          <a:lstStyle/>
          <a:p>
            <a:pPr algn="l">
              <a:defRPr sz="1500" b="0">
                <a:solidFill>
                  <a:srgbClr val="395C6D"/>
                </a:solidFill>
                <a:latin typeface="Arial" panose="020B0604020202090204"/>
                <a:ea typeface="Arial" panose="020B0604020202090204"/>
                <a:cs typeface="Arial" panose="020B0604020202090204"/>
              </a:defRPr>
            </a:pPr>
            <a:r>
              <a:rPr sz="1500" b="0">
                <a:solidFill>
                  <a:srgbClr val="395C6D"/>
                </a:solidFill>
                <a:latin typeface="Arial" panose="020B0604020202090204"/>
                <a:ea typeface="Arial" panose="020B0604020202090204"/>
                <a:cs typeface="Arial" panose="020B0604020202090204"/>
              </a:rPr>
              <a:t>Prefill / decode compatibility</a:t>
            </a:r>
            <a:endParaRPr sz="1500" b="0">
              <a:solidFill>
                <a:srgbClr val="395C6D"/>
              </a:solidFill>
              <a:latin typeface="Arial" panose="020B0604020202090204"/>
              <a:ea typeface="Arial" panose="020B0604020202090204"/>
              <a:cs typeface="Arial" panose="020B0604020202090204"/>
            </a:endParaRPr>
          </a:p>
        </p:txBody>
      </p:sp>
      <p:sp>
        <p:nvSpPr>
          <p:cNvPr id="26" name="metax-state"/>
          <p:cNvSpPr>
            <a:spLocks noGrp="1"/>
          </p:cNvSpPr>
          <p:nvPr/>
        </p:nvSpPr>
        <p:spPr>
          <a:xfrm>
            <a:off x="2619375" y="2152650"/>
            <a:ext cx="3171825" cy="257175"/>
          </a:xfrm>
          <a:prstGeom prst="rect">
            <a:avLst/>
          </a:prstGeom>
          <a:noFill/>
          <a:ln w="0">
            <a:noFill/>
          </a:ln>
        </p:spPr>
        <p:txBody>
          <a:bodyPr wrap="none" lIns="0" tIns="0" rIns="0" bIns="0" anchor="ctr">
            <a:noAutofit/>
          </a:bodyPr>
          <a:lstStyle/>
          <a:p>
            <a:pPr algn="l">
              <a:defRPr sz="1350" b="0">
                <a:solidFill>
                  <a:srgbClr val="395C6D"/>
                </a:solidFill>
                <a:latin typeface="Arial" panose="020B0604020202090204"/>
                <a:ea typeface="Arial" panose="020B0604020202090204"/>
                <a:cs typeface="Arial" panose="020B0604020202090204"/>
              </a:defRPr>
            </a:pPr>
            <a:r>
              <a:rPr sz="1350" b="0">
                <a:solidFill>
                  <a:srgbClr val="395C6D"/>
                </a:solidFill>
                <a:latin typeface="Arial" panose="020B0604020202090204"/>
                <a:ea typeface="Arial" panose="020B0604020202090204"/>
                <a:cs typeface="Arial" panose="020B0604020202090204"/>
              </a:rPr>
              <a:t>Under review</a:t>
            </a:r>
            <a:endParaRPr sz="1350" b="0">
              <a:solidFill>
                <a:srgbClr val="395C6D"/>
              </a:solidFill>
              <a:latin typeface="Arial" panose="020B0604020202090204"/>
              <a:ea typeface="Arial" panose="020B0604020202090204"/>
              <a:cs typeface="Arial" panose="020B0604020202090204"/>
            </a:endParaRPr>
          </a:p>
        </p:txBody>
      </p:sp>
      <p:sp>
        <p:nvSpPr>
          <p:cNvPr id="27" name="lupine-project"/>
          <p:cNvSpPr>
            <a:spLocks noGrp="1"/>
          </p:cNvSpPr>
          <p:nvPr/>
        </p:nvSpPr>
        <p:spPr>
          <a:xfrm>
            <a:off x="6334125" y="1485900"/>
            <a:ext cx="1857375" cy="571500"/>
          </a:xfrm>
          <a:prstGeom prst="rect">
            <a:avLst/>
          </a:prstGeom>
          <a:noFill/>
          <a:ln w="0">
            <a:noFill/>
          </a:ln>
        </p:spPr>
        <p:txBody>
          <a:bodyPr wrap="none" lIns="0" tIns="0" rIns="0" bIns="0" anchor="ctr">
            <a:noAutofit/>
          </a:bodyPr>
          <a:lstStyle/>
          <a:p>
            <a:pPr algn="l">
              <a:defRPr sz="3000" b="0">
                <a:solidFill>
                  <a:srgbClr val="005476"/>
                </a:solidFill>
                <a:latin typeface="Arial" panose="020B0604020202090204"/>
                <a:ea typeface="Arial" panose="020B0604020202090204"/>
                <a:cs typeface="Arial" panose="020B0604020202090204"/>
              </a:defRPr>
            </a:pPr>
            <a:r>
              <a:rPr sz="3000" b="0">
                <a:solidFill>
                  <a:srgbClr val="005476"/>
                </a:solidFill>
                <a:latin typeface="Arial" panose="020B0604020202090204"/>
                <a:ea typeface="Arial" panose="020B0604020202090204"/>
                <a:cs typeface="Arial" panose="020B0604020202090204"/>
              </a:rPr>
              <a:t>Lupine</a:t>
            </a:r>
            <a:endParaRPr sz="3000" b="0">
              <a:solidFill>
                <a:srgbClr val="005476"/>
              </a:solidFill>
              <a:latin typeface="Arial" panose="020B0604020202090204"/>
              <a:ea typeface="Arial" panose="020B0604020202090204"/>
              <a:cs typeface="Arial" panose="020B0604020202090204"/>
            </a:endParaRPr>
          </a:p>
        </p:txBody>
      </p:sp>
      <p:sp>
        <p:nvSpPr>
          <p:cNvPr id="28" name="runtime-contribution"/>
          <p:cNvSpPr>
            <a:spLocks noGrp="1"/>
          </p:cNvSpPr>
          <p:nvPr/>
        </p:nvSpPr>
        <p:spPr>
          <a:xfrm>
            <a:off x="8401050" y="1419225"/>
            <a:ext cx="3200400" cy="323850"/>
          </a:xfrm>
          <a:prstGeom prst="rect">
            <a:avLst/>
          </a:prstGeom>
          <a:noFill/>
          <a:ln w="0">
            <a:noFill/>
          </a:ln>
        </p:spPr>
        <p:txBody>
          <a:bodyPr wrap="none" lIns="0" tIns="0" rIns="0" bIns="0" anchor="ctr">
            <a:noAutofit/>
          </a:bodyPr>
          <a:lstStyle/>
          <a:p>
            <a:pPr algn="l">
              <a:defRPr sz="1800" b="1">
                <a:solidFill>
                  <a:srgbClr val="56A600"/>
                </a:solidFill>
                <a:latin typeface="Arial" panose="020B0604020202090204"/>
                <a:ea typeface="Arial" panose="020B0604020202090204"/>
                <a:cs typeface="Arial" panose="020B0604020202090204"/>
              </a:defRPr>
            </a:pPr>
            <a:r>
              <a:rPr sz="1800" b="1">
                <a:solidFill>
                  <a:srgbClr val="56A600"/>
                </a:solidFill>
                <a:latin typeface="Arial" panose="020B0604020202090204"/>
                <a:ea typeface="Arial" panose="020B0604020202090204"/>
                <a:cs typeface="Arial" panose="020B0604020202090204"/>
              </a:rPr>
              <a:t>vLLM compatibility</a:t>
            </a:r>
            <a:endParaRPr sz="1800" b="1">
              <a:solidFill>
                <a:srgbClr val="56A600"/>
              </a:solidFill>
              <a:latin typeface="Arial" panose="020B0604020202090204"/>
              <a:ea typeface="Arial" panose="020B0604020202090204"/>
              <a:cs typeface="Arial" panose="020B0604020202090204"/>
            </a:endParaRPr>
          </a:p>
        </p:txBody>
      </p:sp>
      <p:sp>
        <p:nvSpPr>
          <p:cNvPr id="29" name="metrics-contribution"/>
          <p:cNvSpPr>
            <a:spLocks noGrp="1"/>
          </p:cNvSpPr>
          <p:nvPr/>
        </p:nvSpPr>
        <p:spPr>
          <a:xfrm>
            <a:off x="8401050" y="1800225"/>
            <a:ext cx="3200400" cy="276225"/>
          </a:xfrm>
          <a:prstGeom prst="rect">
            <a:avLst/>
          </a:prstGeom>
          <a:noFill/>
          <a:ln w="0">
            <a:noFill/>
          </a:ln>
        </p:spPr>
        <p:txBody>
          <a:bodyPr wrap="none" lIns="0" tIns="0" rIns="0" bIns="0" anchor="ctr">
            <a:noAutofit/>
          </a:bodyPr>
          <a:lstStyle/>
          <a:p>
            <a:pPr algn="l">
              <a:defRPr sz="1500" b="0">
                <a:solidFill>
                  <a:srgbClr val="395C6D"/>
                </a:solidFill>
                <a:latin typeface="Arial" panose="020B0604020202090204"/>
                <a:ea typeface="Arial" panose="020B0604020202090204"/>
                <a:cs typeface="Arial" panose="020B0604020202090204"/>
              </a:defRPr>
            </a:pPr>
            <a:r>
              <a:rPr sz="1500" b="0">
                <a:solidFill>
                  <a:srgbClr val="395C6D"/>
                </a:solidFill>
                <a:latin typeface="Arial" panose="020B0604020202090204"/>
                <a:ea typeface="Arial" panose="020B0604020202090204"/>
                <a:cs typeface="Arial" panose="020B0604020202090204"/>
              </a:rPr>
              <a:t>Per-client GPU metrics</a:t>
            </a:r>
            <a:endParaRPr sz="1500" b="0">
              <a:solidFill>
                <a:srgbClr val="395C6D"/>
              </a:solidFill>
              <a:latin typeface="Arial" panose="020B0604020202090204"/>
              <a:ea typeface="Arial" panose="020B0604020202090204"/>
              <a:cs typeface="Arial" panose="020B0604020202090204"/>
            </a:endParaRPr>
          </a:p>
        </p:txBody>
      </p:sp>
      <p:sp>
        <p:nvSpPr>
          <p:cNvPr id="30" name="runtime-state"/>
          <p:cNvSpPr>
            <a:spLocks noGrp="1"/>
          </p:cNvSpPr>
          <p:nvPr/>
        </p:nvSpPr>
        <p:spPr>
          <a:xfrm>
            <a:off x="8401050" y="2152650"/>
            <a:ext cx="3200400" cy="257175"/>
          </a:xfrm>
          <a:prstGeom prst="rect">
            <a:avLst/>
          </a:prstGeom>
          <a:noFill/>
          <a:ln w="0">
            <a:noFill/>
          </a:ln>
        </p:spPr>
        <p:txBody>
          <a:bodyPr wrap="none" lIns="0" tIns="0" rIns="0" bIns="0" anchor="ctr">
            <a:noAutofit/>
          </a:bodyPr>
          <a:lstStyle/>
          <a:p>
            <a:pPr algn="l">
              <a:defRPr sz="1350" b="0">
                <a:solidFill>
                  <a:srgbClr val="395C6D"/>
                </a:solidFill>
                <a:latin typeface="Arial" panose="020B0604020202090204"/>
                <a:ea typeface="Arial" panose="020B0604020202090204"/>
                <a:cs typeface="Arial" panose="020B0604020202090204"/>
              </a:defRPr>
            </a:pPr>
            <a:r>
              <a:rPr sz="1350" b="0">
                <a:solidFill>
                  <a:srgbClr val="395C6D"/>
                </a:solidFill>
                <a:latin typeface="Arial" panose="020B0604020202090204"/>
                <a:ea typeface="Arial" panose="020B0604020202090204"/>
                <a:cs typeface="Arial" panose="020B0604020202090204"/>
              </a:rPr>
              <a:t>Merged upstream</a:t>
            </a:r>
            <a:endParaRPr sz="1350" b="0">
              <a:solidFill>
                <a:srgbClr val="395C6D"/>
              </a:solidFill>
              <a:latin typeface="Arial" panose="020B0604020202090204"/>
              <a:ea typeface="Arial" panose="020B0604020202090204"/>
              <a:cs typeface="Arial" panose="020B0604020202090204"/>
            </a:endParaRPr>
          </a:p>
        </p:txBody>
      </p:sp>
      <p:sp>
        <p:nvSpPr>
          <p:cNvPr id="31" name="sessions-rule"/>
          <p:cNvSpPr>
            <a:spLocks noGrp="1"/>
          </p:cNvSpPr>
          <p:nvPr/>
        </p:nvSpPr>
        <p:spPr>
          <a:xfrm>
            <a:off x="619125" y="2813685"/>
            <a:ext cx="10982325" cy="0"/>
          </a:xfrm>
          <a:prstGeom prst="line">
            <a:avLst/>
          </a:prstGeom>
          <a:noFill/>
          <a:ln w="9525">
            <a:solidFill>
              <a:srgbClr val="D6E2DE"/>
            </a:solidFill>
          </a:ln>
        </p:spPr>
      </p:sp>
      <p:sp>
        <p:nvSpPr>
          <p:cNvPr id="32" name="sessions-heading"/>
          <p:cNvSpPr>
            <a:spLocks noGrp="1"/>
          </p:cNvSpPr>
          <p:nvPr/>
        </p:nvSpPr>
        <p:spPr>
          <a:xfrm>
            <a:off x="619125" y="3038475"/>
            <a:ext cx="8382000" cy="342900"/>
          </a:xfrm>
          <a:prstGeom prst="rect">
            <a:avLst/>
          </a:prstGeom>
          <a:noFill/>
          <a:ln w="0">
            <a:noFill/>
          </a:ln>
        </p:spPr>
        <p:txBody>
          <a:bodyPr wrap="none" lIns="0" tIns="0" rIns="0" bIns="0" anchor="ctr">
            <a:noAutofit/>
          </a:bodyPr>
          <a:lstStyle/>
          <a:p>
            <a:pPr algn="l">
              <a:defRPr sz="1800" b="1">
                <a:solidFill>
                  <a:srgbClr val="005476"/>
                </a:solidFill>
                <a:latin typeface="Arial" panose="020B0604020202090204"/>
                <a:ea typeface="Arial" panose="020B0604020202090204"/>
                <a:cs typeface="Arial" panose="020B0604020202090204"/>
              </a:defRPr>
            </a:pPr>
            <a:r>
              <a:rPr sz="1800" b="1">
                <a:solidFill>
                  <a:srgbClr val="005476"/>
                </a:solidFill>
                <a:latin typeface="Arial" panose="020B0604020202090204"/>
                <a:ea typeface="Arial" panose="020B0604020202090204"/>
                <a:cs typeface="Arial" panose="020B0604020202090204"/>
              </a:rPr>
              <a:t>Later today · 8 Sep (UTC+8)</a:t>
            </a:r>
            <a:endParaRPr sz="1800" b="1">
              <a:solidFill>
                <a:srgbClr val="005476"/>
              </a:solidFill>
              <a:latin typeface="Arial" panose="020B0604020202090204"/>
              <a:ea typeface="Arial" panose="020B0604020202090204"/>
              <a:cs typeface="Arial" panose="020B0604020202090204"/>
            </a:endParaRPr>
          </a:p>
        </p:txBody>
      </p:sp>
      <p:sp>
        <p:nvSpPr>
          <p:cNvPr id="33" name="session-time-1313959"/>
          <p:cNvSpPr>
            <a:spLocks noGrp="1"/>
          </p:cNvSpPr>
          <p:nvPr/>
        </p:nvSpPr>
        <p:spPr>
          <a:xfrm>
            <a:off x="640080" y="3922395"/>
            <a:ext cx="1476375" cy="371475"/>
          </a:xfrm>
          <a:prstGeom prst="rect">
            <a:avLst/>
          </a:prstGeom>
          <a:noFill/>
          <a:ln w="0">
            <a:noFill/>
          </a:ln>
        </p:spPr>
        <p:txBody>
          <a:bodyPr wrap="none" lIns="0" tIns="0" rIns="0" bIns="0" anchor="ctr">
            <a:noAutofit/>
          </a:bodyPr>
          <a:lstStyle/>
          <a:p>
            <a:pPr algn="l">
              <a:defRPr sz="1800" b="1">
                <a:solidFill>
                  <a:srgbClr val="56A600"/>
                </a:solidFill>
                <a:latin typeface="Arial" panose="020B0604020202090204"/>
                <a:ea typeface="Arial" panose="020B0604020202090204"/>
                <a:cs typeface="Arial" panose="020B0604020202090204"/>
              </a:defRPr>
            </a:pPr>
            <a:r>
              <a:rPr sz="1800" b="1">
                <a:solidFill>
                  <a:srgbClr val="56A600"/>
                </a:solidFill>
                <a:latin typeface="Arial" panose="020B0604020202090204"/>
                <a:ea typeface="Arial" panose="020B0604020202090204"/>
                <a:cs typeface="Arial" panose="020B0604020202090204"/>
              </a:rPr>
              <a:t>09:59–10:04</a:t>
            </a:r>
            <a:endParaRPr sz="1800" b="1">
              <a:solidFill>
                <a:srgbClr val="56A600"/>
              </a:solidFill>
              <a:latin typeface="Arial" panose="020B0604020202090204"/>
              <a:ea typeface="Arial" panose="020B0604020202090204"/>
              <a:cs typeface="Arial" panose="020B0604020202090204"/>
            </a:endParaRPr>
          </a:p>
        </p:txBody>
      </p:sp>
      <p:sp>
        <p:nvSpPr>
          <p:cNvPr id="34" name="session-title-1313959"/>
          <p:cNvSpPr>
            <a:spLocks noGrp="1"/>
          </p:cNvSpPr>
          <p:nvPr/>
        </p:nvSpPr>
        <p:spPr>
          <a:xfrm>
            <a:off x="2259330" y="3827145"/>
            <a:ext cx="6810375" cy="619125"/>
          </a:xfrm>
          <a:prstGeom prst="rect">
            <a:avLst/>
          </a:prstGeom>
          <a:noFill/>
          <a:ln w="0">
            <a:noFill/>
          </a:ln>
        </p:spPr>
        <p:txBody>
          <a:bodyPr wrap="none" lIns="0" tIns="0" rIns="0" bIns="0" anchor="ctr">
            <a:noAutofit/>
          </a:bodyPr>
          <a:lstStyle/>
          <a:p>
            <a:pPr algn="l">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PD Disaggregation vLLM Deployment</a:t>
            </a:r>
            <a:endParaRPr sz="1800" b="0">
              <a:solidFill>
                <a:srgbClr val="005476"/>
              </a:solidFill>
              <a:latin typeface="Arial" panose="020B0604020202090204"/>
              <a:ea typeface="Arial" panose="020B0604020202090204"/>
              <a:cs typeface="Arial" panose="020B0604020202090204"/>
            </a:endParaRPr>
          </a:p>
          <a:p>
            <a:pPr algn="l">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on Alternative AI Accelerators Using llm-d</a:t>
            </a:r>
            <a:endParaRPr sz="1800" b="0">
              <a:solidFill>
                <a:srgbClr val="005476"/>
              </a:solidFill>
              <a:latin typeface="Arial" panose="020B0604020202090204"/>
              <a:ea typeface="Arial" panose="020B0604020202090204"/>
              <a:cs typeface="Arial" panose="020B0604020202090204"/>
            </a:endParaRPr>
          </a:p>
        </p:txBody>
      </p:sp>
      <p:sp>
        <p:nvSpPr>
          <p:cNvPr id="35" name="session-time-1215494"/>
          <p:cNvSpPr>
            <a:spLocks noGrp="1"/>
          </p:cNvSpPr>
          <p:nvPr/>
        </p:nvSpPr>
        <p:spPr>
          <a:xfrm>
            <a:off x="640080" y="4817745"/>
            <a:ext cx="1476375" cy="371475"/>
          </a:xfrm>
          <a:prstGeom prst="rect">
            <a:avLst/>
          </a:prstGeom>
          <a:noFill/>
          <a:ln w="0">
            <a:noFill/>
          </a:ln>
        </p:spPr>
        <p:txBody>
          <a:bodyPr wrap="none" lIns="0" tIns="0" rIns="0" bIns="0" anchor="ctr">
            <a:noAutofit/>
          </a:bodyPr>
          <a:lstStyle/>
          <a:p>
            <a:pPr algn="l">
              <a:defRPr sz="1800" b="1">
                <a:solidFill>
                  <a:srgbClr val="56A600"/>
                </a:solidFill>
                <a:latin typeface="Arial" panose="020B0604020202090204"/>
                <a:ea typeface="Arial" panose="020B0604020202090204"/>
                <a:cs typeface="Arial" panose="020B0604020202090204"/>
              </a:defRPr>
            </a:pPr>
            <a:r>
              <a:rPr sz="1800" b="1">
                <a:solidFill>
                  <a:srgbClr val="56A600"/>
                </a:solidFill>
                <a:latin typeface="Arial" panose="020B0604020202090204"/>
                <a:ea typeface="Arial" panose="020B0604020202090204"/>
                <a:cs typeface="Arial" panose="020B0604020202090204"/>
              </a:rPr>
              <a:t>11:14–11:19</a:t>
            </a:r>
            <a:endParaRPr sz="1800" b="1">
              <a:solidFill>
                <a:srgbClr val="56A600"/>
              </a:solidFill>
              <a:latin typeface="Arial" panose="020B0604020202090204"/>
              <a:ea typeface="Arial" panose="020B0604020202090204"/>
              <a:cs typeface="Arial" panose="020B0604020202090204"/>
            </a:endParaRPr>
          </a:p>
        </p:txBody>
      </p:sp>
      <p:sp>
        <p:nvSpPr>
          <p:cNvPr id="36" name="session-title-1215494"/>
          <p:cNvSpPr>
            <a:spLocks noGrp="1"/>
          </p:cNvSpPr>
          <p:nvPr/>
        </p:nvSpPr>
        <p:spPr>
          <a:xfrm>
            <a:off x="2259330" y="4722495"/>
            <a:ext cx="6810375" cy="619125"/>
          </a:xfrm>
          <a:prstGeom prst="rect">
            <a:avLst/>
          </a:prstGeom>
          <a:noFill/>
          <a:ln w="0">
            <a:noFill/>
          </a:ln>
        </p:spPr>
        <p:txBody>
          <a:bodyPr wrap="none" lIns="0" tIns="0" rIns="0" bIns="0" anchor="ctr">
            <a:noAutofit/>
          </a:bodyPr>
          <a:lstStyle/>
          <a:p>
            <a:pPr algn="l">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Project Lightning Talk: From Static Slices</a:t>
            </a:r>
            <a:endParaRPr sz="1800" b="0">
              <a:solidFill>
                <a:srgbClr val="005476"/>
              </a:solidFill>
              <a:latin typeface="Arial" panose="020B0604020202090204"/>
              <a:ea typeface="Arial" panose="020B0604020202090204"/>
              <a:cs typeface="Arial" panose="020B0604020202090204"/>
            </a:endParaRPr>
          </a:p>
          <a:p>
            <a:pPr algn="l">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to Elastic GPUs: Dynamic MIG with HAMI</a:t>
            </a:r>
            <a:endParaRPr sz="1800" b="0">
              <a:solidFill>
                <a:srgbClr val="005476"/>
              </a:solidFill>
              <a:latin typeface="Arial" panose="020B0604020202090204"/>
              <a:ea typeface="Arial" panose="020B0604020202090204"/>
              <a:cs typeface="Arial" panose="020B0604020202090204"/>
            </a:endParaRPr>
          </a:p>
        </p:txBody>
      </p:sp>
      <p:sp>
        <p:nvSpPr>
          <p:cNvPr id="37" name="session-time-1221808"/>
          <p:cNvSpPr>
            <a:spLocks noGrp="1"/>
          </p:cNvSpPr>
          <p:nvPr/>
        </p:nvSpPr>
        <p:spPr>
          <a:xfrm>
            <a:off x="640080" y="5713095"/>
            <a:ext cx="1476375" cy="371475"/>
          </a:xfrm>
          <a:prstGeom prst="rect">
            <a:avLst/>
          </a:prstGeom>
          <a:noFill/>
          <a:ln w="0">
            <a:noFill/>
          </a:ln>
        </p:spPr>
        <p:txBody>
          <a:bodyPr wrap="none" lIns="0" tIns="0" rIns="0" bIns="0" anchor="ctr">
            <a:noAutofit/>
          </a:bodyPr>
          <a:lstStyle/>
          <a:p>
            <a:pPr algn="l">
              <a:defRPr sz="1800" b="1">
                <a:solidFill>
                  <a:srgbClr val="56A600"/>
                </a:solidFill>
                <a:latin typeface="Arial" panose="020B0604020202090204"/>
                <a:ea typeface="Arial" panose="020B0604020202090204"/>
                <a:cs typeface="Arial" panose="020B0604020202090204"/>
              </a:defRPr>
            </a:pPr>
            <a:r>
              <a:rPr sz="1800" b="1">
                <a:solidFill>
                  <a:srgbClr val="56A600"/>
                </a:solidFill>
                <a:latin typeface="Arial" panose="020B0604020202090204"/>
                <a:ea typeface="Arial" panose="020B0604020202090204"/>
                <a:cs typeface="Arial" panose="020B0604020202090204"/>
              </a:rPr>
              <a:t>14:30–15:00</a:t>
            </a:r>
            <a:endParaRPr sz="1800" b="1">
              <a:solidFill>
                <a:srgbClr val="56A600"/>
              </a:solidFill>
              <a:latin typeface="Arial" panose="020B0604020202090204"/>
              <a:ea typeface="Arial" panose="020B0604020202090204"/>
              <a:cs typeface="Arial" panose="020B0604020202090204"/>
            </a:endParaRPr>
          </a:p>
        </p:txBody>
      </p:sp>
      <p:sp>
        <p:nvSpPr>
          <p:cNvPr id="38" name="session-title-1221808"/>
          <p:cNvSpPr>
            <a:spLocks noGrp="1"/>
          </p:cNvSpPr>
          <p:nvPr/>
        </p:nvSpPr>
        <p:spPr>
          <a:xfrm>
            <a:off x="2259330" y="5617845"/>
            <a:ext cx="6810375" cy="619125"/>
          </a:xfrm>
          <a:prstGeom prst="rect">
            <a:avLst/>
          </a:prstGeom>
          <a:noFill/>
          <a:ln w="0">
            <a:noFill/>
          </a:ln>
        </p:spPr>
        <p:txBody>
          <a:bodyPr wrap="none" lIns="0" tIns="0" rIns="0" bIns="0" anchor="ctr">
            <a:noAutofit/>
          </a:bodyPr>
          <a:lstStyle/>
          <a:p>
            <a:pPr algn="l">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How Intsig Serves Billions of Document Scans:</a:t>
            </a:r>
            <a:endParaRPr sz="1800" b="0">
              <a:solidFill>
                <a:srgbClr val="005476"/>
              </a:solidFill>
              <a:latin typeface="Arial" panose="020B0604020202090204"/>
              <a:ea typeface="Arial" panose="020B0604020202090204"/>
              <a:cs typeface="Arial" panose="020B0604020202090204"/>
            </a:endParaRPr>
          </a:p>
          <a:p>
            <a:pPr algn="l">
              <a:defRPr sz="1800" b="0">
                <a:solidFill>
                  <a:srgbClr val="005476"/>
                </a:solidFill>
                <a:latin typeface="Arial" panose="020B0604020202090204"/>
                <a:ea typeface="Arial" panose="020B0604020202090204"/>
                <a:cs typeface="Arial" panose="020B0604020202090204"/>
              </a:defRPr>
            </a:pPr>
            <a:r>
              <a:rPr sz="1800" b="0">
                <a:solidFill>
                  <a:srgbClr val="005476"/>
                </a:solidFill>
                <a:latin typeface="Arial" panose="020B0604020202090204"/>
                <a:ea typeface="Arial" panose="020B0604020202090204"/>
                <a:cs typeface="Arial" panose="020B0604020202090204"/>
              </a:rPr>
              <a:t>GPU Virtualization at Scale with HAMi</a:t>
            </a:r>
            <a:endParaRPr sz="1800" b="0">
              <a:solidFill>
                <a:srgbClr val="005476"/>
              </a:solidFill>
              <a:latin typeface="Arial" panose="020B0604020202090204"/>
              <a:ea typeface="Arial" panose="020B0604020202090204"/>
              <a:cs typeface="Arial" panose="020B0604020202090204"/>
            </a:endParaRPr>
          </a:p>
        </p:txBody>
      </p:sp>
      <p:sp>
        <p:nvSpPr>
          <p:cNvPr id="39" name="community-heading"/>
          <p:cNvSpPr>
            <a:spLocks noGrp="1"/>
          </p:cNvSpPr>
          <p:nvPr/>
        </p:nvSpPr>
        <p:spPr>
          <a:xfrm>
            <a:off x="9317355" y="3251835"/>
            <a:ext cx="2095500" cy="285750"/>
          </a:xfrm>
          <a:prstGeom prst="rect">
            <a:avLst/>
          </a:prstGeom>
          <a:noFill/>
          <a:ln w="0">
            <a:noFill/>
          </a:ln>
        </p:spPr>
        <p:txBody>
          <a:bodyPr wrap="none" lIns="0" tIns="0" rIns="0" bIns="0" anchor="ctr">
            <a:noAutofit/>
          </a:bodyPr>
          <a:lstStyle/>
          <a:p>
            <a:pPr algn="ctr">
              <a:defRPr sz="1650" b="1">
                <a:solidFill>
                  <a:srgbClr val="005476"/>
                </a:solidFill>
                <a:latin typeface="Arial" panose="020B0604020202090204"/>
                <a:ea typeface="Arial" panose="020B0604020202090204"/>
                <a:cs typeface="Arial" panose="020B0604020202090204"/>
              </a:defRPr>
            </a:pPr>
            <a:r>
              <a:rPr sz="1650" b="1">
                <a:solidFill>
                  <a:srgbClr val="005476"/>
                </a:solidFill>
                <a:latin typeface="Arial" panose="020B0604020202090204"/>
                <a:ea typeface="Arial" panose="020B0604020202090204"/>
                <a:cs typeface="Arial" panose="020B0604020202090204"/>
              </a:rPr>
              <a:t>HAMi community</a:t>
            </a:r>
            <a:endParaRPr sz="1650" b="1">
              <a:solidFill>
                <a:srgbClr val="005476"/>
              </a:solidFill>
              <a:latin typeface="Arial" panose="020B0604020202090204"/>
              <a:ea typeface="Arial" panose="020B0604020202090204"/>
              <a:cs typeface="Arial" panose="020B0604020202090204"/>
            </a:endParaRPr>
          </a:p>
        </p:txBody>
      </p:sp>
      <p:sp>
        <p:nvSpPr>
          <p:cNvPr id="40" name="community-assistant"/>
          <p:cNvSpPr>
            <a:spLocks noGrp="1"/>
          </p:cNvSpPr>
          <p:nvPr/>
        </p:nvSpPr>
        <p:spPr>
          <a:xfrm>
            <a:off x="9317355" y="3604260"/>
            <a:ext cx="2095500" cy="266700"/>
          </a:xfrm>
          <a:prstGeom prst="rect">
            <a:avLst/>
          </a:prstGeom>
          <a:noFill/>
          <a:ln w="0">
            <a:noFill/>
          </a:ln>
        </p:spPr>
        <p:txBody>
          <a:bodyPr wrap="none" lIns="0" tIns="0" rIns="0" bIns="0" anchor="ctr">
            <a:noAutofit/>
          </a:bodyPr>
          <a:lstStyle/>
          <a:p>
            <a:pPr algn="ctr">
              <a:defRPr sz="1500" b="0">
                <a:solidFill>
                  <a:srgbClr val="395C6D"/>
                </a:solidFill>
                <a:latin typeface="Arial" panose="020B0604020202090204"/>
                <a:ea typeface="Arial" panose="020B0604020202090204"/>
                <a:cs typeface="Arial" panose="020B0604020202090204"/>
              </a:defRPr>
            </a:pPr>
            <a:r>
              <a:rPr sz="1500" b="0">
                <a:solidFill>
                  <a:srgbClr val="395C6D"/>
                </a:solidFill>
                <a:latin typeface="Arial" panose="020B0604020202090204"/>
                <a:ea typeface="Arial" panose="020B0604020202090204"/>
                <a:cs typeface="Arial" panose="020B0604020202090204"/>
              </a:rPr>
              <a:t>WeChat assistant</a:t>
            </a:r>
            <a:endParaRPr sz="1500" b="0">
              <a:solidFill>
                <a:srgbClr val="395C6D"/>
              </a:solidFill>
              <a:latin typeface="Arial" panose="020B0604020202090204"/>
              <a:ea typeface="Arial" panose="020B0604020202090204"/>
              <a:cs typeface="Arial" panose="020B0604020202090204"/>
            </a:endParaRPr>
          </a:p>
        </p:txBody>
      </p:sp>
      <p:grpSp>
        <p:nvGrpSpPr>
          <p:cNvPr id="4" name="组合 3"/>
          <p:cNvGrpSpPr/>
          <p:nvPr/>
        </p:nvGrpSpPr>
        <p:grpSpPr>
          <a:xfrm>
            <a:off x="9265285" y="3990975"/>
            <a:ext cx="2164080" cy="2164080"/>
            <a:chOff x="14421" y="6039"/>
            <a:chExt cx="3754" cy="3754"/>
          </a:xfrm>
        </p:grpSpPr>
        <p:sp>
          <p:nvSpPr>
            <p:cNvPr id="3" name="圆角矩形 2"/>
            <p:cNvSpPr/>
            <p:nvPr/>
          </p:nvSpPr>
          <p:spPr>
            <a:xfrm>
              <a:off x="14421" y="6039"/>
              <a:ext cx="3755" cy="3755"/>
            </a:xfrm>
            <a:prstGeom prst="roundRect">
              <a:avLst>
                <a:gd name="adj" fmla="val 4660"/>
              </a:avLst>
            </a:prstGeom>
            <a:gradFill>
              <a:gsLst>
                <a:gs pos="50000">
                  <a:schemeClr val="accent6"/>
                </a:gs>
                <a:gs pos="0">
                  <a:schemeClr val="accent6">
                    <a:lumMod val="25000"/>
                    <a:lumOff val="75000"/>
                  </a:schemeClr>
                </a:gs>
                <a:gs pos="100000">
                  <a:schemeClr val="accent6">
                    <a:lumMod val="85000"/>
                  </a:schemeClr>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descr="小助手二维码"/>
            <p:cNvPicPr>
              <a:picLocks noChangeAspect="1"/>
            </p:cNvPicPr>
            <p:nvPr/>
          </p:nvPicPr>
          <p:blipFill>
            <a:blip r:embed="rId2"/>
            <a:stretch>
              <a:fillRect/>
            </a:stretch>
          </p:blipFill>
          <p:spPr>
            <a:xfrm>
              <a:off x="14678" y="6302"/>
              <a:ext cx="3218" cy="3218"/>
            </a:xfrm>
            <a:prstGeom prst="rect">
              <a:avLst/>
            </a:prstGeom>
          </p:spPr>
        </p:pic>
      </p:grpSp>
      <p:pic>
        <p:nvPicPr>
          <p:cNvPr id="338" name="图片 154"/>
          <p:cNvPicPr>
            <a:picLocks noChangeAspect="1"/>
          </p:cNvPicPr>
          <p:nvPr/>
        </p:nvPicPr>
        <p:blipFill>
          <a:blip r:embed="rId3"/>
          <a:stretch>
            <a:fillRect/>
          </a:stretch>
        </p:blipFill>
        <p:spPr>
          <a:xfrm>
            <a:off x="9277350" y="440690"/>
            <a:ext cx="2364740" cy="34290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1078</Words>
  <Application>WPS 演示</Application>
  <PresentationFormat>Converted Presentation</PresentationFormat>
  <Paragraphs>103</Paragraphs>
  <Slides>4</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vt:i4>
      </vt:variant>
    </vt:vector>
  </HeadingPairs>
  <TitlesOfParts>
    <vt:vector size="21" baseType="lpstr">
      <vt:lpstr>Arial</vt:lpstr>
      <vt:lpstr>宋体</vt:lpstr>
      <vt:lpstr>Wingdings</vt:lpstr>
      <vt:lpstr>Arial</vt:lpstr>
      <vt:lpstr>等线</vt:lpstr>
      <vt:lpstr>汉仪中等线KW</vt:lpstr>
      <vt:lpstr>微软雅黑</vt:lpstr>
      <vt:lpstr>方正雅意黑 GB18030L2</vt:lpstr>
      <vt:lpstr>等线 Light</vt:lpstr>
      <vt:lpstr>Calibri</vt:lpstr>
      <vt:lpstr>Helvetica Neue</vt:lpstr>
      <vt:lpstr>汉仪书宋二KW</vt:lpstr>
      <vt:lpstr>宋体</vt:lpstr>
      <vt:lpstr>Arial Unicode MS</vt:lpstr>
      <vt:lpstr>Al Nile</vt:lpstr>
      <vt:lpstr>Al Bayan Plain</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Chris</cp:lastModifiedBy>
  <cp:revision>14</cp:revision>
  <dcterms:created xsi:type="dcterms:W3CDTF">2026-09-07T04:09:39Z</dcterms:created>
  <dcterms:modified xsi:type="dcterms:W3CDTF">2026-09-07T04:09:39Z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2052-12.1.26055.26055</vt:lpwstr>
  </property>
  <property fmtid="{D5CDD505-2E9C-101B-9397-08002B2CF9AE}" pid="3" name="ICV">
    <vt:lpwstr>5AE9D053811B5EEFC48C9D6A2262DA4C_42</vt:lpwstr>
  </property>
</Properties>
</file>